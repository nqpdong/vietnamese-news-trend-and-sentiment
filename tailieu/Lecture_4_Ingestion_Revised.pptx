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Arial"/>
              </a:rPr>
              <a:t>Click to move the slide</a:t>
            </a:r>
          </a:p>
        </p:txBody>
      </p:sp>
      <p:sp>
        <p:nvSpPr>
          <p:cNvPr id="9"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10"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11" name="PlaceHolder 4"/>
          <p:cNvSpPr>
            <a:spLocks noGrp="1"/>
          </p:cNvSpPr>
          <p:nvPr>
            <p:ph type="dt" idx="2"/>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12" name="PlaceHolder 5"/>
          <p:cNvSpPr>
            <a:spLocks noGrp="1"/>
          </p:cNvSpPr>
          <p:nvPr>
            <p:ph type="ftr" idx="3"/>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13" name="PlaceHolder 6"/>
          <p:cNvSpPr>
            <a:spLocks noGrp="1"/>
          </p:cNvSpPr>
          <p:nvPr>
            <p:ph type="sldNum" idx="4"/>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F4E18ABB-6F40-46BA-9571-08F670EA74B2}"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1" name="PlaceHolder 1"/>
          <p:cNvSpPr>
            <a:spLocks noGrp="1" noRot="1" noChangeAspect="1"/>
          </p:cNvSpPr>
          <p:nvPr>
            <p:ph type="sldImg"/>
          </p:nvPr>
        </p:nvSpPr>
        <p:spPr>
          <a:xfrm>
            <a:off x="685800" y="1143000"/>
            <a:ext cx="5486040" cy="3085920"/>
          </a:xfrm>
          <a:prstGeom prst="rect">
            <a:avLst/>
          </a:prstGeom>
          <a:ln w="0">
            <a:noFill/>
          </a:ln>
        </p:spPr>
      </p:sp>
      <p:sp>
        <p:nvSpPr>
          <p:cNvPr id="58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583"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4F39509-02B5-474B-9460-E48E59868931}"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 name="PlaceHolder 1"/>
          <p:cNvSpPr>
            <a:spLocks noGrp="1" noRot="1" noChangeAspect="1"/>
          </p:cNvSpPr>
          <p:nvPr>
            <p:ph type="sldImg"/>
          </p:nvPr>
        </p:nvSpPr>
        <p:spPr>
          <a:xfrm>
            <a:off x="685800" y="1143000"/>
            <a:ext cx="5486040" cy="3085920"/>
          </a:xfrm>
          <a:prstGeom prst="rect">
            <a:avLst/>
          </a:prstGeom>
          <a:ln w="0">
            <a:noFill/>
          </a:ln>
        </p:spPr>
      </p:sp>
      <p:sp>
        <p:nvSpPr>
          <p:cNvPr id="58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586"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6F94E72-DCAB-4415-A118-050D225D4E5B}" type="slidenum">
              <a:rPr lang="en-US" sz="1200" b="0" u="none" strike="noStrike">
                <a:solidFill>
                  <a:schemeClr val="dk1"/>
                </a:solidFill>
                <a:effectLst/>
                <a:uFillTx/>
                <a:latin typeface="+mn-lt"/>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 name="PlaceHolder 1"/>
          <p:cNvSpPr>
            <a:spLocks noGrp="1" noRot="1" noChangeAspect="1"/>
          </p:cNvSpPr>
          <p:nvPr>
            <p:ph type="sldImg"/>
          </p:nvPr>
        </p:nvSpPr>
        <p:spPr>
          <a:xfrm>
            <a:off x="685800" y="1143000"/>
            <a:ext cx="5486040" cy="3085920"/>
          </a:xfrm>
          <a:prstGeom prst="rect">
            <a:avLst/>
          </a:prstGeom>
          <a:ln w="0">
            <a:noFill/>
          </a:ln>
        </p:spPr>
      </p:sp>
      <p:sp>
        <p:nvSpPr>
          <p:cNvPr id="58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589"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D5053BE-66A7-41F3-86B7-5B5D73DBA09C}" type="slidenum">
              <a:rPr lang="en-US" sz="1200" b="0" u="none" strike="noStrike">
                <a:solidFill>
                  <a:schemeClr val="dk1"/>
                </a:solidFill>
                <a:effectLst/>
                <a:uFillTx/>
                <a:latin typeface="+mn-lt"/>
                <a:ea typeface="+mn-ea"/>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 name="PlaceHolder 1"/>
          <p:cNvSpPr>
            <a:spLocks noGrp="1" noRot="1" noChangeAspect="1"/>
          </p:cNvSpPr>
          <p:nvPr>
            <p:ph type="sldImg"/>
          </p:nvPr>
        </p:nvSpPr>
        <p:spPr>
          <a:xfrm>
            <a:off x="685800" y="1143000"/>
            <a:ext cx="5486040" cy="3085920"/>
          </a:xfrm>
          <a:prstGeom prst="rect">
            <a:avLst/>
          </a:prstGeom>
          <a:ln w="0">
            <a:noFill/>
          </a:ln>
        </p:spPr>
      </p:sp>
      <p:sp>
        <p:nvSpPr>
          <p:cNvPr id="59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592"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2B868DE-CBB0-4C00-AF0C-A9096E64752E}" type="slidenum">
              <a:rPr lang="en-US" sz="1200" b="0" u="none" strike="noStrike">
                <a:solidFill>
                  <a:schemeClr val="dk1"/>
                </a:solidFill>
                <a:effectLst/>
                <a:uFillTx/>
                <a:latin typeface="+mn-lt"/>
                <a:ea typeface="+mn-ea"/>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 name="PlaceHolder 1"/>
          <p:cNvSpPr>
            <a:spLocks noGrp="1" noRot="1" noChangeAspect="1"/>
          </p:cNvSpPr>
          <p:nvPr>
            <p:ph type="sldImg"/>
          </p:nvPr>
        </p:nvSpPr>
        <p:spPr>
          <a:xfrm>
            <a:off x="685800" y="1143000"/>
            <a:ext cx="5486040" cy="3085920"/>
          </a:xfrm>
          <a:prstGeom prst="rect">
            <a:avLst/>
          </a:prstGeom>
          <a:ln w="0">
            <a:noFill/>
          </a:ln>
        </p:spPr>
      </p:sp>
      <p:sp>
        <p:nvSpPr>
          <p:cNvPr id="59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595" name="PlaceHolder 3"/>
          <p:cNvSpPr>
            <a:spLocks noGrp="1"/>
          </p:cNvSpPr>
          <p:nvPr>
            <p:ph type="sldNum" idx="2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DAD755A-2B32-41A7-8043-A4BC2DA2D4C4}" type="slidenum">
              <a:rPr lang="en-US" sz="1200" b="0" u="none" strike="noStrike">
                <a:solidFill>
                  <a:schemeClr val="dk1"/>
                </a:solidFill>
                <a:effectLst/>
                <a:uFillTx/>
                <a:latin typeface="+mn-lt"/>
                <a:ea typeface="+mn-ea"/>
              </a:rPr>
              <a:t>5</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 name="PlaceHolder 1"/>
          <p:cNvSpPr>
            <a:spLocks noGrp="1" noRot="1" noChangeAspect="1"/>
          </p:cNvSpPr>
          <p:nvPr>
            <p:ph type="sldImg"/>
          </p:nvPr>
        </p:nvSpPr>
        <p:spPr>
          <a:xfrm>
            <a:off x="685800" y="1143000"/>
            <a:ext cx="5486040" cy="3085920"/>
          </a:xfrm>
          <a:prstGeom prst="rect">
            <a:avLst/>
          </a:prstGeom>
          <a:ln w="0">
            <a:noFill/>
          </a:ln>
        </p:spPr>
      </p:sp>
      <p:sp>
        <p:nvSpPr>
          <p:cNvPr id="59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598" name="PlaceHolder 3"/>
          <p:cNvSpPr>
            <a:spLocks noGrp="1"/>
          </p:cNvSpPr>
          <p:nvPr>
            <p:ph type="sldNum" idx="2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DA9FFF6-079B-495E-86CD-03336C953C96}" type="slidenum">
              <a:rPr lang="en-US" sz="1200" b="0" u="none" strike="noStrike">
                <a:solidFill>
                  <a:schemeClr val="dk1"/>
                </a:solidFill>
                <a:effectLst/>
                <a:uFillTx/>
                <a:latin typeface="+mn-lt"/>
                <a:ea typeface="+mn-ea"/>
              </a:rPr>
              <a:t>6</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9" name="PlaceHolder 1"/>
          <p:cNvSpPr>
            <a:spLocks noGrp="1" noRot="1" noChangeAspect="1"/>
          </p:cNvSpPr>
          <p:nvPr>
            <p:ph type="sldImg"/>
          </p:nvPr>
        </p:nvSpPr>
        <p:spPr>
          <a:xfrm>
            <a:off x="685800" y="1143000"/>
            <a:ext cx="5486040" cy="3085920"/>
          </a:xfrm>
          <a:prstGeom prst="rect">
            <a:avLst/>
          </a:prstGeom>
          <a:ln w="0">
            <a:noFill/>
          </a:ln>
        </p:spPr>
      </p:sp>
      <p:sp>
        <p:nvSpPr>
          <p:cNvPr id="60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01" name="PlaceHolder 3"/>
          <p:cNvSpPr>
            <a:spLocks noGrp="1"/>
          </p:cNvSpPr>
          <p:nvPr>
            <p:ph type="sldNum" idx="3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079D859-4956-49F1-BB4D-A1B90904B62C}"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 name="PlaceHolder 1"/>
          <p:cNvSpPr>
            <a:spLocks noGrp="1" noRot="1" noChangeAspect="1"/>
          </p:cNvSpPr>
          <p:nvPr>
            <p:ph type="sldImg"/>
          </p:nvPr>
        </p:nvSpPr>
        <p:spPr>
          <a:xfrm>
            <a:off x="685800" y="1143000"/>
            <a:ext cx="5486040" cy="3085920"/>
          </a:xfrm>
          <a:prstGeom prst="rect">
            <a:avLst/>
          </a:prstGeom>
          <a:ln w="0">
            <a:noFill/>
          </a:ln>
        </p:spPr>
      </p:sp>
      <p:sp>
        <p:nvSpPr>
          <p:cNvPr id="60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04" name="PlaceHolder 3"/>
          <p:cNvSpPr>
            <a:spLocks noGrp="1"/>
          </p:cNvSpPr>
          <p:nvPr>
            <p:ph type="sldNum" idx="3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F2EE1A8-E690-4D7B-BD52-CCB410944841}" type="slidenum">
              <a:rPr lang="en-US" sz="1200" b="0" u="none" strike="noStrike">
                <a:solidFill>
                  <a:schemeClr val="dk1"/>
                </a:solidFill>
                <a:effectLst/>
                <a:uFillTx/>
                <a:latin typeface="+mn-lt"/>
                <a:ea typeface="+mn-ea"/>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 name="PlaceHolder 1"/>
          <p:cNvSpPr>
            <a:spLocks noGrp="1" noRot="1" noChangeAspect="1"/>
          </p:cNvSpPr>
          <p:nvPr>
            <p:ph type="sldImg"/>
          </p:nvPr>
        </p:nvSpPr>
        <p:spPr>
          <a:xfrm>
            <a:off x="685800" y="1143000"/>
            <a:ext cx="5486040" cy="3085920"/>
          </a:xfrm>
          <a:prstGeom prst="rect">
            <a:avLst/>
          </a:prstGeom>
          <a:ln w="0">
            <a:noFill/>
          </a:ln>
        </p:spPr>
      </p:sp>
      <p:sp>
        <p:nvSpPr>
          <p:cNvPr id="60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07" name="PlaceHolder 3"/>
          <p:cNvSpPr>
            <a:spLocks noGrp="1"/>
          </p:cNvSpPr>
          <p:nvPr>
            <p:ph type="sldNum" idx="3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C4D27E5-C500-494A-AE07-13ECEDFD4D39}" type="slidenum">
              <a:rPr lang="en-US" sz="1200" b="0" u="none" strike="noStrike">
                <a:solidFill>
                  <a:schemeClr val="dk1"/>
                </a:solidFill>
                <a:effectLst/>
                <a:uFillTx/>
                <a:latin typeface="+mn-lt"/>
                <a:ea typeface="+mn-ea"/>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8" name="PlaceHolder 1"/>
          <p:cNvSpPr>
            <a:spLocks noGrp="1" noRot="1" noChangeAspect="1"/>
          </p:cNvSpPr>
          <p:nvPr>
            <p:ph type="sldImg"/>
          </p:nvPr>
        </p:nvSpPr>
        <p:spPr>
          <a:xfrm>
            <a:off x="685800" y="1143000"/>
            <a:ext cx="5486040" cy="3085920"/>
          </a:xfrm>
          <a:prstGeom prst="rect">
            <a:avLst/>
          </a:prstGeom>
          <a:ln w="0">
            <a:noFill/>
          </a:ln>
        </p:spPr>
      </p:sp>
      <p:sp>
        <p:nvSpPr>
          <p:cNvPr id="60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10" name="PlaceHolder 3"/>
          <p:cNvSpPr>
            <a:spLocks noGrp="1"/>
          </p:cNvSpPr>
          <p:nvPr>
            <p:ph type="sldNum" idx="3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07D913D-F1EE-4761-93CA-7351A1D7BCD1}" type="slidenum">
              <a:rPr lang="en-US" sz="1200" b="0" u="none" strike="noStrike">
                <a:solidFill>
                  <a:schemeClr val="dk1"/>
                </a:solidFill>
                <a:effectLst/>
                <a:uFillTx/>
                <a:latin typeface="+mn-lt"/>
                <a:ea typeface="+mn-ea"/>
              </a:rPr>
              <a:t>10</a:t>
            </a:fld>
            <a:endParaRPr lang="en-US" sz="12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 name="PlaceHolder 1"/>
          <p:cNvSpPr>
            <a:spLocks noGrp="1" noRot="1" noChangeAspect="1"/>
          </p:cNvSpPr>
          <p:nvPr>
            <p:ph type="sldImg"/>
          </p:nvPr>
        </p:nvSpPr>
        <p:spPr>
          <a:xfrm>
            <a:off x="685800" y="1143000"/>
            <a:ext cx="5486040" cy="3085920"/>
          </a:xfrm>
          <a:prstGeom prst="rect">
            <a:avLst/>
          </a:prstGeom>
          <a:ln w="0">
            <a:noFill/>
          </a:ln>
        </p:spPr>
      </p:sp>
      <p:sp>
        <p:nvSpPr>
          <p:cNvPr id="61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13" name="PlaceHolder 3"/>
          <p:cNvSpPr>
            <a:spLocks noGrp="1"/>
          </p:cNvSpPr>
          <p:nvPr>
            <p:ph type="sldNum" idx="3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B7A7F65-21E7-4554-B26E-A8008E62D744}"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 name="PlaceHolder 1"/>
          <p:cNvSpPr>
            <a:spLocks noGrp="1" noRot="1" noChangeAspect="1"/>
          </p:cNvSpPr>
          <p:nvPr>
            <p:ph type="sldImg"/>
          </p:nvPr>
        </p:nvSpPr>
        <p:spPr>
          <a:xfrm>
            <a:off x="685800" y="1143000"/>
            <a:ext cx="5486040" cy="3085920"/>
          </a:xfrm>
          <a:prstGeom prst="rect">
            <a:avLst/>
          </a:prstGeom>
          <a:ln w="0">
            <a:noFill/>
          </a:ln>
        </p:spPr>
      </p:sp>
      <p:sp>
        <p:nvSpPr>
          <p:cNvPr id="61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16" name="PlaceHolder 3"/>
          <p:cNvSpPr>
            <a:spLocks noGrp="1"/>
          </p:cNvSpPr>
          <p:nvPr>
            <p:ph type="sldNum" idx="3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656ADE9-F944-4177-BD0C-262C11DD2E8B}" type="slidenum">
              <a:rPr lang="en-US" sz="1200" b="0" u="none" strike="noStrike">
                <a:solidFill>
                  <a:schemeClr val="dk1"/>
                </a:solidFill>
                <a:effectLst/>
                <a:uFillTx/>
                <a:latin typeface="+mn-lt"/>
                <a:ea typeface="+mn-ea"/>
              </a:rPr>
              <a:t>12</a:t>
            </a:fld>
            <a:endParaRPr lang="en-US" sz="12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 name="PlaceHolder 1"/>
          <p:cNvSpPr>
            <a:spLocks noGrp="1" noRot="1" noChangeAspect="1"/>
          </p:cNvSpPr>
          <p:nvPr>
            <p:ph type="sldImg"/>
          </p:nvPr>
        </p:nvSpPr>
        <p:spPr>
          <a:xfrm>
            <a:off x="685800" y="1143000"/>
            <a:ext cx="5486040" cy="3085920"/>
          </a:xfrm>
          <a:prstGeom prst="rect">
            <a:avLst/>
          </a:prstGeom>
          <a:ln w="0">
            <a:noFill/>
          </a:ln>
        </p:spPr>
      </p:sp>
      <p:sp>
        <p:nvSpPr>
          <p:cNvPr id="61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19" name="PlaceHolder 3"/>
          <p:cNvSpPr>
            <a:spLocks noGrp="1"/>
          </p:cNvSpPr>
          <p:nvPr>
            <p:ph type="sldNum" idx="3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940F7F8-67D6-4320-B0C7-4B6CCC23C714}" type="slidenum">
              <a:rPr lang="en-US" sz="1200" b="0" u="none" strike="noStrike">
                <a:solidFill>
                  <a:schemeClr val="dk1"/>
                </a:solidFill>
                <a:effectLst/>
                <a:uFillTx/>
                <a:latin typeface="+mn-lt"/>
                <a:ea typeface="+mn-ea"/>
              </a:rPr>
              <a:t>13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0" name="PlaceHolder 1"/>
          <p:cNvSpPr>
            <a:spLocks noGrp="1" noRot="1" noChangeAspect="1"/>
          </p:cNvSpPr>
          <p:nvPr>
            <p:ph type="sldImg"/>
          </p:nvPr>
        </p:nvSpPr>
        <p:spPr>
          <a:xfrm>
            <a:off x="685800" y="1143000"/>
            <a:ext cx="5486040" cy="3085920"/>
          </a:xfrm>
          <a:prstGeom prst="rect">
            <a:avLst/>
          </a:prstGeom>
          <a:ln w="0">
            <a:noFill/>
          </a:ln>
        </p:spPr>
      </p:sp>
      <p:sp>
        <p:nvSpPr>
          <p:cNvPr id="62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22"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1E96BBB-B95A-4F33-89E5-FC35899FEA12}" type="slidenum">
              <a:rPr lang="en-US" sz="1200" b="0" u="none" strike="noStrike">
                <a:solidFill>
                  <a:schemeClr val="dk1"/>
                </a:solidFill>
                <a:effectLst/>
                <a:uFillTx/>
                <a:latin typeface="+mn-lt"/>
                <a:ea typeface="+mn-ea"/>
              </a:rPr>
              <a:t>14</a:t>
            </a:fld>
            <a:endParaRPr lang="en-US"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 name="PlaceHolder 1"/>
          <p:cNvSpPr>
            <a:spLocks noGrp="1" noRot="1" noChangeAspect="1"/>
          </p:cNvSpPr>
          <p:nvPr>
            <p:ph type="sldImg"/>
          </p:nvPr>
        </p:nvSpPr>
        <p:spPr>
          <a:xfrm>
            <a:off x="685800" y="1143000"/>
            <a:ext cx="5486040" cy="3085920"/>
          </a:xfrm>
          <a:prstGeom prst="rect">
            <a:avLst/>
          </a:prstGeom>
          <a:ln w="0">
            <a:noFill/>
          </a:ln>
        </p:spPr>
      </p:sp>
      <p:sp>
        <p:nvSpPr>
          <p:cNvPr id="62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25"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DEC72A3-764C-41B3-B613-860F38AC95D1}" type="slidenum">
              <a:rPr lang="en-US" sz="1200" b="0" u="none" strike="noStrike">
                <a:solidFill>
                  <a:schemeClr val="dk1"/>
                </a:solidFill>
                <a:effectLst/>
                <a:uFillTx/>
                <a:latin typeface="+mn-lt"/>
                <a:ea typeface="+mn-ea"/>
              </a:rPr>
              <a:t>15</a:t>
            </a:fld>
            <a:endParaRPr lang="en-US" sz="12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6" name="PlaceHolder 1"/>
          <p:cNvSpPr>
            <a:spLocks noGrp="1" noRot="1" noChangeAspect="1"/>
          </p:cNvSpPr>
          <p:nvPr>
            <p:ph type="sldImg"/>
          </p:nvPr>
        </p:nvSpPr>
        <p:spPr>
          <a:xfrm>
            <a:off x="685800" y="1143000"/>
            <a:ext cx="5486040" cy="3085920"/>
          </a:xfrm>
          <a:prstGeom prst="rect">
            <a:avLst/>
          </a:prstGeom>
          <a:ln w="0">
            <a:noFill/>
          </a:ln>
        </p:spPr>
      </p:sp>
      <p:sp>
        <p:nvSpPr>
          <p:cNvPr id="62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28"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2989BB5-9683-4589-8910-FBE87875BE09}" type="slidenum">
              <a:rPr lang="en-US" sz="1200" b="0" u="none" strike="noStrike">
                <a:solidFill>
                  <a:schemeClr val="dk1"/>
                </a:solidFill>
                <a:effectLst/>
                <a:uFillTx/>
                <a:latin typeface="+mn-lt"/>
                <a:ea typeface="+mn-ea"/>
              </a:rPr>
              <a:t>16</a:t>
            </a:fld>
            <a:endParaRPr lang="en-US" sz="1200" b="0" u="none" strike="noStrike">
              <a:solidFill>
                <a:srgbClr val="000000"/>
              </a:solidFill>
              <a:effectLst/>
              <a:uFillTx/>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9" name="PlaceHolder 1"/>
          <p:cNvSpPr>
            <a:spLocks noGrp="1" noRot="1" noChangeAspect="1"/>
          </p:cNvSpPr>
          <p:nvPr>
            <p:ph type="sldImg"/>
          </p:nvPr>
        </p:nvSpPr>
        <p:spPr>
          <a:xfrm>
            <a:off x="685800" y="1143000"/>
            <a:ext cx="5486040" cy="3085920"/>
          </a:xfrm>
          <a:prstGeom prst="rect">
            <a:avLst/>
          </a:prstGeom>
          <a:ln w="0">
            <a:noFill/>
          </a:ln>
        </p:spPr>
      </p:sp>
      <p:sp>
        <p:nvSpPr>
          <p:cNvPr id="63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31"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ADADE6D-96F0-426A-BD5A-85E64C74F2DE}" type="slidenum">
              <a:rPr lang="en-US" sz="1200" b="0" u="none" strike="noStrike">
                <a:solidFill>
                  <a:schemeClr val="dk1"/>
                </a:solidFill>
                <a:effectLst/>
                <a:uFillTx/>
                <a:latin typeface="+mn-lt"/>
                <a:ea typeface="+mn-ea"/>
              </a:rPr>
              <a:t>17</a:t>
            </a:fld>
            <a:endParaRPr lang="en-US" sz="1200" b="0" u="none" strike="noStrike">
              <a:solidFill>
                <a:srgbClr val="000000"/>
              </a:solidFill>
              <a:effectLst/>
              <a:uFillTx/>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2" name="PlaceHolder 1"/>
          <p:cNvSpPr>
            <a:spLocks noGrp="1" noRot="1" noChangeAspect="1"/>
          </p:cNvSpPr>
          <p:nvPr>
            <p:ph type="sldImg"/>
          </p:nvPr>
        </p:nvSpPr>
        <p:spPr>
          <a:xfrm>
            <a:off x="685800" y="1143000"/>
            <a:ext cx="5486040" cy="3085920"/>
          </a:xfrm>
          <a:prstGeom prst="rect">
            <a:avLst/>
          </a:prstGeom>
          <a:ln w="0">
            <a:noFill/>
          </a:ln>
        </p:spPr>
      </p:sp>
      <p:sp>
        <p:nvSpPr>
          <p:cNvPr id="63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34"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62AD0F8-071B-4056-A06B-DAEC561B4FDC}" type="slidenum">
              <a:rPr lang="en-US" sz="1200" b="0" u="none" strike="noStrike">
                <a:solidFill>
                  <a:schemeClr val="dk1"/>
                </a:solidFill>
                <a:effectLst/>
                <a:uFillTx/>
                <a:latin typeface="+mn-lt"/>
                <a:ea typeface="+mn-ea"/>
              </a:rPr>
              <a:t>18</a:t>
            </a:fld>
            <a:endParaRPr lang="en-US" sz="1200" b="0" u="none" strike="noStrike">
              <a:solidFill>
                <a:srgbClr val="000000"/>
              </a:solidFill>
              <a:effectLst/>
              <a:uFillTx/>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PlaceHolder 1"/>
          <p:cNvSpPr>
            <a:spLocks noGrp="1" noRot="1" noChangeAspect="1"/>
          </p:cNvSpPr>
          <p:nvPr>
            <p:ph type="sldImg"/>
          </p:nvPr>
        </p:nvSpPr>
        <p:spPr>
          <a:xfrm>
            <a:off x="685800" y="1143000"/>
            <a:ext cx="5486040" cy="3085920"/>
          </a:xfrm>
          <a:prstGeom prst="rect">
            <a:avLst/>
          </a:prstGeom>
          <a:ln w="0">
            <a:noFill/>
          </a:ln>
        </p:spPr>
      </p:sp>
      <p:sp>
        <p:nvSpPr>
          <p:cNvPr id="63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637"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8E83F53-4C98-4F23-B82E-4380797275DC}" type="slidenum">
              <a:rPr lang="en-US" sz="1200" b="0" u="none" strike="noStrike">
                <a:solidFill>
                  <a:schemeClr val="dk1"/>
                </a:solidFill>
                <a:effectLst/>
                <a:uFillTx/>
                <a:latin typeface="+mn-lt"/>
                <a:ea typeface="+mn-ea"/>
              </a:rPr>
              <a:t>19</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MASTER">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2191400" cy="109440"/>
          </a:xfrm>
          <a:prstGeom prst="rect">
            <a:avLst/>
          </a:prstGeom>
          <a:solidFill>
            <a:srgbClr val="1E88E5"/>
          </a:solidFill>
          <a:ln w="12700">
            <a:solidFill>
              <a:srgbClr val="1E88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 name="Text 1"/>
          <p:cNvSpPr/>
          <p:nvPr/>
        </p:nvSpPr>
        <p:spPr>
          <a:xfrm>
            <a:off x="502920" y="6546960"/>
            <a:ext cx="32914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0" u="none" strike="noStrike">
                <a:solidFill>
                  <a:srgbClr val="7A8797"/>
                </a:solidFill>
                <a:effectLst/>
                <a:uFillTx/>
                <a:latin typeface="Arial"/>
                <a:ea typeface="Arial"/>
              </a:rPr>
              <a:t>BIG DATA • CHƯƠNG 4</a:t>
            </a:r>
            <a:endParaRPr lang="en-US" sz="800" b="0" u="none" strike="noStrike">
              <a:solidFill>
                <a:srgbClr val="000000"/>
              </a:solidFill>
              <a:effectLst/>
              <a:uFillTx/>
              <a:latin typeface="Arial"/>
            </a:endParaRPr>
          </a:p>
        </p:txBody>
      </p:sp>
      <p:sp>
        <p:nvSpPr>
          <p:cNvPr id="4" name="Text 2"/>
          <p:cNvSpPr/>
          <p:nvPr/>
        </p:nvSpPr>
        <p:spPr>
          <a:xfrm>
            <a:off x="8549640" y="6546960"/>
            <a:ext cx="30628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800" b="0" u="none" strike="noStrike">
                <a:solidFill>
                  <a:srgbClr val="7A8797"/>
                </a:solidFill>
                <a:effectLst/>
                <a:uFillTx/>
                <a:latin typeface="Arial"/>
                <a:ea typeface="Arial"/>
              </a:rPr>
              <a:t>Data Ingestion &amp; Orchestration</a:t>
            </a:r>
            <a:endParaRPr lang="en-US" sz="800" b="0" u="none" strike="noStrike">
              <a:solidFill>
                <a:srgbClr val="000000"/>
              </a:solidFill>
              <a:effectLst/>
              <a:uFillTx/>
              <a:latin typeface="Arial"/>
            </a:endParaRPr>
          </a:p>
        </p:txBody>
      </p:sp>
      <p:sp>
        <p:nvSpPr>
          <p:cNvPr id="5" name="PlaceHolder 1"/>
          <p:cNvSpPr>
            <a:spLocks noGrp="1"/>
          </p:cNvSpPr>
          <p:nvPr>
            <p:ph type="sldNum" idx="1"/>
          </p:nvPr>
        </p:nvSpPr>
        <p:spPr>
          <a:xfrm>
            <a:off x="11631240" y="6510600"/>
            <a:ext cx="255600" cy="200880"/>
          </a:xfrm>
          <a:prstGeom prst="rect">
            <a:avLst/>
          </a:prstGeom>
          <a:noFill/>
          <a:ln w="0">
            <a:noFill/>
          </a:ln>
        </p:spPr>
        <p:txBody>
          <a:bodyPr lIns="90000" tIns="45000" rIns="90000" bIns="45000" anchor="t">
            <a:noAutofit/>
          </a:bodyPr>
          <a:lstStyle>
            <a:lvl1pPr indent="0" algn="r" defTabSz="914400">
              <a:lnSpc>
                <a:spcPct val="100000"/>
              </a:lnSpc>
              <a:buNone/>
              <a:defRPr lang="en-US" sz="800" b="0" u="none" strike="noStrike">
                <a:solidFill>
                  <a:srgbClr val="7A8797"/>
                </a:solidFill>
                <a:effectLst/>
                <a:uFillTx/>
                <a:latin typeface="Arial"/>
                <a:ea typeface="Arial"/>
              </a:defRPr>
            </a:lvl1pPr>
          </a:lstStyle>
          <a:p>
            <a:pPr indent="0" algn="r" defTabSz="914400">
              <a:lnSpc>
                <a:spcPct val="100000"/>
              </a:lnSpc>
              <a:buNone/>
            </a:pPr>
            <a:fld id="{7E7D8938-B4BA-4DCC-9374-93F6E3B9E3DF}" type="slidenum">
              <a:rPr lang="en-US" sz="800" b="0" u="none" strike="noStrike">
                <a:solidFill>
                  <a:srgbClr val="7A8797"/>
                </a:solidFill>
                <a:effectLst/>
                <a:uFillTx/>
                <a:latin typeface="Arial"/>
                <a:ea typeface="Arial"/>
              </a:rPr>
              <a:t>‹#›</a:t>
            </a:fld>
            <a:endParaRPr lang="en-US" sz="800" b="0" u="none" strike="noStrike">
              <a:solidFill>
                <a:srgbClr val="000000"/>
              </a:solidFill>
              <a:effectLst/>
              <a:uFillTx/>
              <a:latin typeface="Times New Roman"/>
            </a:endParaRPr>
          </a:p>
        </p:txBody>
      </p:sp>
      <p:sp>
        <p:nvSpPr>
          <p:cNvPr id="6"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Arial"/>
              </a:rPr>
              <a:t>Click to edit the title text format</a:t>
            </a:r>
          </a:p>
        </p:txBody>
      </p:sp>
      <p:sp>
        <p:nvSpPr>
          <p:cNvPr id="7"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Arial"/>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Arial"/>
              </a:rPr>
              <a:t>Seventh Outline Level</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14" name="Shape 0"/>
          <p:cNvSpPr/>
          <p:nvPr/>
        </p:nvSpPr>
        <p:spPr>
          <a:xfrm>
            <a:off x="567000" y="1051560"/>
            <a:ext cx="11018160" cy="4983120"/>
          </a:xfrm>
          <a:prstGeom prst="roundRect">
            <a:avLst>
              <a:gd name="adj" fmla="val 1468"/>
            </a:avLst>
          </a:prstGeom>
          <a:solidFill>
            <a:srgbClr val="FFFFFF"/>
          </a:solidFill>
          <a:ln w="12700">
            <a:solidFill>
              <a:srgbClr val="DFE7E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 name="Text 1"/>
          <p:cNvSpPr/>
          <p:nvPr/>
        </p:nvSpPr>
        <p:spPr>
          <a:xfrm>
            <a:off x="868680" y="1417320"/>
            <a:ext cx="182844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1E88E5"/>
                </a:solidFill>
                <a:effectLst/>
                <a:uFillTx/>
                <a:latin typeface="Arial"/>
              </a:rPr>
              <a:t>CHƯƠNG 4</a:t>
            </a:r>
            <a:endParaRPr lang="en-US" sz="1600" b="0" u="none" strike="noStrike">
              <a:solidFill>
                <a:srgbClr val="000000"/>
              </a:solidFill>
              <a:effectLst/>
              <a:uFillTx/>
              <a:latin typeface="Arial"/>
            </a:endParaRPr>
          </a:p>
        </p:txBody>
      </p:sp>
      <p:sp>
        <p:nvSpPr>
          <p:cNvPr id="16" name="Text 2"/>
          <p:cNvSpPr/>
          <p:nvPr/>
        </p:nvSpPr>
        <p:spPr>
          <a:xfrm>
            <a:off x="868680" y="1874520"/>
            <a:ext cx="6309000" cy="1261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3400" b="1" u="none" strike="noStrike">
                <a:solidFill>
                  <a:srgbClr val="16324F"/>
                </a:solidFill>
                <a:effectLst/>
                <a:uFillTx/>
                <a:latin typeface="Arial"/>
              </a:rPr>
              <a:t>DATA INGESTION</a:t>
            </a:r>
            <a:endParaRPr lang="en-US" sz="3400" b="0" u="none" strike="noStrike">
              <a:solidFill>
                <a:srgbClr val="000000"/>
              </a:solidFill>
              <a:effectLst/>
              <a:uFillTx/>
              <a:latin typeface="Arial"/>
            </a:endParaRPr>
          </a:p>
          <a:p>
            <a:pPr defTabSz="914400">
              <a:lnSpc>
                <a:spcPct val="100000"/>
              </a:lnSpc>
              <a:tabLst>
                <a:tab pos="0" algn="l"/>
              </a:tabLst>
            </a:pPr>
            <a:r>
              <a:rPr lang="en-US" sz="3400" b="1" u="none" strike="noStrike">
                <a:solidFill>
                  <a:srgbClr val="16324F"/>
                </a:solidFill>
                <a:effectLst/>
                <a:uFillTx/>
                <a:latin typeface="Arial"/>
              </a:rPr>
              <a:t>&amp; ORCHESTRATION</a:t>
            </a:r>
            <a:endParaRPr lang="en-US" sz="3400" b="0" u="none" strike="noStrike">
              <a:solidFill>
                <a:srgbClr val="000000"/>
              </a:solidFill>
              <a:effectLst/>
              <a:uFillTx/>
              <a:latin typeface="Arial"/>
            </a:endParaRPr>
          </a:p>
        </p:txBody>
      </p:sp>
      <p:sp>
        <p:nvSpPr>
          <p:cNvPr id="17" name="Text 3"/>
          <p:cNvSpPr/>
          <p:nvPr/>
        </p:nvSpPr>
        <p:spPr>
          <a:xfrm>
            <a:off x="896040" y="3401640"/>
            <a:ext cx="667476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00" b="0" u="none" strike="noStrike">
                <a:solidFill>
                  <a:srgbClr val="5F6B7A"/>
                </a:solidFill>
                <a:effectLst/>
                <a:uFillTx/>
                <a:latin typeface="Arial"/>
              </a:rPr>
              <a:t>Thu thập dữ liệu • Batch &amp; Streaming • Sqoop • Flume • Kafka • Airflow • Redis Queue</a:t>
            </a:r>
            <a:endParaRPr lang="en-US" sz="1500" b="0" u="none" strike="noStrike">
              <a:solidFill>
                <a:srgbClr val="000000"/>
              </a:solidFill>
              <a:effectLst/>
              <a:uFillTx/>
              <a:latin typeface="Arial"/>
            </a:endParaRPr>
          </a:p>
        </p:txBody>
      </p:sp>
      <p:sp>
        <p:nvSpPr>
          <p:cNvPr id="18" name="Shape 4"/>
          <p:cNvSpPr/>
          <p:nvPr/>
        </p:nvSpPr>
        <p:spPr>
          <a:xfrm>
            <a:off x="914400" y="4526280"/>
            <a:ext cx="1416960" cy="639720"/>
          </a:xfrm>
          <a:prstGeom prst="roundRect">
            <a:avLst>
              <a:gd name="adj" fmla="val 8571"/>
            </a:avLst>
          </a:prstGeom>
          <a:solidFill>
            <a:srgbClr val="00A6A6"/>
          </a:solidFill>
          <a:ln w="12700">
            <a:solidFill>
              <a:srgbClr val="00A6A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9" name="Text 5"/>
          <p:cNvSpPr/>
          <p:nvPr/>
        </p:nvSpPr>
        <p:spPr>
          <a:xfrm>
            <a:off x="969120" y="4727520"/>
            <a:ext cx="13071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50" b="1" u="none" strike="noStrike">
                <a:solidFill>
                  <a:srgbClr val="FFFFFF"/>
                </a:solidFill>
                <a:effectLst/>
                <a:uFillTx/>
                <a:latin typeface="Arial"/>
              </a:rPr>
              <a:t>Sources</a:t>
            </a:r>
            <a:endParaRPr lang="en-US" sz="1050" b="0" u="none" strike="noStrike">
              <a:solidFill>
                <a:srgbClr val="000000"/>
              </a:solidFill>
              <a:effectLst/>
              <a:uFillTx/>
              <a:latin typeface="Arial"/>
            </a:endParaRPr>
          </a:p>
        </p:txBody>
      </p:sp>
      <p:sp>
        <p:nvSpPr>
          <p:cNvPr id="20" name="Shape 6"/>
          <p:cNvSpPr/>
          <p:nvPr/>
        </p:nvSpPr>
        <p:spPr>
          <a:xfrm>
            <a:off x="2331720" y="4846320"/>
            <a:ext cx="484560" cy="360"/>
          </a:xfrm>
          <a:prstGeom prst="line">
            <a:avLst/>
          </a:prstGeom>
          <a:ln w="25400">
            <a:solidFill>
              <a:srgbClr val="A5B2C2"/>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1" name="Shape 7"/>
          <p:cNvSpPr/>
          <p:nvPr/>
        </p:nvSpPr>
        <p:spPr>
          <a:xfrm>
            <a:off x="2816280" y="4526280"/>
            <a:ext cx="1416960" cy="639720"/>
          </a:xfrm>
          <a:prstGeom prst="roundRect">
            <a:avLst>
              <a:gd name="adj" fmla="val 8571"/>
            </a:avLst>
          </a:prstGeom>
          <a:solidFill>
            <a:srgbClr val="1E88E5"/>
          </a:solidFill>
          <a:ln w="12700">
            <a:solidFill>
              <a:srgbClr val="1E88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2" name="Text 8"/>
          <p:cNvSpPr/>
          <p:nvPr/>
        </p:nvSpPr>
        <p:spPr>
          <a:xfrm>
            <a:off x="2871360" y="4727520"/>
            <a:ext cx="13071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50" b="1" u="none" strike="noStrike">
                <a:solidFill>
                  <a:srgbClr val="FFFFFF"/>
                </a:solidFill>
                <a:effectLst/>
                <a:uFillTx/>
                <a:latin typeface="Arial"/>
              </a:rPr>
              <a:t>Ingestion</a:t>
            </a:r>
            <a:endParaRPr lang="en-US" sz="1050" b="0" u="none" strike="noStrike">
              <a:solidFill>
                <a:srgbClr val="000000"/>
              </a:solidFill>
              <a:effectLst/>
              <a:uFillTx/>
              <a:latin typeface="Arial"/>
            </a:endParaRPr>
          </a:p>
        </p:txBody>
      </p:sp>
      <p:sp>
        <p:nvSpPr>
          <p:cNvPr id="23" name="Shape 9"/>
          <p:cNvSpPr/>
          <p:nvPr/>
        </p:nvSpPr>
        <p:spPr>
          <a:xfrm>
            <a:off x="4233600" y="4846320"/>
            <a:ext cx="502920" cy="360"/>
          </a:xfrm>
          <a:prstGeom prst="line">
            <a:avLst/>
          </a:prstGeom>
          <a:ln w="25400">
            <a:solidFill>
              <a:srgbClr val="A5B2C2"/>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4" name="Shape 10"/>
          <p:cNvSpPr/>
          <p:nvPr/>
        </p:nvSpPr>
        <p:spPr>
          <a:xfrm>
            <a:off x="4736520" y="4526280"/>
            <a:ext cx="1416960" cy="639720"/>
          </a:xfrm>
          <a:prstGeom prst="roundRect">
            <a:avLst>
              <a:gd name="adj" fmla="val 8571"/>
            </a:avLst>
          </a:prstGeom>
          <a:solidFill>
            <a:srgbClr val="16324F"/>
          </a:solidFill>
          <a:ln w="12700">
            <a:solidFill>
              <a:srgbClr val="16324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5" name="Text 11"/>
          <p:cNvSpPr/>
          <p:nvPr/>
        </p:nvSpPr>
        <p:spPr>
          <a:xfrm>
            <a:off x="4791600" y="4727520"/>
            <a:ext cx="13071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50" b="1" u="none" strike="noStrike">
                <a:solidFill>
                  <a:srgbClr val="FFFFFF"/>
                </a:solidFill>
                <a:effectLst/>
                <a:uFillTx/>
                <a:latin typeface="Arial"/>
              </a:rPr>
              <a:t>Storage</a:t>
            </a:r>
            <a:endParaRPr lang="en-US" sz="1050" b="0" u="none" strike="noStrike">
              <a:solidFill>
                <a:srgbClr val="000000"/>
              </a:solidFill>
              <a:effectLst/>
              <a:uFillTx/>
              <a:latin typeface="Arial"/>
            </a:endParaRPr>
          </a:p>
        </p:txBody>
      </p:sp>
      <p:sp>
        <p:nvSpPr>
          <p:cNvPr id="26" name="Shape 12"/>
          <p:cNvSpPr/>
          <p:nvPr/>
        </p:nvSpPr>
        <p:spPr>
          <a:xfrm>
            <a:off x="6153840" y="4846320"/>
            <a:ext cx="502920" cy="360"/>
          </a:xfrm>
          <a:prstGeom prst="line">
            <a:avLst/>
          </a:prstGeom>
          <a:ln w="25400">
            <a:solidFill>
              <a:srgbClr val="A5B2C2"/>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7" name="Shape 13"/>
          <p:cNvSpPr/>
          <p:nvPr/>
        </p:nvSpPr>
        <p:spPr>
          <a:xfrm>
            <a:off x="6656760" y="4526280"/>
            <a:ext cx="1416960" cy="639720"/>
          </a:xfrm>
          <a:prstGeom prst="roundRect">
            <a:avLst>
              <a:gd name="adj" fmla="val 8571"/>
            </a:avLst>
          </a:prstGeom>
          <a:solidFill>
            <a:srgbClr val="6C5CE7"/>
          </a:solidFill>
          <a:ln w="12700">
            <a:solidFill>
              <a:srgbClr val="6C5CE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8" name="Text 14"/>
          <p:cNvSpPr/>
          <p:nvPr/>
        </p:nvSpPr>
        <p:spPr>
          <a:xfrm>
            <a:off x="6711840" y="4727520"/>
            <a:ext cx="13071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50" b="1" u="none" strike="noStrike">
                <a:solidFill>
                  <a:srgbClr val="FFFFFF"/>
                </a:solidFill>
                <a:effectLst/>
                <a:uFillTx/>
                <a:latin typeface="Arial"/>
              </a:rPr>
              <a:t>Processing</a:t>
            </a:r>
            <a:endParaRPr lang="en-US" sz="1050" b="0" u="none" strike="noStrike">
              <a:solidFill>
                <a:srgbClr val="000000"/>
              </a:solidFill>
              <a:effectLst/>
              <a:uFillTx/>
              <a:latin typeface="Arial"/>
            </a:endParaRPr>
          </a:p>
        </p:txBody>
      </p:sp>
      <p:sp>
        <p:nvSpPr>
          <p:cNvPr id="29" name="Shape 15"/>
          <p:cNvSpPr/>
          <p:nvPr/>
        </p:nvSpPr>
        <p:spPr>
          <a:xfrm>
            <a:off x="8074080" y="4846320"/>
            <a:ext cx="502920" cy="360"/>
          </a:xfrm>
          <a:prstGeom prst="line">
            <a:avLst/>
          </a:prstGeom>
          <a:ln w="25400">
            <a:solidFill>
              <a:srgbClr val="A5B2C2"/>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0" name="Shape 16"/>
          <p:cNvSpPr/>
          <p:nvPr/>
        </p:nvSpPr>
        <p:spPr>
          <a:xfrm>
            <a:off x="8577000" y="4526280"/>
            <a:ext cx="1416960" cy="639720"/>
          </a:xfrm>
          <a:prstGeom prst="roundRect">
            <a:avLst>
              <a:gd name="adj" fmla="val 8571"/>
            </a:avLst>
          </a:prstGeom>
          <a:solidFill>
            <a:srgbClr val="F59E0B"/>
          </a:solidFill>
          <a:ln w="12700">
            <a:solidFill>
              <a:srgbClr val="F59E0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1" name="Text 17"/>
          <p:cNvSpPr/>
          <p:nvPr/>
        </p:nvSpPr>
        <p:spPr>
          <a:xfrm>
            <a:off x="8632080" y="4727520"/>
            <a:ext cx="13071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50" b="1" u="none" strike="noStrike">
                <a:solidFill>
                  <a:srgbClr val="FFFFFF"/>
                </a:solidFill>
                <a:effectLst/>
                <a:uFillTx/>
                <a:latin typeface="Arial"/>
              </a:rPr>
              <a:t>Orchestration</a:t>
            </a:r>
            <a:endParaRPr lang="en-US" sz="1050" b="0" u="none" strike="noStrike">
              <a:solidFill>
                <a:srgbClr val="000000"/>
              </a:solidFill>
              <a:effectLst/>
              <a:uFillTx/>
              <a:latin typeface="Arial"/>
            </a:endParaRPr>
          </a:p>
        </p:txBody>
      </p:sp>
      <p:sp>
        <p:nvSpPr>
          <p:cNvPr id="32" name="Shape 18"/>
          <p:cNvSpPr/>
          <p:nvPr/>
        </p:nvSpPr>
        <p:spPr>
          <a:xfrm>
            <a:off x="9994320" y="4846320"/>
            <a:ext cx="64080" cy="360"/>
          </a:xfrm>
          <a:prstGeom prst="line">
            <a:avLst/>
          </a:prstGeom>
          <a:ln w="25400">
            <a:solidFill>
              <a:srgbClr val="A5B2C2"/>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3" name="Shape 19"/>
          <p:cNvSpPr/>
          <p:nvPr/>
        </p:nvSpPr>
        <p:spPr>
          <a:xfrm>
            <a:off x="10058400" y="4526280"/>
            <a:ext cx="1416960" cy="639720"/>
          </a:xfrm>
          <a:prstGeom prst="roundRect">
            <a:avLst>
              <a:gd name="adj" fmla="val 8571"/>
            </a:avLst>
          </a:prstGeom>
          <a:solidFill>
            <a:srgbClr val="2E7D32"/>
          </a:solidFill>
          <a:ln w="12700">
            <a:solidFill>
              <a:srgbClr val="2E7D3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4" name="Text 20"/>
          <p:cNvSpPr/>
          <p:nvPr/>
        </p:nvSpPr>
        <p:spPr>
          <a:xfrm>
            <a:off x="10113120" y="4727520"/>
            <a:ext cx="13071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50" b="1" u="none" strike="noStrike">
                <a:solidFill>
                  <a:srgbClr val="FFFFFF"/>
                </a:solidFill>
                <a:effectLst/>
                <a:uFillTx/>
                <a:latin typeface="Arial"/>
              </a:rPr>
              <a:t>Analytics</a:t>
            </a:r>
            <a:endParaRPr lang="en-US" sz="1050" b="0" u="none" strike="noStrike">
              <a:solidFill>
                <a:srgbClr val="000000"/>
              </a:solidFill>
              <a:effectLst/>
              <a:uFillTx/>
              <a:latin typeface="Arial"/>
            </a:endParaRPr>
          </a:p>
        </p:txBody>
      </p:sp>
      <p:sp>
        <p:nvSpPr>
          <p:cNvPr id="35" name="Text 21"/>
          <p:cNvSpPr/>
          <p:nvPr/>
        </p:nvSpPr>
        <p:spPr>
          <a:xfrm>
            <a:off x="896040" y="5532120"/>
            <a:ext cx="98751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i="1" u="none" strike="noStrike">
                <a:solidFill>
                  <a:srgbClr val="6F7D8D"/>
                </a:solidFill>
                <a:effectLst/>
                <a:uFillTx/>
                <a:latin typeface="Arial"/>
              </a:rPr>
              <a:t>Bản revise: bổ sung giải thích, phân biệt vai trò các công nghệ và cập nhật Airflow hiện hành.</a:t>
            </a:r>
            <a:endParaRPr lang="en-US" sz="1100" b="0" u="none" strike="noStrike">
              <a:solidFill>
                <a:srgbClr val="000000"/>
              </a:solidFill>
              <a:effectLst/>
              <a:uFillTx/>
              <a:latin typeface="Arial"/>
            </a:endParaRPr>
          </a:p>
        </p:txBody>
      </p:sp>
      <p:sp>
        <p:nvSpPr>
          <p:cNvPr id="36" name="PlaceHolder 1"/>
          <p:cNvSpPr>
            <a:spLocks noGrp="1"/>
          </p:cNvSpPr>
          <p:nvPr>
            <p:ph type="sldNum" idx="5"/>
          </p:nvPr>
        </p:nvSpPr>
        <p:spPr>
          <a:xfrm>
            <a:off x="11631240" y="6510600"/>
            <a:ext cx="255600" cy="200880"/>
          </a:xfrm>
          <a:prstGeom prst="rect">
            <a:avLst/>
          </a:prstGeom>
          <a:noFill/>
          <a:ln w="0">
            <a:noFill/>
          </a:ln>
        </p:spPr>
        <p:txBody>
          <a:bodyPr lIns="90000" tIns="45000" rIns="90000" bIns="45000" anchor="t">
            <a:noAutofit/>
          </a:bodyPr>
          <a:lstStyle>
            <a:lvl1pPr indent="0" algn="r" defTabSz="914400">
              <a:lnSpc>
                <a:spcPct val="100000"/>
              </a:lnSpc>
              <a:buNone/>
              <a:defRPr lang="en-US" sz="800" b="0" u="none" strike="noStrike">
                <a:solidFill>
                  <a:srgbClr val="7A8797"/>
                </a:solidFill>
                <a:effectLst/>
                <a:uFillTx/>
                <a:latin typeface="Arial"/>
                <a:ea typeface="Arial"/>
              </a:defRPr>
            </a:lvl1pPr>
          </a:lstStyle>
          <a:p>
            <a:pPr indent="0" algn="r" defTabSz="914400">
              <a:lnSpc>
                <a:spcPct val="100000"/>
              </a:lnSpc>
              <a:buNone/>
            </a:pPr>
            <a:fld id="{A647E980-137C-4AA7-8190-191B46B4594A}" type="slidenum">
              <a:rPr lang="en-US" sz="800" b="0" u="none" strike="noStrike">
                <a:solidFill>
                  <a:srgbClr val="7A8797"/>
                </a:solidFill>
                <a:effectLst/>
                <a:uFillTx/>
                <a:latin typeface="Arial"/>
                <a:ea typeface="Arial"/>
              </a:rPr>
              <a:t>1</a:t>
            </a:fld>
            <a:endParaRPr lang="en-US" sz="800" b="0" u="none" strike="noStrike">
              <a:solidFill>
                <a:srgbClr val="000000"/>
              </a:solidFill>
              <a:effectLst/>
              <a:uFillTx/>
              <a:latin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0"/>
          <p:cNvSpPr/>
          <p:nvPr/>
        </p:nvSpPr>
        <p:spPr>
          <a:xfrm>
            <a:off x="548640" y="329040"/>
            <a:ext cx="1106388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700" b="1" u="none" strike="noStrike">
                <a:solidFill>
                  <a:srgbClr val="16324F"/>
                </a:solidFill>
                <a:effectLst/>
                <a:uFillTx/>
                <a:latin typeface="Arial"/>
                <a:ea typeface="Arial"/>
              </a:rPr>
              <a:t>1. Data Ingestion nằm ở đâu trong kiến trúc Big Data?</a:t>
            </a:r>
            <a:endParaRPr lang="en-US" sz="2700" b="0" u="none" strike="noStrike">
              <a:solidFill>
                <a:srgbClr val="000000"/>
              </a:solidFill>
              <a:effectLst/>
              <a:uFillTx/>
              <a:latin typeface="Arial"/>
            </a:endParaRPr>
          </a:p>
        </p:txBody>
      </p:sp>
      <p:sp>
        <p:nvSpPr>
          <p:cNvPr id="38" name="Text 1"/>
          <p:cNvSpPr/>
          <p:nvPr/>
        </p:nvSpPr>
        <p:spPr>
          <a:xfrm>
            <a:off x="567000" y="841320"/>
            <a:ext cx="109724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0" u="none" strike="noStrike">
                <a:solidFill>
                  <a:srgbClr val="5F6B7A"/>
                </a:solidFill>
                <a:effectLst/>
                <a:uFillTx/>
                <a:latin typeface="Arial"/>
                <a:ea typeface="Arial"/>
              </a:rPr>
              <a:t>Ingestion là “cửa vào” của pipeline — đưa dữ liệu từ nguồn vào hệ thống lưu trữ/xử lý.</a:t>
            </a:r>
            <a:endParaRPr lang="en-US" sz="1250" b="0" u="none" strike="noStrike">
              <a:solidFill>
                <a:srgbClr val="000000"/>
              </a:solidFill>
              <a:effectLst/>
              <a:uFillTx/>
              <a:latin typeface="Arial"/>
            </a:endParaRPr>
          </a:p>
        </p:txBody>
      </p:sp>
      <p:sp>
        <p:nvSpPr>
          <p:cNvPr id="39" name="Shape 2"/>
          <p:cNvSpPr/>
          <p:nvPr/>
        </p:nvSpPr>
        <p:spPr>
          <a:xfrm>
            <a:off x="658440" y="1828800"/>
            <a:ext cx="1874160" cy="1170000"/>
          </a:xfrm>
          <a:prstGeom prst="roundRect">
            <a:avLst>
              <a:gd name="adj" fmla="val 4688"/>
            </a:avLst>
          </a:prstGeom>
          <a:solidFill>
            <a:srgbClr val="00A6A6"/>
          </a:solidFill>
          <a:ln w="12700">
            <a:solidFill>
              <a:srgbClr val="00A6A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0" name="Text 3"/>
          <p:cNvSpPr/>
          <p:nvPr/>
        </p:nvSpPr>
        <p:spPr>
          <a:xfrm>
            <a:off x="749880" y="2039040"/>
            <a:ext cx="169128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rial"/>
              </a:rPr>
              <a:t>Data Sources</a:t>
            </a:r>
            <a:endParaRPr lang="en-US" sz="1400" b="0" u="none" strike="noStrike">
              <a:solidFill>
                <a:srgbClr val="000000"/>
              </a:solidFill>
              <a:effectLst/>
              <a:uFillTx/>
              <a:latin typeface="Arial"/>
            </a:endParaRPr>
          </a:p>
        </p:txBody>
      </p:sp>
      <p:sp>
        <p:nvSpPr>
          <p:cNvPr id="41" name="Text 4"/>
          <p:cNvSpPr/>
          <p:nvPr/>
        </p:nvSpPr>
        <p:spPr>
          <a:xfrm>
            <a:off x="749880" y="2423160"/>
            <a:ext cx="16912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80" b="0" u="none" strike="noStrike">
                <a:solidFill>
                  <a:srgbClr val="E8F0F7"/>
                </a:solidFill>
                <a:effectLst/>
                <a:uFillTx/>
                <a:latin typeface="Arial"/>
              </a:rPr>
              <a:t>DB, file, log, API, IoT</a:t>
            </a:r>
            <a:endParaRPr lang="en-US" sz="980" b="0" u="none" strike="noStrike">
              <a:solidFill>
                <a:srgbClr val="000000"/>
              </a:solidFill>
              <a:effectLst/>
              <a:uFillTx/>
              <a:latin typeface="Arial"/>
            </a:endParaRPr>
          </a:p>
        </p:txBody>
      </p:sp>
      <p:sp>
        <p:nvSpPr>
          <p:cNvPr id="42" name="Shape 5"/>
          <p:cNvSpPr/>
          <p:nvPr/>
        </p:nvSpPr>
        <p:spPr>
          <a:xfrm>
            <a:off x="2532600" y="2413800"/>
            <a:ext cx="41148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3" name="Shape 6"/>
          <p:cNvSpPr/>
          <p:nvPr/>
        </p:nvSpPr>
        <p:spPr>
          <a:xfrm>
            <a:off x="2944440" y="1828800"/>
            <a:ext cx="1874160" cy="1170000"/>
          </a:xfrm>
          <a:prstGeom prst="roundRect">
            <a:avLst>
              <a:gd name="adj" fmla="val 4688"/>
            </a:avLst>
          </a:prstGeom>
          <a:solidFill>
            <a:srgbClr val="1E88E5"/>
          </a:solidFill>
          <a:ln w="12700">
            <a:solidFill>
              <a:srgbClr val="1E88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4" name="Text 7"/>
          <p:cNvSpPr/>
          <p:nvPr/>
        </p:nvSpPr>
        <p:spPr>
          <a:xfrm>
            <a:off x="3035880" y="2039040"/>
            <a:ext cx="169128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rial"/>
              </a:rPr>
              <a:t>Ingestion</a:t>
            </a:r>
            <a:endParaRPr lang="en-US" sz="1400" b="0" u="none" strike="noStrike">
              <a:solidFill>
                <a:srgbClr val="000000"/>
              </a:solidFill>
              <a:effectLst/>
              <a:uFillTx/>
              <a:latin typeface="Arial"/>
            </a:endParaRPr>
          </a:p>
        </p:txBody>
      </p:sp>
      <p:sp>
        <p:nvSpPr>
          <p:cNvPr id="45" name="Text 8"/>
          <p:cNvSpPr/>
          <p:nvPr/>
        </p:nvSpPr>
        <p:spPr>
          <a:xfrm>
            <a:off x="3035880" y="2423160"/>
            <a:ext cx="16912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80" b="0" u="none" strike="noStrike">
                <a:solidFill>
                  <a:srgbClr val="E8F0F7"/>
                </a:solidFill>
                <a:effectLst/>
                <a:uFillTx/>
                <a:latin typeface="Arial"/>
              </a:rPr>
              <a:t>Sqoop/Flume/Kafka/NiFi</a:t>
            </a:r>
            <a:endParaRPr lang="en-US" sz="980" b="0" u="none" strike="noStrike">
              <a:solidFill>
                <a:srgbClr val="000000"/>
              </a:solidFill>
              <a:effectLst/>
              <a:uFillTx/>
              <a:latin typeface="Arial"/>
            </a:endParaRPr>
          </a:p>
        </p:txBody>
      </p:sp>
      <p:sp>
        <p:nvSpPr>
          <p:cNvPr id="46" name="Shape 9"/>
          <p:cNvSpPr/>
          <p:nvPr/>
        </p:nvSpPr>
        <p:spPr>
          <a:xfrm>
            <a:off x="4818600" y="2413800"/>
            <a:ext cx="41148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7" name="Shape 10"/>
          <p:cNvSpPr/>
          <p:nvPr/>
        </p:nvSpPr>
        <p:spPr>
          <a:xfrm>
            <a:off x="5230440" y="1828800"/>
            <a:ext cx="1874160" cy="1170000"/>
          </a:xfrm>
          <a:prstGeom prst="roundRect">
            <a:avLst>
              <a:gd name="adj" fmla="val 4688"/>
            </a:avLst>
          </a:prstGeom>
          <a:solidFill>
            <a:srgbClr val="16324F"/>
          </a:solidFill>
          <a:ln w="12700">
            <a:solidFill>
              <a:srgbClr val="16324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8" name="Text 11"/>
          <p:cNvSpPr/>
          <p:nvPr/>
        </p:nvSpPr>
        <p:spPr>
          <a:xfrm>
            <a:off x="5321880" y="2039040"/>
            <a:ext cx="169128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rial"/>
              </a:rPr>
              <a:t>Storage</a:t>
            </a:r>
            <a:endParaRPr lang="en-US" sz="1400" b="0" u="none" strike="noStrike">
              <a:solidFill>
                <a:srgbClr val="000000"/>
              </a:solidFill>
              <a:effectLst/>
              <a:uFillTx/>
              <a:latin typeface="Arial"/>
            </a:endParaRPr>
          </a:p>
        </p:txBody>
      </p:sp>
      <p:sp>
        <p:nvSpPr>
          <p:cNvPr id="49" name="Text 12"/>
          <p:cNvSpPr/>
          <p:nvPr/>
        </p:nvSpPr>
        <p:spPr>
          <a:xfrm>
            <a:off x="5321880" y="2423160"/>
            <a:ext cx="16912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80" b="0" u="none" strike="noStrike">
                <a:solidFill>
                  <a:srgbClr val="E8F0F7"/>
                </a:solidFill>
                <a:effectLst/>
                <a:uFillTx/>
                <a:latin typeface="Arial"/>
              </a:rPr>
              <a:t>HDFS, object store, HBase</a:t>
            </a:r>
            <a:endParaRPr lang="en-US" sz="980" b="0" u="none" strike="noStrike">
              <a:solidFill>
                <a:srgbClr val="000000"/>
              </a:solidFill>
              <a:effectLst/>
              <a:uFillTx/>
              <a:latin typeface="Arial"/>
            </a:endParaRPr>
          </a:p>
        </p:txBody>
      </p:sp>
      <p:sp>
        <p:nvSpPr>
          <p:cNvPr id="50" name="Shape 13"/>
          <p:cNvSpPr/>
          <p:nvPr/>
        </p:nvSpPr>
        <p:spPr>
          <a:xfrm>
            <a:off x="7104600" y="2413800"/>
            <a:ext cx="41148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51" name="Shape 14"/>
          <p:cNvSpPr/>
          <p:nvPr/>
        </p:nvSpPr>
        <p:spPr>
          <a:xfrm>
            <a:off x="7516440" y="1828800"/>
            <a:ext cx="1874160" cy="1170000"/>
          </a:xfrm>
          <a:prstGeom prst="roundRect">
            <a:avLst>
              <a:gd name="adj" fmla="val 4688"/>
            </a:avLst>
          </a:prstGeom>
          <a:solidFill>
            <a:srgbClr val="6C5CE7"/>
          </a:solidFill>
          <a:ln w="12700">
            <a:solidFill>
              <a:srgbClr val="6C5CE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2" name="Text 15"/>
          <p:cNvSpPr/>
          <p:nvPr/>
        </p:nvSpPr>
        <p:spPr>
          <a:xfrm>
            <a:off x="7607880" y="2039040"/>
            <a:ext cx="169128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rial"/>
              </a:rPr>
              <a:t>Processing</a:t>
            </a:r>
            <a:endParaRPr lang="en-US" sz="1400" b="0" u="none" strike="noStrike">
              <a:solidFill>
                <a:srgbClr val="000000"/>
              </a:solidFill>
              <a:effectLst/>
              <a:uFillTx/>
              <a:latin typeface="Arial"/>
            </a:endParaRPr>
          </a:p>
        </p:txBody>
      </p:sp>
      <p:sp>
        <p:nvSpPr>
          <p:cNvPr id="53" name="Text 16"/>
          <p:cNvSpPr/>
          <p:nvPr/>
        </p:nvSpPr>
        <p:spPr>
          <a:xfrm>
            <a:off x="7607880" y="2423160"/>
            <a:ext cx="16912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80" b="0" u="none" strike="noStrike">
                <a:solidFill>
                  <a:srgbClr val="E8F0F7"/>
                </a:solidFill>
                <a:effectLst/>
                <a:uFillTx/>
                <a:latin typeface="Arial"/>
              </a:rPr>
              <a:t>Spark / Flink</a:t>
            </a:r>
            <a:endParaRPr lang="en-US" sz="980" b="0" u="none" strike="noStrike">
              <a:solidFill>
                <a:srgbClr val="000000"/>
              </a:solidFill>
              <a:effectLst/>
              <a:uFillTx/>
              <a:latin typeface="Arial"/>
            </a:endParaRPr>
          </a:p>
        </p:txBody>
      </p:sp>
      <p:sp>
        <p:nvSpPr>
          <p:cNvPr id="54" name="Shape 17"/>
          <p:cNvSpPr/>
          <p:nvPr/>
        </p:nvSpPr>
        <p:spPr>
          <a:xfrm>
            <a:off x="9390600" y="2413800"/>
            <a:ext cx="41148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55" name="Shape 18"/>
          <p:cNvSpPr/>
          <p:nvPr/>
        </p:nvSpPr>
        <p:spPr>
          <a:xfrm>
            <a:off x="9802440" y="1828800"/>
            <a:ext cx="1874160" cy="1170000"/>
          </a:xfrm>
          <a:prstGeom prst="roundRect">
            <a:avLst>
              <a:gd name="adj" fmla="val 4688"/>
            </a:avLst>
          </a:prstGeom>
          <a:solidFill>
            <a:srgbClr val="2E7D32"/>
          </a:solidFill>
          <a:ln w="12700">
            <a:solidFill>
              <a:srgbClr val="2E7D3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6" name="Text 19"/>
          <p:cNvSpPr/>
          <p:nvPr/>
        </p:nvSpPr>
        <p:spPr>
          <a:xfrm>
            <a:off x="9893880" y="2039040"/>
            <a:ext cx="1691280" cy="246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rial"/>
              </a:rPr>
              <a:t>Analytics</a:t>
            </a:r>
            <a:endParaRPr lang="en-US" sz="1400" b="0" u="none" strike="noStrike">
              <a:solidFill>
                <a:srgbClr val="000000"/>
              </a:solidFill>
              <a:effectLst/>
              <a:uFillTx/>
              <a:latin typeface="Arial"/>
            </a:endParaRPr>
          </a:p>
        </p:txBody>
      </p:sp>
      <p:sp>
        <p:nvSpPr>
          <p:cNvPr id="57" name="Text 20"/>
          <p:cNvSpPr/>
          <p:nvPr/>
        </p:nvSpPr>
        <p:spPr>
          <a:xfrm>
            <a:off x="9893880" y="2423160"/>
            <a:ext cx="16912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80" b="0" u="none" strike="noStrike">
                <a:solidFill>
                  <a:srgbClr val="E8F0F7"/>
                </a:solidFill>
                <a:effectLst/>
                <a:uFillTx/>
                <a:latin typeface="Arial"/>
              </a:rPr>
              <a:t>SQL / BI / ML</a:t>
            </a:r>
            <a:endParaRPr lang="en-US" sz="980" b="0" u="none" strike="noStrike">
              <a:solidFill>
                <a:srgbClr val="000000"/>
              </a:solidFill>
              <a:effectLst/>
              <a:uFillTx/>
              <a:latin typeface="Arial"/>
            </a:endParaRPr>
          </a:p>
        </p:txBody>
      </p:sp>
      <p:sp>
        <p:nvSpPr>
          <p:cNvPr id="58" name="Shape 21"/>
          <p:cNvSpPr/>
          <p:nvPr/>
        </p:nvSpPr>
        <p:spPr>
          <a:xfrm>
            <a:off x="822960" y="3429000"/>
            <a:ext cx="3200040" cy="1599840"/>
          </a:xfrm>
          <a:prstGeom prst="roundRect">
            <a:avLst>
              <a:gd name="adj" fmla="val 3429"/>
            </a:avLst>
          </a:prstGeom>
          <a:solidFill>
            <a:srgbClr val="FFFFFF"/>
          </a:solidFill>
          <a:ln w="15240">
            <a:solidFill>
              <a:srgbClr val="D9E2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9" name="Shape 22"/>
          <p:cNvSpPr/>
          <p:nvPr/>
        </p:nvSpPr>
        <p:spPr>
          <a:xfrm>
            <a:off x="822960" y="3429000"/>
            <a:ext cx="72720" cy="1599840"/>
          </a:xfrm>
          <a:prstGeom prst="rect">
            <a:avLst/>
          </a:prstGeom>
          <a:solidFill>
            <a:srgbClr val="1E88E5"/>
          </a:solidFill>
          <a:ln w="12700">
            <a:solidFill>
              <a:srgbClr val="1E88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0" name="Text 23"/>
          <p:cNvSpPr/>
          <p:nvPr/>
        </p:nvSpPr>
        <p:spPr>
          <a:xfrm>
            <a:off x="1005840" y="3575160"/>
            <a:ext cx="29073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6324F"/>
                </a:solidFill>
                <a:effectLst/>
                <a:uFillTx/>
                <a:latin typeface="Arial"/>
              </a:rPr>
              <a:t>Batch ingestion</a:t>
            </a:r>
            <a:endParaRPr lang="en-US" sz="1600" b="0" u="none" strike="noStrike">
              <a:solidFill>
                <a:srgbClr val="000000"/>
              </a:solidFill>
              <a:effectLst/>
              <a:uFillTx/>
              <a:latin typeface="Arial"/>
            </a:endParaRPr>
          </a:p>
        </p:txBody>
      </p:sp>
      <p:sp>
        <p:nvSpPr>
          <p:cNvPr id="61" name="Text 24"/>
          <p:cNvSpPr/>
          <p:nvPr/>
        </p:nvSpPr>
        <p:spPr>
          <a:xfrm>
            <a:off x="1005840" y="3959280"/>
            <a:ext cx="2889000" cy="941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240" b="0" u="none" strike="noStrike">
                <a:solidFill>
                  <a:srgbClr val="1F2937"/>
                </a:solidFill>
                <a:effectLst/>
                <a:uFillTx/>
                <a:latin typeface="Arial"/>
              </a:rPr>
              <a:t>Dữ liệu được nạp theo đợt: mỗi giờ, mỗi ngày hoặc theo lịch.</a:t>
            </a:r>
            <a:endParaRPr lang="en-US" sz="1240" b="0" u="none" strike="noStrike">
              <a:solidFill>
                <a:srgbClr val="000000"/>
              </a:solidFill>
              <a:effectLst/>
              <a:uFillTx/>
              <a:latin typeface="Arial"/>
            </a:endParaRPr>
          </a:p>
          <a:p>
            <a:pPr defTabSz="914400">
              <a:lnSpc>
                <a:spcPct val="100000"/>
              </a:lnSpc>
              <a:tabLst>
                <a:tab pos="0" algn="l"/>
              </a:tabLst>
            </a:pPr>
            <a:r>
              <a:rPr lang="en-US" sz="1240" b="0" u="none" strike="noStrike">
                <a:solidFill>
                  <a:srgbClr val="1F2937"/>
                </a:solidFill>
                <a:effectLst/>
                <a:uFillTx/>
                <a:latin typeface="Arial"/>
              </a:rPr>
              <a:t>Ví dụ: bảng MySQL → HDFS.</a:t>
            </a:r>
            <a:endParaRPr lang="en-US" sz="1240" b="0" u="none" strike="noStrike">
              <a:solidFill>
                <a:srgbClr val="000000"/>
              </a:solidFill>
              <a:effectLst/>
              <a:uFillTx/>
              <a:latin typeface="Arial"/>
            </a:endParaRPr>
          </a:p>
        </p:txBody>
      </p:sp>
      <p:sp>
        <p:nvSpPr>
          <p:cNvPr id="62" name="Shape 25"/>
          <p:cNvSpPr/>
          <p:nvPr/>
        </p:nvSpPr>
        <p:spPr>
          <a:xfrm>
            <a:off x="4498920" y="3429000"/>
            <a:ext cx="3200040" cy="1599840"/>
          </a:xfrm>
          <a:prstGeom prst="roundRect">
            <a:avLst>
              <a:gd name="adj" fmla="val 3429"/>
            </a:avLst>
          </a:prstGeom>
          <a:solidFill>
            <a:srgbClr val="FFFFFF"/>
          </a:solidFill>
          <a:ln w="15240">
            <a:solidFill>
              <a:srgbClr val="D9E2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3" name="Shape 26"/>
          <p:cNvSpPr/>
          <p:nvPr/>
        </p:nvSpPr>
        <p:spPr>
          <a:xfrm>
            <a:off x="4498920" y="3429000"/>
            <a:ext cx="72720" cy="1599840"/>
          </a:xfrm>
          <a:prstGeom prst="rect">
            <a:avLst/>
          </a:prstGeom>
          <a:solidFill>
            <a:srgbClr val="00A6A6"/>
          </a:solidFill>
          <a:ln w="12700">
            <a:solidFill>
              <a:srgbClr val="00A6A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4" name="Text 27"/>
          <p:cNvSpPr/>
          <p:nvPr/>
        </p:nvSpPr>
        <p:spPr>
          <a:xfrm>
            <a:off x="4681800" y="3575160"/>
            <a:ext cx="29073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6324F"/>
                </a:solidFill>
                <a:effectLst/>
                <a:uFillTx/>
                <a:latin typeface="Arial"/>
              </a:rPr>
              <a:t>Streaming ingestion</a:t>
            </a:r>
            <a:endParaRPr lang="en-US" sz="1600" b="0" u="none" strike="noStrike">
              <a:solidFill>
                <a:srgbClr val="000000"/>
              </a:solidFill>
              <a:effectLst/>
              <a:uFillTx/>
              <a:latin typeface="Arial"/>
            </a:endParaRPr>
          </a:p>
        </p:txBody>
      </p:sp>
      <p:sp>
        <p:nvSpPr>
          <p:cNvPr id="65" name="Text 28"/>
          <p:cNvSpPr/>
          <p:nvPr/>
        </p:nvSpPr>
        <p:spPr>
          <a:xfrm>
            <a:off x="4681800" y="3959280"/>
            <a:ext cx="2889000" cy="941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240" b="0" u="none" strike="noStrike">
                <a:solidFill>
                  <a:srgbClr val="1F2937"/>
                </a:solidFill>
                <a:effectLst/>
                <a:uFillTx/>
                <a:latin typeface="Arial"/>
              </a:rPr>
              <a:t>Dữ liệu đi vào liên tục theo sự kiện.</a:t>
            </a:r>
            <a:endParaRPr lang="en-US" sz="1240" b="0" u="none" strike="noStrike">
              <a:solidFill>
                <a:srgbClr val="000000"/>
              </a:solidFill>
              <a:effectLst/>
              <a:uFillTx/>
              <a:latin typeface="Arial"/>
            </a:endParaRPr>
          </a:p>
          <a:p>
            <a:pPr defTabSz="914400">
              <a:lnSpc>
                <a:spcPct val="100000"/>
              </a:lnSpc>
              <a:tabLst>
                <a:tab pos="0" algn="l"/>
              </a:tabLst>
            </a:pPr>
            <a:r>
              <a:rPr lang="en-US" sz="1240" b="0" u="none" strike="noStrike">
                <a:solidFill>
                  <a:srgbClr val="1F2937"/>
                </a:solidFill>
                <a:effectLst/>
                <a:uFillTx/>
                <a:latin typeface="Arial"/>
              </a:rPr>
              <a:t>Ví dụ: log web → Kafka → Spark Structured Streaming.</a:t>
            </a:r>
            <a:endParaRPr lang="en-US" sz="1240" b="0" u="none" strike="noStrike">
              <a:solidFill>
                <a:srgbClr val="000000"/>
              </a:solidFill>
              <a:effectLst/>
              <a:uFillTx/>
              <a:latin typeface="Arial"/>
            </a:endParaRPr>
          </a:p>
        </p:txBody>
      </p:sp>
      <p:sp>
        <p:nvSpPr>
          <p:cNvPr id="66" name="Shape 29"/>
          <p:cNvSpPr/>
          <p:nvPr/>
        </p:nvSpPr>
        <p:spPr>
          <a:xfrm>
            <a:off x="8156520" y="3429000"/>
            <a:ext cx="3200040" cy="1599840"/>
          </a:xfrm>
          <a:prstGeom prst="roundRect">
            <a:avLst>
              <a:gd name="adj" fmla="val 3429"/>
            </a:avLst>
          </a:prstGeom>
          <a:solidFill>
            <a:srgbClr val="FFFFFF"/>
          </a:solidFill>
          <a:ln w="15240">
            <a:solidFill>
              <a:srgbClr val="D9E2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7" name="Shape 30"/>
          <p:cNvSpPr/>
          <p:nvPr/>
        </p:nvSpPr>
        <p:spPr>
          <a:xfrm>
            <a:off x="8156520" y="3429000"/>
            <a:ext cx="72720" cy="1599840"/>
          </a:xfrm>
          <a:prstGeom prst="rect">
            <a:avLst/>
          </a:prstGeom>
          <a:solidFill>
            <a:srgbClr val="F59E0B"/>
          </a:solidFill>
          <a:ln w="12700">
            <a:solidFill>
              <a:srgbClr val="F59E0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8" name="Text 31"/>
          <p:cNvSpPr/>
          <p:nvPr/>
        </p:nvSpPr>
        <p:spPr>
          <a:xfrm>
            <a:off x="8339400" y="3575160"/>
            <a:ext cx="29073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6324F"/>
                </a:solidFill>
                <a:effectLst/>
                <a:uFillTx/>
                <a:latin typeface="Arial"/>
              </a:rPr>
              <a:t>Orchestration</a:t>
            </a:r>
            <a:endParaRPr lang="en-US" sz="1600" b="0" u="none" strike="noStrike">
              <a:solidFill>
                <a:srgbClr val="000000"/>
              </a:solidFill>
              <a:effectLst/>
              <a:uFillTx/>
              <a:latin typeface="Arial"/>
            </a:endParaRPr>
          </a:p>
        </p:txBody>
      </p:sp>
      <p:sp>
        <p:nvSpPr>
          <p:cNvPr id="69" name="Text 32"/>
          <p:cNvSpPr/>
          <p:nvPr/>
        </p:nvSpPr>
        <p:spPr>
          <a:xfrm>
            <a:off x="8339400" y="3959280"/>
            <a:ext cx="2889000" cy="941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240" b="0" u="none" strike="noStrike">
                <a:solidFill>
                  <a:srgbClr val="1F2937"/>
                </a:solidFill>
                <a:effectLst/>
                <a:uFillTx/>
                <a:latin typeface="Arial"/>
              </a:rPr>
              <a:t>Không “chở” dữ liệu; Airflow điều phối thứ tự, lịch chạy, retry và giám sát các task.</a:t>
            </a:r>
            <a:endParaRPr lang="en-US" sz="1240" b="0" u="none" strike="noStrike">
              <a:solidFill>
                <a:srgbClr val="000000"/>
              </a:solidFill>
              <a:effectLst/>
              <a:uFillTx/>
              <a:latin typeface="Arial"/>
            </a:endParaRPr>
          </a:p>
        </p:txBody>
      </p:sp>
      <p:sp>
        <p:nvSpPr>
          <p:cNvPr id="70" name="Shape 33"/>
          <p:cNvSpPr/>
          <p:nvPr/>
        </p:nvSpPr>
        <p:spPr>
          <a:xfrm>
            <a:off x="567000" y="5715000"/>
            <a:ext cx="11018160" cy="566640"/>
          </a:xfrm>
          <a:prstGeom prst="roundRect">
            <a:avLst>
              <a:gd name="adj" fmla="val 9677"/>
            </a:avLst>
          </a:prstGeom>
          <a:solidFill>
            <a:srgbClr val="FFF7E6"/>
          </a:solidFill>
          <a:ln w="12700">
            <a:solidFill>
              <a:srgbClr val="F4C66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1" name="Text 34"/>
          <p:cNvSpPr/>
          <p:nvPr/>
        </p:nvSpPr>
        <p:spPr>
          <a:xfrm>
            <a:off x="749880" y="5870520"/>
            <a:ext cx="8226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a:solidFill>
                  <a:srgbClr val="A15C00"/>
                </a:solidFill>
                <a:effectLst/>
                <a:uFillTx/>
                <a:latin typeface="Arial"/>
              </a:rPr>
              <a:t>Giải thích</a:t>
            </a:r>
            <a:endParaRPr lang="en-US" sz="1100" b="0" u="none" strike="noStrike">
              <a:solidFill>
                <a:srgbClr val="000000"/>
              </a:solidFill>
              <a:effectLst/>
              <a:uFillTx/>
              <a:latin typeface="Arial"/>
            </a:endParaRPr>
          </a:p>
        </p:txBody>
      </p:sp>
      <p:sp>
        <p:nvSpPr>
          <p:cNvPr id="72" name="Text 35"/>
          <p:cNvSpPr/>
          <p:nvPr/>
        </p:nvSpPr>
        <p:spPr>
          <a:xfrm>
            <a:off x="1609200" y="5833800"/>
            <a:ext cx="97106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20" b="0" u="none" strike="noStrike">
                <a:solidFill>
                  <a:srgbClr val="6B4D1D"/>
                </a:solidFill>
                <a:effectLst/>
                <a:uFillTx/>
                <a:latin typeface="Arial"/>
              </a:rPr>
              <a:t>Điểm dễ nhầm: Kafka/Flume chủ yếu phục vụ ingestion; Spark xử lý; Airflow điều phối workflow. Một pipeline thực tế thường dùng nhiều lớp kết hợp.</a:t>
            </a:r>
            <a:endParaRPr lang="en-US" sz="1120" b="0" u="none" strike="noStrike">
              <a:solidFill>
                <a:srgbClr val="000000"/>
              </a:solidFill>
              <a:effectLst/>
              <a:uFillTx/>
              <a:latin typeface="Arial"/>
            </a:endParaRPr>
          </a:p>
        </p:txBody>
      </p:sp>
      <p:sp>
        <p:nvSpPr>
          <p:cNvPr id="73" name="Text 36"/>
          <p:cNvSpPr/>
          <p:nvPr/>
        </p:nvSpPr>
        <p:spPr>
          <a:xfrm>
            <a:off x="585360" y="6364080"/>
            <a:ext cx="80463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i="1" u="none" strike="noStrike">
                <a:solidFill>
                  <a:srgbClr val="8793A1"/>
                </a:solidFill>
                <a:effectLst/>
                <a:uFillTx/>
                <a:latin typeface="Arial"/>
              </a:rPr>
              <a:t>Nguồn gốc nội dung: slide 1 trong tài liệu gốc; sơ đồ được đơn giản hóa để dễ giảng.</a:t>
            </a:r>
            <a:endParaRPr lang="en-US" sz="720" b="0" u="none" strike="noStrike">
              <a:solidFill>
                <a:srgbClr val="000000"/>
              </a:solidFill>
              <a:effectLst/>
              <a:uFillTx/>
              <a:latin typeface="Arial"/>
            </a:endParaRPr>
          </a:p>
        </p:txBody>
      </p:sp>
      <p:sp>
        <p:nvSpPr>
          <p:cNvPr id="74" name="PlaceHolder 1"/>
          <p:cNvSpPr>
            <a:spLocks noGrp="1"/>
          </p:cNvSpPr>
          <p:nvPr>
            <p:ph type="sldNum" idx="6"/>
          </p:nvPr>
        </p:nvSpPr>
        <p:spPr>
          <a:xfrm>
            <a:off x="11631240" y="6510600"/>
            <a:ext cx="255600" cy="200880"/>
          </a:xfrm>
          <a:prstGeom prst="rect">
            <a:avLst/>
          </a:prstGeom>
          <a:noFill/>
          <a:ln w="0">
            <a:noFill/>
          </a:ln>
        </p:spPr>
        <p:txBody>
          <a:bodyPr lIns="90000" tIns="45000" rIns="90000" bIns="45000" anchor="t">
            <a:noAutofit/>
          </a:bodyPr>
          <a:lstStyle>
            <a:lvl1pPr indent="0" algn="r" defTabSz="914400">
              <a:lnSpc>
                <a:spcPct val="100000"/>
              </a:lnSpc>
              <a:buNone/>
              <a:defRPr lang="en-US" sz="800" b="0" u="none" strike="noStrike">
                <a:solidFill>
                  <a:srgbClr val="7A8797"/>
                </a:solidFill>
                <a:effectLst/>
                <a:uFillTx/>
                <a:latin typeface="Arial"/>
                <a:ea typeface="Arial"/>
              </a:defRPr>
            </a:lvl1pPr>
          </a:lstStyle>
          <a:p>
            <a:pPr indent="0" algn="r" defTabSz="914400">
              <a:lnSpc>
                <a:spcPct val="100000"/>
              </a:lnSpc>
              <a:buNone/>
            </a:pPr>
            <a:fld id="{9A31AED3-5BBE-40DB-8FC5-F8B859A1E761}" type="slidenum">
              <a:rPr lang="en-US" sz="800" b="0" u="none" strike="noStrike">
                <a:solidFill>
                  <a:srgbClr val="7A8797"/>
                </a:solidFill>
                <a:effectLst/>
                <a:uFillTx/>
                <a:latin typeface="Arial"/>
                <a:ea typeface="Arial"/>
              </a:rPr>
              <a:t>2</a:t>
            </a:fld>
            <a:endParaRPr lang="en-US" sz="800" b="0" u="none" strike="noStrike">
              <a:solidFill>
                <a:srgbClr val="000000"/>
              </a:solidFill>
              <a:effectLst/>
              <a:uFillTx/>
              <a:latin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Text 0"/>
          <p:cNvSpPr/>
          <p:nvPr/>
        </p:nvSpPr>
        <p:spPr>
          <a:xfrm>
            <a:off x="548640" y="329040"/>
            <a:ext cx="1106388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700" b="1" u="none" strike="noStrike">
                <a:solidFill>
                  <a:srgbClr val="16324F"/>
                </a:solidFill>
                <a:effectLst/>
                <a:uFillTx/>
                <a:latin typeface="Arial"/>
                <a:ea typeface="Arial"/>
              </a:rPr>
              <a:t>2. Batch Ingestion và Streaming Ingestion</a:t>
            </a:r>
            <a:endParaRPr lang="en-US" sz="2700" b="0" u="none" strike="noStrike">
              <a:solidFill>
                <a:srgbClr val="000000"/>
              </a:solidFill>
              <a:effectLst/>
              <a:uFillTx/>
              <a:latin typeface="Arial"/>
            </a:endParaRPr>
          </a:p>
        </p:txBody>
      </p:sp>
      <p:sp>
        <p:nvSpPr>
          <p:cNvPr id="76" name="Text 1"/>
          <p:cNvSpPr/>
          <p:nvPr/>
        </p:nvSpPr>
        <p:spPr>
          <a:xfrm>
            <a:off x="567000" y="841320"/>
            <a:ext cx="109724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0" u="none" strike="noStrike">
                <a:solidFill>
                  <a:srgbClr val="5F6B7A"/>
                </a:solidFill>
                <a:effectLst/>
                <a:uFillTx/>
                <a:latin typeface="Arial"/>
                <a:ea typeface="Arial"/>
              </a:rPr>
              <a:t>Hai cách đưa dữ liệu vào hệ thống — khác nhau chủ yếu ở thời điểm và độ trễ.</a:t>
            </a:r>
            <a:endParaRPr lang="en-US" sz="1250" b="0" u="none" strike="noStrike">
              <a:solidFill>
                <a:srgbClr val="000000"/>
              </a:solidFill>
              <a:effectLst/>
              <a:uFillTx/>
              <a:latin typeface="Arial"/>
            </a:endParaRPr>
          </a:p>
        </p:txBody>
      </p:sp>
      <p:sp>
        <p:nvSpPr>
          <p:cNvPr id="77" name="Shape 2"/>
          <p:cNvSpPr/>
          <p:nvPr/>
        </p:nvSpPr>
        <p:spPr>
          <a:xfrm>
            <a:off x="731520" y="1600200"/>
            <a:ext cx="2377080" cy="502560"/>
          </a:xfrm>
          <a:prstGeom prst="rect">
            <a:avLst/>
          </a:prstGeom>
          <a:solidFill>
            <a:srgbClr val="16324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8" name="Text 3"/>
          <p:cNvSpPr/>
          <p:nvPr/>
        </p:nvSpPr>
        <p:spPr>
          <a:xfrm>
            <a:off x="804600" y="1746360"/>
            <a:ext cx="22309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FFFFFF"/>
                </a:solidFill>
                <a:effectLst/>
                <a:uFillTx/>
                <a:latin typeface="Arial"/>
              </a:rPr>
              <a:t>Tiêu chí</a:t>
            </a:r>
            <a:endParaRPr lang="en-US" sz="1200" b="0" u="none" strike="noStrike">
              <a:solidFill>
                <a:srgbClr val="000000"/>
              </a:solidFill>
              <a:effectLst/>
              <a:uFillTx/>
              <a:latin typeface="Arial"/>
            </a:endParaRPr>
          </a:p>
        </p:txBody>
      </p:sp>
      <p:sp>
        <p:nvSpPr>
          <p:cNvPr id="79" name="Shape 4"/>
          <p:cNvSpPr/>
          <p:nvPr/>
        </p:nvSpPr>
        <p:spPr>
          <a:xfrm>
            <a:off x="3246120" y="1600200"/>
            <a:ext cx="2651400" cy="502560"/>
          </a:xfrm>
          <a:prstGeom prst="rect">
            <a:avLst/>
          </a:prstGeom>
          <a:solidFill>
            <a:srgbClr val="16324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0" name="Text 5"/>
          <p:cNvSpPr/>
          <p:nvPr/>
        </p:nvSpPr>
        <p:spPr>
          <a:xfrm>
            <a:off x="3319200" y="1746360"/>
            <a:ext cx="25052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Arial"/>
              </a:rPr>
              <a:t>Batch</a:t>
            </a:r>
            <a:endParaRPr lang="en-US" sz="1200" b="0" u="none" strike="noStrike">
              <a:solidFill>
                <a:srgbClr val="000000"/>
              </a:solidFill>
              <a:effectLst/>
              <a:uFillTx/>
              <a:latin typeface="Arial"/>
            </a:endParaRPr>
          </a:p>
        </p:txBody>
      </p:sp>
      <p:sp>
        <p:nvSpPr>
          <p:cNvPr id="81" name="Shape 6"/>
          <p:cNvSpPr/>
          <p:nvPr/>
        </p:nvSpPr>
        <p:spPr>
          <a:xfrm>
            <a:off x="6080760" y="1600200"/>
            <a:ext cx="2651400" cy="502560"/>
          </a:xfrm>
          <a:prstGeom prst="rect">
            <a:avLst/>
          </a:prstGeom>
          <a:solidFill>
            <a:srgbClr val="16324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2" name="Text 7"/>
          <p:cNvSpPr/>
          <p:nvPr/>
        </p:nvSpPr>
        <p:spPr>
          <a:xfrm>
            <a:off x="6153840" y="1746360"/>
            <a:ext cx="25052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Arial"/>
              </a:rPr>
              <a:t>Streaming</a:t>
            </a:r>
            <a:endParaRPr lang="en-US" sz="1200" b="0" u="none" strike="noStrike">
              <a:solidFill>
                <a:srgbClr val="000000"/>
              </a:solidFill>
              <a:effectLst/>
              <a:uFillTx/>
              <a:latin typeface="Arial"/>
            </a:endParaRPr>
          </a:p>
        </p:txBody>
      </p:sp>
      <p:sp>
        <p:nvSpPr>
          <p:cNvPr id="83" name="Shape 8"/>
          <p:cNvSpPr/>
          <p:nvPr/>
        </p:nvSpPr>
        <p:spPr>
          <a:xfrm>
            <a:off x="8915400" y="1600200"/>
            <a:ext cx="2514240" cy="502560"/>
          </a:xfrm>
          <a:prstGeom prst="rect">
            <a:avLst/>
          </a:prstGeom>
          <a:solidFill>
            <a:srgbClr val="16324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4" name="Text 9"/>
          <p:cNvSpPr/>
          <p:nvPr/>
        </p:nvSpPr>
        <p:spPr>
          <a:xfrm>
            <a:off x="8988480" y="1746360"/>
            <a:ext cx="236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Arial"/>
              </a:rPr>
              <a:t>Ví dụ</a:t>
            </a:r>
            <a:endParaRPr lang="en-US" sz="1200" b="0" u="none" strike="noStrike">
              <a:solidFill>
                <a:srgbClr val="000000"/>
              </a:solidFill>
              <a:effectLst/>
              <a:uFillTx/>
              <a:latin typeface="Arial"/>
            </a:endParaRPr>
          </a:p>
        </p:txBody>
      </p:sp>
      <p:sp>
        <p:nvSpPr>
          <p:cNvPr id="85" name="Shape 10"/>
          <p:cNvSpPr/>
          <p:nvPr/>
        </p:nvSpPr>
        <p:spPr>
          <a:xfrm>
            <a:off x="731520" y="2103120"/>
            <a:ext cx="2377080" cy="712800"/>
          </a:xfrm>
          <a:prstGeom prst="rect">
            <a:avLst/>
          </a:prstGeom>
          <a:solidFill>
            <a:srgbClr val="FFFFFF"/>
          </a:solidFill>
          <a:ln w="12700">
            <a:solidFill>
              <a:srgbClr val="DDE4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6" name="Text 11"/>
          <p:cNvSpPr/>
          <p:nvPr/>
        </p:nvSpPr>
        <p:spPr>
          <a:xfrm>
            <a:off x="822960" y="2267640"/>
            <a:ext cx="21942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30" b="1" u="none" strike="noStrike">
                <a:solidFill>
                  <a:srgbClr val="16324F"/>
                </a:solidFill>
                <a:effectLst/>
                <a:uFillTx/>
                <a:latin typeface="Arial"/>
              </a:rPr>
              <a:t>Thời điểm</a:t>
            </a:r>
            <a:endParaRPr lang="en-US" sz="1130" b="0" u="none" strike="noStrike">
              <a:solidFill>
                <a:srgbClr val="000000"/>
              </a:solidFill>
              <a:effectLst/>
              <a:uFillTx/>
              <a:latin typeface="Arial"/>
            </a:endParaRPr>
          </a:p>
        </p:txBody>
      </p:sp>
      <p:sp>
        <p:nvSpPr>
          <p:cNvPr id="87" name="Shape 12"/>
          <p:cNvSpPr/>
          <p:nvPr/>
        </p:nvSpPr>
        <p:spPr>
          <a:xfrm>
            <a:off x="3246120" y="2103120"/>
            <a:ext cx="2651400" cy="712800"/>
          </a:xfrm>
          <a:prstGeom prst="rect">
            <a:avLst/>
          </a:prstGeom>
          <a:solidFill>
            <a:srgbClr val="FFFFFF"/>
          </a:solidFill>
          <a:ln w="12700">
            <a:solidFill>
              <a:srgbClr val="DDE4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8" name="Text 13"/>
          <p:cNvSpPr/>
          <p:nvPr/>
        </p:nvSpPr>
        <p:spPr>
          <a:xfrm>
            <a:off x="3337560" y="2267640"/>
            <a:ext cx="24685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30" b="0" u="none" strike="noStrike">
                <a:solidFill>
                  <a:srgbClr val="1F2937"/>
                </a:solidFill>
                <a:effectLst/>
                <a:uFillTx/>
                <a:latin typeface="Arial"/>
              </a:rPr>
              <a:t>Theo lịch / theo lô</a:t>
            </a:r>
            <a:endParaRPr lang="en-US" sz="1130" b="0" u="none" strike="noStrike">
              <a:solidFill>
                <a:srgbClr val="000000"/>
              </a:solidFill>
              <a:effectLst/>
              <a:uFillTx/>
              <a:latin typeface="Arial"/>
            </a:endParaRPr>
          </a:p>
        </p:txBody>
      </p:sp>
      <p:sp>
        <p:nvSpPr>
          <p:cNvPr id="89" name="Shape 14"/>
          <p:cNvSpPr/>
          <p:nvPr/>
        </p:nvSpPr>
        <p:spPr>
          <a:xfrm>
            <a:off x="6080760" y="2103120"/>
            <a:ext cx="2651400" cy="712800"/>
          </a:xfrm>
          <a:prstGeom prst="rect">
            <a:avLst/>
          </a:prstGeom>
          <a:solidFill>
            <a:srgbClr val="FFFFFF"/>
          </a:solidFill>
          <a:ln w="12700">
            <a:solidFill>
              <a:srgbClr val="DDE4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0" name="Text 15"/>
          <p:cNvSpPr/>
          <p:nvPr/>
        </p:nvSpPr>
        <p:spPr>
          <a:xfrm>
            <a:off x="6172200" y="2267640"/>
            <a:ext cx="24685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30" b="0" u="none" strike="noStrike">
                <a:solidFill>
                  <a:srgbClr val="1F2937"/>
                </a:solidFill>
                <a:effectLst/>
                <a:uFillTx/>
                <a:latin typeface="Arial"/>
              </a:rPr>
              <a:t>Liên tục khi có event</a:t>
            </a:r>
            <a:endParaRPr lang="en-US" sz="1130" b="0" u="none" strike="noStrike">
              <a:solidFill>
                <a:srgbClr val="000000"/>
              </a:solidFill>
              <a:effectLst/>
              <a:uFillTx/>
              <a:latin typeface="Arial"/>
            </a:endParaRPr>
          </a:p>
        </p:txBody>
      </p:sp>
      <p:sp>
        <p:nvSpPr>
          <p:cNvPr id="91" name="Shape 16"/>
          <p:cNvSpPr/>
          <p:nvPr/>
        </p:nvSpPr>
        <p:spPr>
          <a:xfrm>
            <a:off x="8915400" y="2103120"/>
            <a:ext cx="2514240" cy="712800"/>
          </a:xfrm>
          <a:prstGeom prst="rect">
            <a:avLst/>
          </a:prstGeom>
          <a:solidFill>
            <a:srgbClr val="FFFFFF"/>
          </a:solidFill>
          <a:ln w="12700">
            <a:solidFill>
              <a:srgbClr val="DDE4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2" name="Text 17"/>
          <p:cNvSpPr/>
          <p:nvPr/>
        </p:nvSpPr>
        <p:spPr>
          <a:xfrm>
            <a:off x="9006840" y="2267640"/>
            <a:ext cx="23313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30" b="0" u="none" strike="noStrike">
                <a:solidFill>
                  <a:srgbClr val="1F2937"/>
                </a:solidFill>
                <a:effectLst/>
                <a:uFillTx/>
                <a:latin typeface="Arial"/>
              </a:rPr>
              <a:t>ETL hằng đêm vs clickstream</a:t>
            </a:r>
            <a:endParaRPr lang="en-US" sz="1130" b="0" u="none" strike="noStrike">
              <a:solidFill>
                <a:srgbClr val="000000"/>
              </a:solidFill>
              <a:effectLst/>
              <a:uFillTx/>
              <a:latin typeface="Arial"/>
            </a:endParaRPr>
          </a:p>
        </p:txBody>
      </p:sp>
      <p:sp>
        <p:nvSpPr>
          <p:cNvPr id="93" name="Shape 18"/>
          <p:cNvSpPr/>
          <p:nvPr/>
        </p:nvSpPr>
        <p:spPr>
          <a:xfrm>
            <a:off x="731520" y="2816280"/>
            <a:ext cx="2377080" cy="712800"/>
          </a:xfrm>
          <a:prstGeom prst="rect">
            <a:avLst/>
          </a:prstGeom>
          <a:solidFill>
            <a:srgbClr val="F3F6FA"/>
          </a:solidFill>
          <a:ln w="12700">
            <a:solidFill>
              <a:srgbClr val="DDE4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4" name="Text 19"/>
          <p:cNvSpPr/>
          <p:nvPr/>
        </p:nvSpPr>
        <p:spPr>
          <a:xfrm>
            <a:off x="822960" y="2980800"/>
            <a:ext cx="21942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30" b="1" u="none" strike="noStrike">
                <a:solidFill>
                  <a:srgbClr val="16324F"/>
                </a:solidFill>
                <a:effectLst/>
                <a:uFillTx/>
                <a:latin typeface="Arial"/>
              </a:rPr>
              <a:t>Độ trễ</a:t>
            </a:r>
            <a:endParaRPr lang="en-US" sz="1130" b="0" u="none" strike="noStrike">
              <a:solidFill>
                <a:srgbClr val="000000"/>
              </a:solidFill>
              <a:effectLst/>
              <a:uFillTx/>
              <a:latin typeface="Arial"/>
            </a:endParaRPr>
          </a:p>
        </p:txBody>
      </p:sp>
      <p:sp>
        <p:nvSpPr>
          <p:cNvPr id="95" name="Shape 20"/>
          <p:cNvSpPr/>
          <p:nvPr/>
        </p:nvSpPr>
        <p:spPr>
          <a:xfrm>
            <a:off x="3246120" y="2816280"/>
            <a:ext cx="2651400" cy="712800"/>
          </a:xfrm>
          <a:prstGeom prst="rect">
            <a:avLst/>
          </a:prstGeom>
          <a:solidFill>
            <a:srgbClr val="F3F6FA"/>
          </a:solidFill>
          <a:ln w="12700">
            <a:solidFill>
              <a:srgbClr val="DDE4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6" name="Text 21"/>
          <p:cNvSpPr/>
          <p:nvPr/>
        </p:nvSpPr>
        <p:spPr>
          <a:xfrm>
            <a:off x="3337560" y="2980800"/>
            <a:ext cx="24685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30" b="0" u="none" strike="noStrike">
                <a:solidFill>
                  <a:srgbClr val="1F2937"/>
                </a:solidFill>
                <a:effectLst/>
                <a:uFillTx/>
                <a:latin typeface="Arial"/>
              </a:rPr>
              <a:t>Phút → giờ</a:t>
            </a:r>
            <a:endParaRPr lang="en-US" sz="1130" b="0" u="none" strike="noStrike">
              <a:solidFill>
                <a:srgbClr val="000000"/>
              </a:solidFill>
              <a:effectLst/>
              <a:uFillTx/>
              <a:latin typeface="Arial"/>
            </a:endParaRPr>
          </a:p>
        </p:txBody>
      </p:sp>
      <p:sp>
        <p:nvSpPr>
          <p:cNvPr id="97" name="Shape 22"/>
          <p:cNvSpPr/>
          <p:nvPr/>
        </p:nvSpPr>
        <p:spPr>
          <a:xfrm>
            <a:off x="6080760" y="2816280"/>
            <a:ext cx="2651400" cy="712800"/>
          </a:xfrm>
          <a:prstGeom prst="rect">
            <a:avLst/>
          </a:prstGeom>
          <a:solidFill>
            <a:srgbClr val="F3F6FA"/>
          </a:solidFill>
          <a:ln w="12700">
            <a:solidFill>
              <a:srgbClr val="DDE4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8" name="Text 23"/>
          <p:cNvSpPr/>
          <p:nvPr/>
        </p:nvSpPr>
        <p:spPr>
          <a:xfrm>
            <a:off x="6172200" y="2980800"/>
            <a:ext cx="24685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30" b="0" u="none" strike="noStrike">
                <a:solidFill>
                  <a:srgbClr val="1F2937"/>
                </a:solidFill>
                <a:effectLst/>
                <a:uFillTx/>
                <a:latin typeface="Arial"/>
              </a:rPr>
              <a:t>ms → giây</a:t>
            </a:r>
            <a:endParaRPr lang="en-US" sz="1130" b="0" u="none" strike="noStrike">
              <a:solidFill>
                <a:srgbClr val="000000"/>
              </a:solidFill>
              <a:effectLst/>
              <a:uFillTx/>
              <a:latin typeface="Arial"/>
            </a:endParaRPr>
          </a:p>
        </p:txBody>
      </p:sp>
      <p:sp>
        <p:nvSpPr>
          <p:cNvPr id="99" name="Shape 24"/>
          <p:cNvSpPr/>
          <p:nvPr/>
        </p:nvSpPr>
        <p:spPr>
          <a:xfrm>
            <a:off x="8915400" y="2816280"/>
            <a:ext cx="2514240" cy="712800"/>
          </a:xfrm>
          <a:prstGeom prst="rect">
            <a:avLst/>
          </a:prstGeom>
          <a:solidFill>
            <a:srgbClr val="F3F6FA"/>
          </a:solidFill>
          <a:ln w="12700">
            <a:solidFill>
              <a:srgbClr val="DDE4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0" name="Text 25"/>
          <p:cNvSpPr/>
          <p:nvPr/>
        </p:nvSpPr>
        <p:spPr>
          <a:xfrm>
            <a:off x="9006840" y="2980800"/>
            <a:ext cx="23313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30" b="0" u="none" strike="noStrike">
                <a:solidFill>
                  <a:srgbClr val="1F2937"/>
                </a:solidFill>
                <a:effectLst/>
                <a:uFillTx/>
                <a:latin typeface="Arial"/>
              </a:rPr>
              <a:t>Báo cáo ngày vs cảnh báo realtime</a:t>
            </a:r>
            <a:endParaRPr lang="en-US" sz="1130" b="0" u="none" strike="noStrike">
              <a:solidFill>
                <a:srgbClr val="000000"/>
              </a:solidFill>
              <a:effectLst/>
              <a:uFillTx/>
              <a:latin typeface="Arial"/>
            </a:endParaRPr>
          </a:p>
        </p:txBody>
      </p:sp>
      <p:sp>
        <p:nvSpPr>
          <p:cNvPr id="101" name="Shape 26"/>
          <p:cNvSpPr/>
          <p:nvPr/>
        </p:nvSpPr>
        <p:spPr>
          <a:xfrm>
            <a:off x="731520" y="3529440"/>
            <a:ext cx="2377080" cy="712800"/>
          </a:xfrm>
          <a:prstGeom prst="rect">
            <a:avLst/>
          </a:prstGeom>
          <a:solidFill>
            <a:srgbClr val="FFFFFF"/>
          </a:solidFill>
          <a:ln w="12700">
            <a:solidFill>
              <a:srgbClr val="DDE4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2" name="Text 27"/>
          <p:cNvSpPr/>
          <p:nvPr/>
        </p:nvSpPr>
        <p:spPr>
          <a:xfrm>
            <a:off x="822960" y="3694320"/>
            <a:ext cx="21942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30" b="1" u="none" strike="noStrike">
                <a:solidFill>
                  <a:srgbClr val="16324F"/>
                </a:solidFill>
                <a:effectLst/>
                <a:uFillTx/>
                <a:latin typeface="Arial"/>
              </a:rPr>
              <a:t>Công cụ</a:t>
            </a:r>
            <a:endParaRPr lang="en-US" sz="1130" b="0" u="none" strike="noStrike">
              <a:solidFill>
                <a:srgbClr val="000000"/>
              </a:solidFill>
              <a:effectLst/>
              <a:uFillTx/>
              <a:latin typeface="Arial"/>
            </a:endParaRPr>
          </a:p>
        </p:txBody>
      </p:sp>
      <p:sp>
        <p:nvSpPr>
          <p:cNvPr id="103" name="Shape 28"/>
          <p:cNvSpPr/>
          <p:nvPr/>
        </p:nvSpPr>
        <p:spPr>
          <a:xfrm>
            <a:off x="3246120" y="3529440"/>
            <a:ext cx="2651400" cy="712800"/>
          </a:xfrm>
          <a:prstGeom prst="rect">
            <a:avLst/>
          </a:prstGeom>
          <a:solidFill>
            <a:srgbClr val="FFFFFF"/>
          </a:solidFill>
          <a:ln w="12700">
            <a:solidFill>
              <a:srgbClr val="DDE4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4" name="Text 29"/>
          <p:cNvSpPr/>
          <p:nvPr/>
        </p:nvSpPr>
        <p:spPr>
          <a:xfrm>
            <a:off x="3337560" y="3694320"/>
            <a:ext cx="24685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30" b="0" u="none" strike="noStrike">
                <a:solidFill>
                  <a:srgbClr val="1F2937"/>
                </a:solidFill>
                <a:effectLst/>
                <a:uFillTx/>
                <a:latin typeface="Arial"/>
              </a:rPr>
              <a:t>Sqoop (legacy), Spark JDBC</a:t>
            </a:r>
            <a:endParaRPr lang="en-US" sz="1130" b="0" u="none" strike="noStrike">
              <a:solidFill>
                <a:srgbClr val="000000"/>
              </a:solidFill>
              <a:effectLst/>
              <a:uFillTx/>
              <a:latin typeface="Arial"/>
            </a:endParaRPr>
          </a:p>
        </p:txBody>
      </p:sp>
      <p:sp>
        <p:nvSpPr>
          <p:cNvPr id="105" name="Shape 30"/>
          <p:cNvSpPr/>
          <p:nvPr/>
        </p:nvSpPr>
        <p:spPr>
          <a:xfrm>
            <a:off x="6080760" y="3529440"/>
            <a:ext cx="2651400" cy="712800"/>
          </a:xfrm>
          <a:prstGeom prst="rect">
            <a:avLst/>
          </a:prstGeom>
          <a:solidFill>
            <a:srgbClr val="FFFFFF"/>
          </a:solidFill>
          <a:ln w="12700">
            <a:solidFill>
              <a:srgbClr val="DDE4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6" name="Text 31"/>
          <p:cNvSpPr/>
          <p:nvPr/>
        </p:nvSpPr>
        <p:spPr>
          <a:xfrm>
            <a:off x="6172200" y="3694320"/>
            <a:ext cx="24685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30" b="0" u="none" strike="noStrike">
                <a:solidFill>
                  <a:srgbClr val="1F2937"/>
                </a:solidFill>
                <a:effectLst/>
                <a:uFillTx/>
                <a:latin typeface="Arial"/>
              </a:rPr>
              <a:t>Kafka, Flume, NiFi</a:t>
            </a:r>
            <a:endParaRPr lang="en-US" sz="1130" b="0" u="none" strike="noStrike">
              <a:solidFill>
                <a:srgbClr val="000000"/>
              </a:solidFill>
              <a:effectLst/>
              <a:uFillTx/>
              <a:latin typeface="Arial"/>
            </a:endParaRPr>
          </a:p>
        </p:txBody>
      </p:sp>
      <p:sp>
        <p:nvSpPr>
          <p:cNvPr id="107" name="Shape 32"/>
          <p:cNvSpPr/>
          <p:nvPr/>
        </p:nvSpPr>
        <p:spPr>
          <a:xfrm>
            <a:off x="8915400" y="3529440"/>
            <a:ext cx="2514240" cy="712800"/>
          </a:xfrm>
          <a:prstGeom prst="rect">
            <a:avLst/>
          </a:prstGeom>
          <a:solidFill>
            <a:srgbClr val="FFFFFF"/>
          </a:solidFill>
          <a:ln w="12700">
            <a:solidFill>
              <a:srgbClr val="DDE4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08" name="Text 33"/>
          <p:cNvSpPr/>
          <p:nvPr/>
        </p:nvSpPr>
        <p:spPr>
          <a:xfrm>
            <a:off x="9006840" y="3694320"/>
            <a:ext cx="23313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30" b="0" u="none" strike="noStrike">
                <a:solidFill>
                  <a:srgbClr val="1F2937"/>
                </a:solidFill>
                <a:effectLst/>
                <a:uFillTx/>
                <a:latin typeface="Arial"/>
              </a:rPr>
              <a:t>DB → HDFS / App → Kafka</a:t>
            </a:r>
            <a:endParaRPr lang="en-US" sz="1130" b="0" u="none" strike="noStrike">
              <a:solidFill>
                <a:srgbClr val="000000"/>
              </a:solidFill>
              <a:effectLst/>
              <a:uFillTx/>
              <a:latin typeface="Arial"/>
            </a:endParaRPr>
          </a:p>
        </p:txBody>
      </p:sp>
      <p:sp>
        <p:nvSpPr>
          <p:cNvPr id="109" name="Shape 34"/>
          <p:cNvSpPr/>
          <p:nvPr/>
        </p:nvSpPr>
        <p:spPr>
          <a:xfrm>
            <a:off x="731520" y="4242960"/>
            <a:ext cx="2377080" cy="712800"/>
          </a:xfrm>
          <a:prstGeom prst="rect">
            <a:avLst/>
          </a:prstGeom>
          <a:solidFill>
            <a:srgbClr val="F3F6FA"/>
          </a:solidFill>
          <a:ln w="12700">
            <a:solidFill>
              <a:srgbClr val="DDE4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0" name="Text 35"/>
          <p:cNvSpPr/>
          <p:nvPr/>
        </p:nvSpPr>
        <p:spPr>
          <a:xfrm>
            <a:off x="822960" y="4407480"/>
            <a:ext cx="21942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30" b="1" u="none" strike="noStrike">
                <a:solidFill>
                  <a:srgbClr val="16324F"/>
                </a:solidFill>
                <a:effectLst/>
                <a:uFillTx/>
                <a:latin typeface="Arial"/>
              </a:rPr>
              <a:t>Phù hợp</a:t>
            </a:r>
            <a:endParaRPr lang="en-US" sz="1130" b="0" u="none" strike="noStrike">
              <a:solidFill>
                <a:srgbClr val="000000"/>
              </a:solidFill>
              <a:effectLst/>
              <a:uFillTx/>
              <a:latin typeface="Arial"/>
            </a:endParaRPr>
          </a:p>
        </p:txBody>
      </p:sp>
      <p:sp>
        <p:nvSpPr>
          <p:cNvPr id="111" name="Shape 36"/>
          <p:cNvSpPr/>
          <p:nvPr/>
        </p:nvSpPr>
        <p:spPr>
          <a:xfrm>
            <a:off x="3246120" y="4242960"/>
            <a:ext cx="2651400" cy="712800"/>
          </a:xfrm>
          <a:prstGeom prst="rect">
            <a:avLst/>
          </a:prstGeom>
          <a:solidFill>
            <a:srgbClr val="F3F6FA"/>
          </a:solidFill>
          <a:ln w="12700">
            <a:solidFill>
              <a:srgbClr val="DDE4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2" name="Text 37"/>
          <p:cNvSpPr/>
          <p:nvPr/>
        </p:nvSpPr>
        <p:spPr>
          <a:xfrm>
            <a:off x="3337560" y="4407480"/>
            <a:ext cx="24685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30" b="0" u="none" strike="noStrike">
                <a:solidFill>
                  <a:srgbClr val="1F2937"/>
                </a:solidFill>
                <a:effectLst/>
                <a:uFillTx/>
                <a:latin typeface="Arial"/>
              </a:rPr>
              <a:t>Dữ liệu ổn định, khối lượng lớn</a:t>
            </a:r>
            <a:endParaRPr lang="en-US" sz="1130" b="0" u="none" strike="noStrike">
              <a:solidFill>
                <a:srgbClr val="000000"/>
              </a:solidFill>
              <a:effectLst/>
              <a:uFillTx/>
              <a:latin typeface="Arial"/>
            </a:endParaRPr>
          </a:p>
        </p:txBody>
      </p:sp>
      <p:sp>
        <p:nvSpPr>
          <p:cNvPr id="113" name="Shape 38"/>
          <p:cNvSpPr/>
          <p:nvPr/>
        </p:nvSpPr>
        <p:spPr>
          <a:xfrm>
            <a:off x="6080760" y="4242960"/>
            <a:ext cx="2651400" cy="712800"/>
          </a:xfrm>
          <a:prstGeom prst="rect">
            <a:avLst/>
          </a:prstGeom>
          <a:solidFill>
            <a:srgbClr val="F3F6FA"/>
          </a:solidFill>
          <a:ln w="12700">
            <a:solidFill>
              <a:srgbClr val="DDE4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4" name="Text 39"/>
          <p:cNvSpPr/>
          <p:nvPr/>
        </p:nvSpPr>
        <p:spPr>
          <a:xfrm>
            <a:off x="6172200" y="4407480"/>
            <a:ext cx="24685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30" b="0" u="none" strike="noStrike">
                <a:solidFill>
                  <a:srgbClr val="1F2937"/>
                </a:solidFill>
                <a:effectLst/>
                <a:uFillTx/>
                <a:latin typeface="Arial"/>
              </a:rPr>
              <a:t>Dữ liệu phát sinh liên tục</a:t>
            </a:r>
            <a:endParaRPr lang="en-US" sz="1130" b="0" u="none" strike="noStrike">
              <a:solidFill>
                <a:srgbClr val="000000"/>
              </a:solidFill>
              <a:effectLst/>
              <a:uFillTx/>
              <a:latin typeface="Arial"/>
            </a:endParaRPr>
          </a:p>
        </p:txBody>
      </p:sp>
      <p:sp>
        <p:nvSpPr>
          <p:cNvPr id="115" name="Shape 40"/>
          <p:cNvSpPr/>
          <p:nvPr/>
        </p:nvSpPr>
        <p:spPr>
          <a:xfrm>
            <a:off x="8915400" y="4242960"/>
            <a:ext cx="2514240" cy="712800"/>
          </a:xfrm>
          <a:prstGeom prst="rect">
            <a:avLst/>
          </a:prstGeom>
          <a:solidFill>
            <a:srgbClr val="F3F6FA"/>
          </a:solidFill>
          <a:ln w="12700">
            <a:solidFill>
              <a:srgbClr val="DDE4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6" name="Text 41"/>
          <p:cNvSpPr/>
          <p:nvPr/>
        </p:nvSpPr>
        <p:spPr>
          <a:xfrm>
            <a:off x="9006840" y="4407480"/>
            <a:ext cx="23313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30" b="0" u="none" strike="noStrike">
                <a:solidFill>
                  <a:srgbClr val="1F2937"/>
                </a:solidFill>
                <a:effectLst/>
                <a:uFillTx/>
                <a:latin typeface="Arial"/>
              </a:rPr>
              <a:t>DW/BI vs monitoring/fraud</a:t>
            </a:r>
            <a:endParaRPr lang="en-US" sz="1130" b="0" u="none" strike="noStrike">
              <a:solidFill>
                <a:srgbClr val="000000"/>
              </a:solidFill>
              <a:effectLst/>
              <a:uFillTx/>
              <a:latin typeface="Arial"/>
            </a:endParaRPr>
          </a:p>
        </p:txBody>
      </p:sp>
      <p:sp>
        <p:nvSpPr>
          <p:cNvPr id="117" name="Shape 42"/>
          <p:cNvSpPr/>
          <p:nvPr/>
        </p:nvSpPr>
        <p:spPr>
          <a:xfrm>
            <a:off x="567000" y="5257800"/>
            <a:ext cx="11018160" cy="566640"/>
          </a:xfrm>
          <a:prstGeom prst="roundRect">
            <a:avLst>
              <a:gd name="adj" fmla="val 9677"/>
            </a:avLst>
          </a:prstGeom>
          <a:solidFill>
            <a:srgbClr val="FFF7E6"/>
          </a:solidFill>
          <a:ln w="12700">
            <a:solidFill>
              <a:srgbClr val="F4C66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8" name="Text 43"/>
          <p:cNvSpPr/>
          <p:nvPr/>
        </p:nvSpPr>
        <p:spPr>
          <a:xfrm>
            <a:off x="749880" y="5413320"/>
            <a:ext cx="8226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a:solidFill>
                  <a:srgbClr val="A15C00"/>
                </a:solidFill>
                <a:effectLst/>
                <a:uFillTx/>
                <a:latin typeface="Arial"/>
              </a:rPr>
              <a:t>Giải thích</a:t>
            </a:r>
            <a:endParaRPr lang="en-US" sz="1100" b="0" u="none" strike="noStrike">
              <a:solidFill>
                <a:srgbClr val="000000"/>
              </a:solidFill>
              <a:effectLst/>
              <a:uFillTx/>
              <a:latin typeface="Arial"/>
            </a:endParaRPr>
          </a:p>
        </p:txBody>
      </p:sp>
      <p:sp>
        <p:nvSpPr>
          <p:cNvPr id="119" name="Text 44"/>
          <p:cNvSpPr/>
          <p:nvPr/>
        </p:nvSpPr>
        <p:spPr>
          <a:xfrm>
            <a:off x="1609200" y="5376600"/>
            <a:ext cx="97106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defTabSz="914400">
              <a:lnSpc>
                <a:spcPct val="100000"/>
              </a:lnSpc>
              <a:tabLst>
                <a:tab pos="0" algn="l"/>
              </a:tabLst>
            </a:pPr>
            <a:r>
              <a:rPr lang="en-US" sz="1120" b="0" u="none" strike="noStrike">
                <a:solidFill>
                  <a:srgbClr val="6B4D1D"/>
                </a:solidFill>
                <a:effectLst/>
                <a:uFillTx/>
                <a:latin typeface="Arial"/>
              </a:rPr>
              <a:t>Không phải hệ thống nào cũng cần realtime. Chọn streaming khi giá trị của dữ liệu giảm nhanh theo thời gian; chọn batch khi độ trễ vài phút/giờ vẫn chấp nhận được và cần vận hành đơn giản hơn.</a:t>
            </a:r>
            <a:endParaRPr lang="en-US" sz="1120" b="0" u="none" strike="noStrike">
              <a:solidFill>
                <a:srgbClr val="000000"/>
              </a:solidFill>
              <a:effectLst/>
              <a:uFillTx/>
              <a:latin typeface="Arial"/>
            </a:endParaRPr>
          </a:p>
        </p:txBody>
      </p:sp>
      <p:sp>
        <p:nvSpPr>
          <p:cNvPr id="120" name="PlaceHolder 1"/>
          <p:cNvSpPr>
            <a:spLocks noGrp="1"/>
          </p:cNvSpPr>
          <p:nvPr>
            <p:ph type="sldNum" idx="7"/>
          </p:nvPr>
        </p:nvSpPr>
        <p:spPr>
          <a:xfrm>
            <a:off x="11631240" y="6510600"/>
            <a:ext cx="255600" cy="200880"/>
          </a:xfrm>
          <a:prstGeom prst="rect">
            <a:avLst/>
          </a:prstGeom>
          <a:noFill/>
          <a:ln w="0">
            <a:noFill/>
          </a:ln>
        </p:spPr>
        <p:txBody>
          <a:bodyPr lIns="90000" tIns="45000" rIns="90000" bIns="45000" anchor="t">
            <a:noAutofit/>
          </a:bodyPr>
          <a:lstStyle>
            <a:lvl1pPr indent="0" algn="r" defTabSz="914400">
              <a:lnSpc>
                <a:spcPct val="100000"/>
              </a:lnSpc>
              <a:buNone/>
              <a:defRPr lang="en-US" sz="800" b="0" u="none" strike="noStrike">
                <a:solidFill>
                  <a:srgbClr val="7A8797"/>
                </a:solidFill>
                <a:effectLst/>
                <a:uFillTx/>
                <a:latin typeface="Arial"/>
                <a:ea typeface="Arial"/>
              </a:defRPr>
            </a:lvl1pPr>
          </a:lstStyle>
          <a:p>
            <a:pPr indent="0" algn="r" defTabSz="914400">
              <a:lnSpc>
                <a:spcPct val="100000"/>
              </a:lnSpc>
              <a:buNone/>
            </a:pPr>
            <a:fld id="{9F672C0B-AE9A-4498-9D33-9A910ADE3AA2}" type="slidenum">
              <a:rPr lang="en-US" sz="800" b="0" u="none" strike="noStrike">
                <a:solidFill>
                  <a:srgbClr val="7A8797"/>
                </a:solidFill>
                <a:effectLst/>
                <a:uFillTx/>
                <a:latin typeface="Arial"/>
                <a:ea typeface="Arial"/>
              </a:rPr>
              <a:t>3</a:t>
            </a:fld>
            <a:endParaRPr lang="en-US" sz="800" b="0" u="none" strike="noStrike">
              <a:solidFill>
                <a:srgbClr val="000000"/>
              </a:solidFill>
              <a:effectLst/>
              <a:uFillTx/>
              <a:latin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Text 0"/>
          <p:cNvSpPr/>
          <p:nvPr/>
        </p:nvSpPr>
        <p:spPr>
          <a:xfrm>
            <a:off x="548640" y="329040"/>
            <a:ext cx="1106388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700" b="1" u="none" strike="noStrike">
                <a:solidFill>
                  <a:srgbClr val="16324F"/>
                </a:solidFill>
                <a:effectLst/>
                <a:uFillTx/>
                <a:latin typeface="Arial"/>
                <a:ea typeface="Arial"/>
              </a:rPr>
              <a:t>3. Sqoop — ingestion dữ liệu quan hệ (Legacy)</a:t>
            </a:r>
            <a:endParaRPr lang="en-US" sz="2700" b="0" u="none" strike="noStrike">
              <a:solidFill>
                <a:srgbClr val="000000"/>
              </a:solidFill>
              <a:effectLst/>
              <a:uFillTx/>
              <a:latin typeface="Arial"/>
            </a:endParaRPr>
          </a:p>
        </p:txBody>
      </p:sp>
      <p:sp>
        <p:nvSpPr>
          <p:cNvPr id="122" name="Text 1"/>
          <p:cNvSpPr/>
          <p:nvPr/>
        </p:nvSpPr>
        <p:spPr>
          <a:xfrm>
            <a:off x="567000" y="841320"/>
            <a:ext cx="109724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0" u="none" strike="noStrike">
                <a:solidFill>
                  <a:srgbClr val="5F6B7A"/>
                </a:solidFill>
                <a:effectLst/>
                <a:uFillTx/>
                <a:latin typeface="Arial"/>
                <a:ea typeface="Arial"/>
              </a:rPr>
              <a:t>Sqoop từng là công cụ phổ biến để chuyển dữ liệu giữa RDBMS và Hadoop/HDFS.</a:t>
            </a:r>
            <a:endParaRPr lang="en-US" sz="1250" b="0" u="none" strike="noStrike">
              <a:solidFill>
                <a:srgbClr val="000000"/>
              </a:solidFill>
              <a:effectLst/>
              <a:uFillTx/>
              <a:latin typeface="Arial"/>
            </a:endParaRPr>
          </a:p>
        </p:txBody>
      </p:sp>
      <p:sp>
        <p:nvSpPr>
          <p:cNvPr id="123" name="Shape 2"/>
          <p:cNvSpPr/>
          <p:nvPr/>
        </p:nvSpPr>
        <p:spPr>
          <a:xfrm>
            <a:off x="685800" y="1463040"/>
            <a:ext cx="2834280" cy="1599840"/>
          </a:xfrm>
          <a:prstGeom prst="roundRect">
            <a:avLst>
              <a:gd name="adj" fmla="val 3429"/>
            </a:avLst>
          </a:prstGeom>
          <a:solidFill>
            <a:srgbClr val="FFFFFF"/>
          </a:solidFill>
          <a:ln w="15240">
            <a:solidFill>
              <a:srgbClr val="D9E2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4" name="Shape 3"/>
          <p:cNvSpPr/>
          <p:nvPr/>
        </p:nvSpPr>
        <p:spPr>
          <a:xfrm>
            <a:off x="685800" y="1463040"/>
            <a:ext cx="72720" cy="1599840"/>
          </a:xfrm>
          <a:prstGeom prst="rect">
            <a:avLst/>
          </a:prstGeom>
          <a:solidFill>
            <a:srgbClr val="1E88E5"/>
          </a:solidFill>
          <a:ln w="12700">
            <a:solidFill>
              <a:srgbClr val="1E88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5" name="Text 4"/>
          <p:cNvSpPr/>
          <p:nvPr/>
        </p:nvSpPr>
        <p:spPr>
          <a:xfrm>
            <a:off x="868680" y="1609200"/>
            <a:ext cx="2541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6324F"/>
                </a:solidFill>
                <a:effectLst/>
                <a:uFillTx/>
                <a:latin typeface="Arial"/>
              </a:rPr>
              <a:t>Import</a:t>
            </a:r>
            <a:endParaRPr lang="en-US" sz="1600" b="0" u="none" strike="noStrike">
              <a:solidFill>
                <a:srgbClr val="000000"/>
              </a:solidFill>
              <a:effectLst/>
              <a:uFillTx/>
              <a:latin typeface="Arial"/>
            </a:endParaRPr>
          </a:p>
        </p:txBody>
      </p:sp>
      <p:sp>
        <p:nvSpPr>
          <p:cNvPr id="126" name="Text 5"/>
          <p:cNvSpPr/>
          <p:nvPr/>
        </p:nvSpPr>
        <p:spPr>
          <a:xfrm>
            <a:off x="868680" y="1993320"/>
            <a:ext cx="2523240" cy="941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220" b="0" u="none" strike="noStrike">
                <a:solidFill>
                  <a:srgbClr val="1F2937"/>
                </a:solidFill>
                <a:effectLst/>
                <a:uFillTx/>
                <a:latin typeface="Arial"/>
              </a:rPr>
              <a:t>RDBMS → HDFS/Hive/HBase</a:t>
            </a:r>
            <a:endParaRPr lang="en-US" sz="1220" b="0" u="none" strike="noStrike">
              <a:solidFill>
                <a:srgbClr val="000000"/>
              </a:solidFill>
              <a:effectLst/>
              <a:uFillTx/>
              <a:latin typeface="Arial"/>
            </a:endParaRPr>
          </a:p>
          <a:p>
            <a:pPr defTabSz="914400">
              <a:lnSpc>
                <a:spcPct val="100000"/>
              </a:lnSpc>
              <a:tabLst>
                <a:tab pos="0" algn="l"/>
              </a:tabLst>
            </a:pPr>
            <a:r>
              <a:rPr lang="en-US" sz="1220" b="0" u="none" strike="noStrike">
                <a:solidFill>
                  <a:srgbClr val="1F2937"/>
                </a:solidFill>
                <a:effectLst/>
                <a:uFillTx/>
                <a:latin typeface="Arial"/>
              </a:rPr>
              <a:t>Dùng khi cần đưa bảng quan hệ vào hệ sinh thái Hadoop.</a:t>
            </a:r>
            <a:endParaRPr lang="en-US" sz="1220" b="0" u="none" strike="noStrike">
              <a:solidFill>
                <a:srgbClr val="000000"/>
              </a:solidFill>
              <a:effectLst/>
              <a:uFillTx/>
              <a:latin typeface="Arial"/>
            </a:endParaRPr>
          </a:p>
        </p:txBody>
      </p:sp>
      <p:sp>
        <p:nvSpPr>
          <p:cNvPr id="127" name="Shape 6"/>
          <p:cNvSpPr/>
          <p:nvPr/>
        </p:nvSpPr>
        <p:spPr>
          <a:xfrm>
            <a:off x="3886200" y="1463040"/>
            <a:ext cx="2834280" cy="1599840"/>
          </a:xfrm>
          <a:prstGeom prst="roundRect">
            <a:avLst>
              <a:gd name="adj" fmla="val 3429"/>
            </a:avLst>
          </a:prstGeom>
          <a:solidFill>
            <a:srgbClr val="FFFFFF"/>
          </a:solidFill>
          <a:ln w="15240">
            <a:solidFill>
              <a:srgbClr val="D9E2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8" name="Shape 7"/>
          <p:cNvSpPr/>
          <p:nvPr/>
        </p:nvSpPr>
        <p:spPr>
          <a:xfrm>
            <a:off x="3886200" y="1463040"/>
            <a:ext cx="72720" cy="1599840"/>
          </a:xfrm>
          <a:prstGeom prst="rect">
            <a:avLst/>
          </a:prstGeom>
          <a:solidFill>
            <a:srgbClr val="00A6A6"/>
          </a:solidFill>
          <a:ln w="12700">
            <a:solidFill>
              <a:srgbClr val="00A6A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9" name="Text 8"/>
          <p:cNvSpPr/>
          <p:nvPr/>
        </p:nvSpPr>
        <p:spPr>
          <a:xfrm>
            <a:off x="4069080" y="1609200"/>
            <a:ext cx="2541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6324F"/>
                </a:solidFill>
                <a:effectLst/>
                <a:uFillTx/>
                <a:latin typeface="Arial"/>
              </a:rPr>
              <a:t>Export</a:t>
            </a:r>
            <a:endParaRPr lang="en-US" sz="1600" b="0" u="none" strike="noStrike">
              <a:solidFill>
                <a:srgbClr val="000000"/>
              </a:solidFill>
              <a:effectLst/>
              <a:uFillTx/>
              <a:latin typeface="Arial"/>
            </a:endParaRPr>
          </a:p>
        </p:txBody>
      </p:sp>
      <p:sp>
        <p:nvSpPr>
          <p:cNvPr id="130" name="Text 9"/>
          <p:cNvSpPr/>
          <p:nvPr/>
        </p:nvSpPr>
        <p:spPr>
          <a:xfrm>
            <a:off x="4069080" y="1993320"/>
            <a:ext cx="2523240" cy="941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220" b="0" u="none" strike="noStrike">
                <a:solidFill>
                  <a:srgbClr val="1F2937"/>
                </a:solidFill>
                <a:effectLst/>
                <a:uFillTx/>
                <a:latin typeface="Arial"/>
              </a:rPr>
              <a:t>HDFS/Hive → RDBMS</a:t>
            </a:r>
            <a:endParaRPr lang="en-US" sz="1220" b="0" u="none" strike="noStrike">
              <a:solidFill>
                <a:srgbClr val="000000"/>
              </a:solidFill>
              <a:effectLst/>
              <a:uFillTx/>
              <a:latin typeface="Arial"/>
            </a:endParaRPr>
          </a:p>
          <a:p>
            <a:pPr defTabSz="914400">
              <a:lnSpc>
                <a:spcPct val="100000"/>
              </a:lnSpc>
              <a:tabLst>
                <a:tab pos="0" algn="l"/>
              </a:tabLst>
            </a:pPr>
            <a:r>
              <a:rPr lang="en-US" sz="1220" b="0" u="none" strike="noStrike">
                <a:solidFill>
                  <a:srgbClr val="1F2937"/>
                </a:solidFill>
                <a:effectLst/>
                <a:uFillTx/>
                <a:latin typeface="Arial"/>
              </a:rPr>
              <a:t>Dùng khi cần đưa kết quả xử lý trở lại hệ CSDL quan hệ.</a:t>
            </a:r>
            <a:endParaRPr lang="en-US" sz="1220" b="0" u="none" strike="noStrike">
              <a:solidFill>
                <a:srgbClr val="000000"/>
              </a:solidFill>
              <a:effectLst/>
              <a:uFillTx/>
              <a:latin typeface="Arial"/>
            </a:endParaRPr>
          </a:p>
        </p:txBody>
      </p:sp>
      <p:sp>
        <p:nvSpPr>
          <p:cNvPr id="131" name="Shape 10"/>
          <p:cNvSpPr/>
          <p:nvPr/>
        </p:nvSpPr>
        <p:spPr>
          <a:xfrm>
            <a:off x="7086600" y="1463040"/>
            <a:ext cx="4388760" cy="1599840"/>
          </a:xfrm>
          <a:prstGeom prst="roundRect">
            <a:avLst>
              <a:gd name="adj" fmla="val 3429"/>
            </a:avLst>
          </a:prstGeom>
          <a:solidFill>
            <a:srgbClr val="FFF9EC"/>
          </a:solidFill>
          <a:ln w="15240">
            <a:solidFill>
              <a:srgbClr val="F1D28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2" name="Shape 11"/>
          <p:cNvSpPr/>
          <p:nvPr/>
        </p:nvSpPr>
        <p:spPr>
          <a:xfrm>
            <a:off x="7086600" y="1463040"/>
            <a:ext cx="72720" cy="1599840"/>
          </a:xfrm>
          <a:prstGeom prst="rect">
            <a:avLst/>
          </a:prstGeom>
          <a:solidFill>
            <a:srgbClr val="F59E0B"/>
          </a:solidFill>
          <a:ln w="12700">
            <a:solidFill>
              <a:srgbClr val="F59E0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3" name="Text 12"/>
          <p:cNvSpPr/>
          <p:nvPr/>
        </p:nvSpPr>
        <p:spPr>
          <a:xfrm>
            <a:off x="7269480" y="1609200"/>
            <a:ext cx="40960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6324F"/>
                </a:solidFill>
                <a:effectLst/>
                <a:uFillTx/>
                <a:latin typeface="Arial"/>
              </a:rPr>
              <a:t>Cập nhật quan trọng (2026)</a:t>
            </a:r>
            <a:endParaRPr lang="en-US" sz="1600" b="0" u="none" strike="noStrike">
              <a:solidFill>
                <a:srgbClr val="000000"/>
              </a:solidFill>
              <a:effectLst/>
              <a:uFillTx/>
              <a:latin typeface="Arial"/>
            </a:endParaRPr>
          </a:p>
        </p:txBody>
      </p:sp>
      <p:sp>
        <p:nvSpPr>
          <p:cNvPr id="134" name="Text 13"/>
          <p:cNvSpPr/>
          <p:nvPr/>
        </p:nvSpPr>
        <p:spPr>
          <a:xfrm>
            <a:off x="7269480" y="1993320"/>
            <a:ext cx="4077720" cy="941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180" b="0" u="none" strike="noStrike">
                <a:solidFill>
                  <a:srgbClr val="1F2937"/>
                </a:solidFill>
                <a:effectLst/>
                <a:uFillTx/>
                <a:latin typeface="Arial"/>
              </a:rPr>
              <a:t>Apache Sqoop đã được Apache ghi nhận là project “retired”.</a:t>
            </a:r>
            <a:endParaRPr lang="en-US" sz="1180" b="0" u="none" strike="noStrike">
              <a:solidFill>
                <a:srgbClr val="000000"/>
              </a:solidFill>
              <a:effectLst/>
              <a:uFillTx/>
              <a:latin typeface="Arial"/>
            </a:endParaRPr>
          </a:p>
        </p:txBody>
      </p:sp>
      <p:sp>
        <p:nvSpPr>
          <p:cNvPr id="135" name="Shape 14"/>
          <p:cNvSpPr/>
          <p:nvPr/>
        </p:nvSpPr>
        <p:spPr>
          <a:xfrm>
            <a:off x="1188720" y="3657600"/>
            <a:ext cx="1828440" cy="868320"/>
          </a:xfrm>
          <a:prstGeom prst="roundRect">
            <a:avLst>
              <a:gd name="adj" fmla="val 16667"/>
            </a:avLst>
          </a:prstGeom>
          <a:solidFill>
            <a:srgbClr val="E8F5F4"/>
          </a:solidFill>
          <a:ln w="12700">
            <a:solidFill>
              <a:srgbClr val="B7DAD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6" name="Text 15"/>
          <p:cNvSpPr/>
          <p:nvPr/>
        </p:nvSpPr>
        <p:spPr>
          <a:xfrm>
            <a:off x="1325880" y="3858840"/>
            <a:ext cx="15541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1" u="none" strike="noStrike">
                <a:solidFill>
                  <a:srgbClr val="00A6A6"/>
                </a:solidFill>
                <a:effectLst/>
                <a:uFillTx/>
                <a:latin typeface="Arial"/>
              </a:rPr>
              <a:t>RDBMS</a:t>
            </a:r>
            <a:endParaRPr lang="en-US" sz="1250" b="0" u="none" strike="noStrike">
              <a:solidFill>
                <a:srgbClr val="000000"/>
              </a:solidFill>
              <a:effectLst/>
              <a:uFillTx/>
              <a:latin typeface="Arial"/>
            </a:endParaRPr>
          </a:p>
          <a:p>
            <a:pPr algn="ctr" defTabSz="914400">
              <a:lnSpc>
                <a:spcPct val="100000"/>
              </a:lnSpc>
              <a:tabLst>
                <a:tab pos="0" algn="l"/>
              </a:tabLst>
            </a:pPr>
            <a:r>
              <a:rPr lang="en-US" sz="1250" b="1" u="none" strike="noStrike">
                <a:solidFill>
                  <a:srgbClr val="00A6A6"/>
                </a:solidFill>
                <a:effectLst/>
                <a:uFillTx/>
                <a:latin typeface="Arial"/>
              </a:rPr>
              <a:t>MySQL • PostgreSQL</a:t>
            </a:r>
            <a:endParaRPr lang="en-US" sz="1250" b="0" u="none" strike="noStrike">
              <a:solidFill>
                <a:srgbClr val="000000"/>
              </a:solidFill>
              <a:effectLst/>
              <a:uFillTx/>
              <a:latin typeface="Arial"/>
            </a:endParaRPr>
          </a:p>
        </p:txBody>
      </p:sp>
      <p:sp>
        <p:nvSpPr>
          <p:cNvPr id="137" name="Shape 16"/>
          <p:cNvSpPr/>
          <p:nvPr/>
        </p:nvSpPr>
        <p:spPr>
          <a:xfrm>
            <a:off x="5166360" y="3493080"/>
            <a:ext cx="1919880" cy="1206720"/>
          </a:xfrm>
          <a:prstGeom prst="roundRect">
            <a:avLst>
              <a:gd name="adj" fmla="val 16667"/>
            </a:avLst>
          </a:prstGeom>
          <a:solidFill>
            <a:srgbClr val="1E88E5"/>
          </a:solidFill>
          <a:ln w="12700">
            <a:solidFill>
              <a:srgbClr val="1E88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8" name="Text 17"/>
          <p:cNvSpPr/>
          <p:nvPr/>
        </p:nvSpPr>
        <p:spPr>
          <a:xfrm>
            <a:off x="5303520" y="3858840"/>
            <a:ext cx="1645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u="none" strike="noStrike">
                <a:solidFill>
                  <a:srgbClr val="FFFFFF"/>
                </a:solidFill>
                <a:effectLst/>
                <a:uFillTx/>
                <a:latin typeface="Arial"/>
              </a:rPr>
              <a:t>SQOOP</a:t>
            </a:r>
            <a:endParaRPr lang="en-US" sz="2000" b="0" u="none" strike="noStrike">
              <a:solidFill>
                <a:srgbClr val="000000"/>
              </a:solidFill>
              <a:effectLst/>
              <a:uFillTx/>
              <a:latin typeface="Arial"/>
            </a:endParaRPr>
          </a:p>
        </p:txBody>
      </p:sp>
      <p:sp>
        <p:nvSpPr>
          <p:cNvPr id="139" name="Shape 18"/>
          <p:cNvSpPr/>
          <p:nvPr/>
        </p:nvSpPr>
        <p:spPr>
          <a:xfrm>
            <a:off x="9144000" y="3657600"/>
            <a:ext cx="1828440" cy="868320"/>
          </a:xfrm>
          <a:prstGeom prst="roundRect">
            <a:avLst>
              <a:gd name="adj" fmla="val 16667"/>
            </a:avLst>
          </a:prstGeom>
          <a:solidFill>
            <a:srgbClr val="EAF0F8"/>
          </a:solidFill>
          <a:ln w="12700">
            <a:solidFill>
              <a:srgbClr val="CAD7E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0" name="Text 19"/>
          <p:cNvSpPr/>
          <p:nvPr/>
        </p:nvSpPr>
        <p:spPr>
          <a:xfrm>
            <a:off x="9281160" y="3858840"/>
            <a:ext cx="155412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50" b="1" u="none" strike="noStrike">
                <a:solidFill>
                  <a:srgbClr val="16324F"/>
                </a:solidFill>
                <a:effectLst/>
                <a:uFillTx/>
                <a:latin typeface="Arial"/>
              </a:rPr>
              <a:t>HDFS / Hive</a:t>
            </a:r>
            <a:endParaRPr lang="en-US" sz="1250" b="0" u="none" strike="noStrike">
              <a:solidFill>
                <a:srgbClr val="000000"/>
              </a:solidFill>
              <a:effectLst/>
              <a:uFillTx/>
              <a:latin typeface="Arial"/>
            </a:endParaRPr>
          </a:p>
          <a:p>
            <a:pPr algn="ctr" defTabSz="914400">
              <a:lnSpc>
                <a:spcPct val="100000"/>
              </a:lnSpc>
              <a:tabLst>
                <a:tab pos="0" algn="l"/>
              </a:tabLst>
            </a:pPr>
            <a:r>
              <a:rPr lang="en-US" sz="1250" b="1" u="none" strike="noStrike">
                <a:solidFill>
                  <a:srgbClr val="16324F"/>
                </a:solidFill>
                <a:effectLst/>
                <a:uFillTx/>
                <a:latin typeface="Arial"/>
              </a:rPr>
              <a:t>(Hadoop)</a:t>
            </a:r>
            <a:endParaRPr lang="en-US" sz="1250" b="0" u="none" strike="noStrike">
              <a:solidFill>
                <a:srgbClr val="000000"/>
              </a:solidFill>
              <a:effectLst/>
              <a:uFillTx/>
              <a:latin typeface="Arial"/>
            </a:endParaRPr>
          </a:p>
        </p:txBody>
      </p:sp>
      <p:sp>
        <p:nvSpPr>
          <p:cNvPr id="141" name="Shape 20"/>
          <p:cNvSpPr/>
          <p:nvPr/>
        </p:nvSpPr>
        <p:spPr>
          <a:xfrm>
            <a:off x="3017520" y="4096440"/>
            <a:ext cx="2148840" cy="360"/>
          </a:xfrm>
          <a:prstGeom prst="line">
            <a:avLst/>
          </a:prstGeom>
          <a:ln w="25400">
            <a:solidFill>
              <a:srgbClr val="1E88E5"/>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42" name="Shape 21"/>
          <p:cNvSpPr/>
          <p:nvPr/>
        </p:nvSpPr>
        <p:spPr>
          <a:xfrm>
            <a:off x="7086600" y="4096440"/>
            <a:ext cx="2057400" cy="360"/>
          </a:xfrm>
          <a:prstGeom prst="line">
            <a:avLst/>
          </a:prstGeom>
          <a:ln w="25400">
            <a:solidFill>
              <a:srgbClr val="00A6A6"/>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43" name="Text 22"/>
          <p:cNvSpPr/>
          <p:nvPr/>
        </p:nvSpPr>
        <p:spPr>
          <a:xfrm>
            <a:off x="3767400" y="3767400"/>
            <a:ext cx="8226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u="none" strike="noStrike">
                <a:solidFill>
                  <a:srgbClr val="1E88E5"/>
                </a:solidFill>
                <a:effectLst/>
                <a:uFillTx/>
                <a:latin typeface="Arial"/>
              </a:rPr>
              <a:t>IMPORT</a:t>
            </a:r>
            <a:endParaRPr lang="en-US" sz="900" b="0" u="none" strike="noStrike">
              <a:solidFill>
                <a:srgbClr val="000000"/>
              </a:solidFill>
              <a:effectLst/>
              <a:uFillTx/>
              <a:latin typeface="Arial"/>
            </a:endParaRPr>
          </a:p>
        </p:txBody>
      </p:sp>
      <p:sp>
        <p:nvSpPr>
          <p:cNvPr id="144" name="Text 23"/>
          <p:cNvSpPr/>
          <p:nvPr/>
        </p:nvSpPr>
        <p:spPr>
          <a:xfrm>
            <a:off x="7726680" y="3767400"/>
            <a:ext cx="8226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u="none" strike="noStrike">
                <a:solidFill>
                  <a:srgbClr val="00A6A6"/>
                </a:solidFill>
                <a:effectLst/>
                <a:uFillTx/>
                <a:latin typeface="Arial"/>
              </a:rPr>
              <a:t>EXPORT</a:t>
            </a:r>
            <a:endParaRPr lang="en-US" sz="900" b="0" u="none" strike="noStrike">
              <a:solidFill>
                <a:srgbClr val="000000"/>
              </a:solidFill>
              <a:effectLst/>
              <a:uFillTx/>
              <a:latin typeface="Arial"/>
            </a:endParaRPr>
          </a:p>
        </p:txBody>
      </p:sp>
      <p:sp>
        <p:nvSpPr>
          <p:cNvPr id="145" name="Shape 24"/>
          <p:cNvSpPr/>
          <p:nvPr/>
        </p:nvSpPr>
        <p:spPr>
          <a:xfrm>
            <a:off x="567000" y="5193720"/>
            <a:ext cx="11018160" cy="566640"/>
          </a:xfrm>
          <a:prstGeom prst="roundRect">
            <a:avLst>
              <a:gd name="adj" fmla="val 9677"/>
            </a:avLst>
          </a:prstGeom>
          <a:solidFill>
            <a:srgbClr val="FFF7E6"/>
          </a:solidFill>
          <a:ln w="12700">
            <a:solidFill>
              <a:srgbClr val="F4C66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6" name="Text 25"/>
          <p:cNvSpPr/>
          <p:nvPr/>
        </p:nvSpPr>
        <p:spPr>
          <a:xfrm>
            <a:off x="749880" y="5349240"/>
            <a:ext cx="8226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a:solidFill>
                  <a:srgbClr val="A15C00"/>
                </a:solidFill>
                <a:effectLst/>
                <a:uFillTx/>
                <a:latin typeface="Arial"/>
              </a:rPr>
              <a:t>Giải thích</a:t>
            </a:r>
            <a:endParaRPr lang="en-US" sz="1100" b="0" u="none" strike="noStrike">
              <a:solidFill>
                <a:srgbClr val="000000"/>
              </a:solidFill>
              <a:effectLst/>
              <a:uFillTx/>
              <a:latin typeface="Arial"/>
            </a:endParaRPr>
          </a:p>
        </p:txBody>
      </p:sp>
      <p:sp>
        <p:nvSpPr>
          <p:cNvPr id="147" name="Text 26"/>
          <p:cNvSpPr/>
          <p:nvPr/>
        </p:nvSpPr>
        <p:spPr>
          <a:xfrm>
            <a:off x="1609200" y="5312520"/>
            <a:ext cx="97106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defTabSz="914400">
              <a:lnSpc>
                <a:spcPct val="100000"/>
              </a:lnSpc>
              <a:tabLst>
                <a:tab pos="0" algn="l"/>
              </a:tabLst>
            </a:pPr>
            <a:r>
              <a:rPr lang="en-US" sz="1120" b="0" u="none" strike="noStrike">
                <a:solidFill>
                  <a:srgbClr val="6B4D1D"/>
                </a:solidFill>
                <a:effectLst/>
                <a:uFillTx/>
                <a:latin typeface="Arial"/>
              </a:rPr>
              <a:t>Trong môn học, Sqoop vẫn hữu ích để hiểu mô hình “pull dữ liệu theo lô từ DB”. Với hệ thống mới, có thể thay bằng Spark JDBC, Kafka Connect/CDC hoặc NiFi tùy nhu cầu.</a:t>
            </a:r>
            <a:endParaRPr lang="en-US" sz="1120" b="0" u="none" strike="noStrike">
              <a:solidFill>
                <a:srgbClr val="000000"/>
              </a:solidFill>
              <a:effectLst/>
              <a:uFillTx/>
              <a:latin typeface="Arial"/>
            </a:endParaRPr>
          </a:p>
        </p:txBody>
      </p:sp>
      <p:sp>
        <p:nvSpPr>
          <p:cNvPr id="148" name="Text 27"/>
          <p:cNvSpPr/>
          <p:nvPr/>
        </p:nvSpPr>
        <p:spPr>
          <a:xfrm>
            <a:off x="585360" y="6364080"/>
            <a:ext cx="80463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i="1" u="none" strike="noStrike">
                <a:solidFill>
                  <a:srgbClr val="8793A1"/>
                </a:solidFill>
                <a:effectLst/>
                <a:uFillTx/>
                <a:latin typeface="Arial"/>
              </a:rPr>
              <a:t>Nguồn: tài liệu gốc slide 2–3; Apache Sqoop project page (retired).</a:t>
            </a:r>
            <a:endParaRPr lang="en-US" sz="720" b="0" u="none" strike="noStrike">
              <a:solidFill>
                <a:srgbClr val="000000"/>
              </a:solidFill>
              <a:effectLst/>
              <a:uFillTx/>
              <a:latin typeface="Arial"/>
            </a:endParaRPr>
          </a:p>
        </p:txBody>
      </p:sp>
      <p:sp>
        <p:nvSpPr>
          <p:cNvPr id="149" name="PlaceHolder 1"/>
          <p:cNvSpPr>
            <a:spLocks noGrp="1"/>
          </p:cNvSpPr>
          <p:nvPr>
            <p:ph type="sldNum" idx="8"/>
          </p:nvPr>
        </p:nvSpPr>
        <p:spPr>
          <a:xfrm>
            <a:off x="11631240" y="6510600"/>
            <a:ext cx="255600" cy="200880"/>
          </a:xfrm>
          <a:prstGeom prst="rect">
            <a:avLst/>
          </a:prstGeom>
          <a:noFill/>
          <a:ln w="0">
            <a:noFill/>
          </a:ln>
        </p:spPr>
        <p:txBody>
          <a:bodyPr lIns="90000" tIns="45000" rIns="90000" bIns="45000" anchor="t">
            <a:noAutofit/>
          </a:bodyPr>
          <a:lstStyle>
            <a:lvl1pPr indent="0" algn="r" defTabSz="914400">
              <a:lnSpc>
                <a:spcPct val="100000"/>
              </a:lnSpc>
              <a:buNone/>
              <a:defRPr lang="en-US" sz="800" b="0" u="none" strike="noStrike">
                <a:solidFill>
                  <a:srgbClr val="7A8797"/>
                </a:solidFill>
                <a:effectLst/>
                <a:uFillTx/>
                <a:latin typeface="Arial"/>
                <a:ea typeface="Arial"/>
              </a:defRPr>
            </a:lvl1pPr>
          </a:lstStyle>
          <a:p>
            <a:pPr indent="0" algn="r" defTabSz="914400">
              <a:lnSpc>
                <a:spcPct val="100000"/>
              </a:lnSpc>
              <a:buNone/>
            </a:pPr>
            <a:fld id="{7D4ED473-2151-484D-A14F-B95837A1EFC3}" type="slidenum">
              <a:rPr lang="en-US" sz="800" b="0" u="none" strike="noStrike">
                <a:solidFill>
                  <a:srgbClr val="7A8797"/>
                </a:solidFill>
                <a:effectLst/>
                <a:uFillTx/>
                <a:latin typeface="Arial"/>
                <a:ea typeface="Arial"/>
              </a:rPr>
              <a:t>4</a:t>
            </a:fld>
            <a:endParaRPr lang="en-US" sz="800" b="0" u="none" strike="noStrike">
              <a:solidFill>
                <a:srgbClr val="000000"/>
              </a:solidFill>
              <a:effectLst/>
              <a:uFillTx/>
              <a:latin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Text 0"/>
          <p:cNvSpPr/>
          <p:nvPr/>
        </p:nvSpPr>
        <p:spPr>
          <a:xfrm>
            <a:off x="548640" y="329040"/>
            <a:ext cx="1106388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700" b="1" u="none" strike="noStrike">
                <a:solidFill>
                  <a:srgbClr val="16324F"/>
                </a:solidFill>
                <a:effectLst/>
                <a:uFillTx/>
                <a:latin typeface="Arial"/>
                <a:ea typeface="Arial"/>
              </a:rPr>
              <a:t>4. Đọc một lệnh Sqoop import như thế nào?</a:t>
            </a:r>
            <a:endParaRPr lang="en-US" sz="2700" b="0" u="none" strike="noStrike">
              <a:solidFill>
                <a:srgbClr val="000000"/>
              </a:solidFill>
              <a:effectLst/>
              <a:uFillTx/>
              <a:latin typeface="Arial"/>
            </a:endParaRPr>
          </a:p>
        </p:txBody>
      </p:sp>
      <p:sp>
        <p:nvSpPr>
          <p:cNvPr id="151" name="Text 1"/>
          <p:cNvSpPr/>
          <p:nvPr/>
        </p:nvSpPr>
        <p:spPr>
          <a:xfrm>
            <a:off x="567000" y="841320"/>
            <a:ext cx="109724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0" u="none" strike="noStrike">
                <a:solidFill>
                  <a:srgbClr val="5F6B7A"/>
                </a:solidFill>
                <a:effectLst/>
                <a:uFillTx/>
                <a:latin typeface="Arial"/>
                <a:ea typeface="Arial"/>
              </a:rPr>
              <a:t>Mục tiêu là hiểu ý nghĩa từng tham số, không chỉ “copy lệnh”.</a:t>
            </a:r>
            <a:endParaRPr lang="en-US" sz="1250" b="0" u="none" strike="noStrike">
              <a:solidFill>
                <a:srgbClr val="000000"/>
              </a:solidFill>
              <a:effectLst/>
              <a:uFillTx/>
              <a:latin typeface="Arial"/>
            </a:endParaRPr>
          </a:p>
        </p:txBody>
      </p:sp>
      <p:sp>
        <p:nvSpPr>
          <p:cNvPr id="152" name="Shape 2"/>
          <p:cNvSpPr/>
          <p:nvPr/>
        </p:nvSpPr>
        <p:spPr>
          <a:xfrm>
            <a:off x="685800" y="1417320"/>
            <a:ext cx="6080400" cy="3245760"/>
          </a:xfrm>
          <a:prstGeom prst="roundRect">
            <a:avLst>
              <a:gd name="adj" fmla="val 1127"/>
            </a:avLst>
          </a:prstGeom>
          <a:solidFill>
            <a:srgbClr val="101827"/>
          </a:solidFill>
          <a:ln w="12700">
            <a:solidFill>
              <a:srgbClr val="10182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53" name="Text 3"/>
          <p:cNvSpPr/>
          <p:nvPr/>
        </p:nvSpPr>
        <p:spPr>
          <a:xfrm>
            <a:off x="850320" y="1563480"/>
            <a:ext cx="5751360" cy="298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020" b="0" u="none" strike="noStrike">
                <a:solidFill>
                  <a:srgbClr val="E6EDF3"/>
                </a:solidFill>
                <a:effectLst/>
                <a:uFillTx/>
                <a:latin typeface="Courier New"/>
                <a:ea typeface="Courier New"/>
              </a:rPr>
              <a:t>sqoop import \</a:t>
            </a:r>
            <a:endParaRPr lang="en-US" sz="1020" b="0" u="none" strike="noStrike">
              <a:solidFill>
                <a:srgbClr val="000000"/>
              </a:solidFill>
              <a:effectLst/>
              <a:uFillTx/>
              <a:latin typeface="Arial"/>
            </a:endParaRPr>
          </a:p>
          <a:p>
            <a:pPr defTabSz="914400">
              <a:lnSpc>
                <a:spcPct val="100000"/>
              </a:lnSpc>
              <a:tabLst>
                <a:tab pos="0" algn="l"/>
              </a:tabLst>
            </a:pPr>
            <a:r>
              <a:rPr lang="en-US" sz="1020" b="0" u="none" strike="noStrike">
                <a:solidFill>
                  <a:srgbClr val="E6EDF3"/>
                </a:solidFill>
                <a:effectLst/>
                <a:uFillTx/>
                <a:latin typeface="Courier New"/>
                <a:ea typeface="Courier New"/>
              </a:rPr>
              <a:t>  --connect jdbc:mysql://db:3306/sales \</a:t>
            </a:r>
            <a:endParaRPr lang="en-US" sz="1020" b="0" u="none" strike="noStrike">
              <a:solidFill>
                <a:srgbClr val="000000"/>
              </a:solidFill>
              <a:effectLst/>
              <a:uFillTx/>
              <a:latin typeface="Arial"/>
            </a:endParaRPr>
          </a:p>
          <a:p>
            <a:pPr defTabSz="914400">
              <a:lnSpc>
                <a:spcPct val="100000"/>
              </a:lnSpc>
              <a:tabLst>
                <a:tab pos="0" algn="l"/>
              </a:tabLst>
            </a:pPr>
            <a:r>
              <a:rPr lang="en-US" sz="1020" b="0" u="none" strike="noStrike">
                <a:solidFill>
                  <a:srgbClr val="E6EDF3"/>
                </a:solidFill>
                <a:effectLst/>
                <a:uFillTx/>
                <a:latin typeface="Courier New"/>
                <a:ea typeface="Courier New"/>
              </a:rPr>
              <a:t>  --username etl_user \</a:t>
            </a:r>
            <a:endParaRPr lang="en-US" sz="1020" b="0" u="none" strike="noStrike">
              <a:solidFill>
                <a:srgbClr val="000000"/>
              </a:solidFill>
              <a:effectLst/>
              <a:uFillTx/>
              <a:latin typeface="Arial"/>
            </a:endParaRPr>
          </a:p>
          <a:p>
            <a:pPr defTabSz="914400">
              <a:lnSpc>
                <a:spcPct val="100000"/>
              </a:lnSpc>
              <a:tabLst>
                <a:tab pos="0" algn="l"/>
              </a:tabLst>
            </a:pPr>
            <a:r>
              <a:rPr lang="en-US" sz="1020" b="0" u="none" strike="noStrike">
                <a:solidFill>
                  <a:srgbClr val="E6EDF3"/>
                </a:solidFill>
                <a:effectLst/>
                <a:uFillTx/>
                <a:latin typeface="Courier New"/>
                <a:ea typeface="Courier New"/>
              </a:rPr>
              <a:t>  --password-file /secure/mysql.pwd \</a:t>
            </a:r>
            <a:endParaRPr lang="en-US" sz="1020" b="0" u="none" strike="noStrike">
              <a:solidFill>
                <a:srgbClr val="000000"/>
              </a:solidFill>
              <a:effectLst/>
              <a:uFillTx/>
              <a:latin typeface="Arial"/>
            </a:endParaRPr>
          </a:p>
          <a:p>
            <a:pPr defTabSz="914400">
              <a:lnSpc>
                <a:spcPct val="100000"/>
              </a:lnSpc>
              <a:tabLst>
                <a:tab pos="0" algn="l"/>
              </a:tabLst>
            </a:pPr>
            <a:r>
              <a:rPr lang="en-US" sz="1020" b="0" u="none" strike="noStrike">
                <a:solidFill>
                  <a:srgbClr val="E6EDF3"/>
                </a:solidFill>
                <a:effectLst/>
                <a:uFillTx/>
                <a:latin typeface="Courier New"/>
                <a:ea typeface="Courier New"/>
              </a:rPr>
              <a:t>  --table orders \</a:t>
            </a:r>
            <a:endParaRPr lang="en-US" sz="1020" b="0" u="none" strike="noStrike">
              <a:solidFill>
                <a:srgbClr val="000000"/>
              </a:solidFill>
              <a:effectLst/>
              <a:uFillTx/>
              <a:latin typeface="Arial"/>
            </a:endParaRPr>
          </a:p>
          <a:p>
            <a:pPr defTabSz="914400">
              <a:lnSpc>
                <a:spcPct val="100000"/>
              </a:lnSpc>
              <a:tabLst>
                <a:tab pos="0" algn="l"/>
              </a:tabLst>
            </a:pPr>
            <a:r>
              <a:rPr lang="en-US" sz="1020" b="0" u="none" strike="noStrike">
                <a:solidFill>
                  <a:srgbClr val="E6EDF3"/>
                </a:solidFill>
                <a:effectLst/>
                <a:uFillTx/>
                <a:latin typeface="Courier New"/>
                <a:ea typeface="Courier New"/>
              </a:rPr>
              <a:t>  --target-dir /data/raw/orders \</a:t>
            </a:r>
            <a:endParaRPr lang="en-US" sz="1020" b="0" u="none" strike="noStrike">
              <a:solidFill>
                <a:srgbClr val="000000"/>
              </a:solidFill>
              <a:effectLst/>
              <a:uFillTx/>
              <a:latin typeface="Arial"/>
            </a:endParaRPr>
          </a:p>
          <a:p>
            <a:pPr defTabSz="914400">
              <a:lnSpc>
                <a:spcPct val="100000"/>
              </a:lnSpc>
              <a:tabLst>
                <a:tab pos="0" algn="l"/>
              </a:tabLst>
            </a:pPr>
            <a:r>
              <a:rPr lang="en-US" sz="1020" b="0" u="none" strike="noStrike">
                <a:solidFill>
                  <a:srgbClr val="E6EDF3"/>
                </a:solidFill>
                <a:effectLst/>
                <a:uFillTx/>
                <a:latin typeface="Courier New"/>
                <a:ea typeface="Courier New"/>
              </a:rPr>
              <a:t>  -m 4</a:t>
            </a:r>
            <a:endParaRPr lang="en-US" sz="1020" b="0" u="none" strike="noStrike">
              <a:solidFill>
                <a:srgbClr val="000000"/>
              </a:solidFill>
              <a:effectLst/>
              <a:uFillTx/>
              <a:latin typeface="Arial"/>
            </a:endParaRPr>
          </a:p>
        </p:txBody>
      </p:sp>
      <p:sp>
        <p:nvSpPr>
          <p:cNvPr id="154" name="Shape 4"/>
          <p:cNvSpPr/>
          <p:nvPr/>
        </p:nvSpPr>
        <p:spPr>
          <a:xfrm>
            <a:off x="7086600" y="1417320"/>
            <a:ext cx="4388760" cy="529920"/>
          </a:xfrm>
          <a:prstGeom prst="roundRect">
            <a:avLst>
              <a:gd name="adj" fmla="val 16667"/>
            </a:avLst>
          </a:prstGeom>
          <a:solidFill>
            <a:srgbClr val="FFFFFF"/>
          </a:solidFill>
          <a:ln w="12700">
            <a:solidFill>
              <a:srgbClr val="DDE4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5" name="Text 5"/>
          <p:cNvSpPr/>
          <p:nvPr/>
        </p:nvSpPr>
        <p:spPr>
          <a:xfrm>
            <a:off x="7242120" y="1545480"/>
            <a:ext cx="11883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1" u="none" strike="noStrike">
                <a:solidFill>
                  <a:srgbClr val="1E88E5"/>
                </a:solidFill>
                <a:effectLst/>
                <a:uFillTx/>
                <a:latin typeface="Courier New"/>
                <a:ea typeface="Courier New"/>
              </a:rPr>
              <a:t>--connect</a:t>
            </a:r>
            <a:endParaRPr lang="en-US" sz="1050" b="0" u="none" strike="noStrike">
              <a:solidFill>
                <a:srgbClr val="000000"/>
              </a:solidFill>
              <a:effectLst/>
              <a:uFillTx/>
              <a:latin typeface="Arial"/>
            </a:endParaRPr>
          </a:p>
        </p:txBody>
      </p:sp>
      <p:sp>
        <p:nvSpPr>
          <p:cNvPr id="156" name="Text 6"/>
          <p:cNvSpPr/>
          <p:nvPr/>
        </p:nvSpPr>
        <p:spPr>
          <a:xfrm>
            <a:off x="8394120" y="1508760"/>
            <a:ext cx="28800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50" b="0" u="none" strike="noStrike">
                <a:solidFill>
                  <a:srgbClr val="1F2937"/>
                </a:solidFill>
                <a:effectLst/>
                <a:uFillTx/>
                <a:latin typeface="Arial"/>
              </a:rPr>
              <a:t>Địa chỉ JDBC tới CSDL nguồn</a:t>
            </a:r>
            <a:endParaRPr lang="en-US" sz="1050" b="0" u="none" strike="noStrike">
              <a:solidFill>
                <a:srgbClr val="000000"/>
              </a:solidFill>
              <a:effectLst/>
              <a:uFillTx/>
              <a:latin typeface="Arial"/>
            </a:endParaRPr>
          </a:p>
        </p:txBody>
      </p:sp>
      <p:sp>
        <p:nvSpPr>
          <p:cNvPr id="157" name="Shape 7"/>
          <p:cNvSpPr/>
          <p:nvPr/>
        </p:nvSpPr>
        <p:spPr>
          <a:xfrm>
            <a:off x="7086600" y="2103120"/>
            <a:ext cx="4388760" cy="529920"/>
          </a:xfrm>
          <a:prstGeom prst="roundRect">
            <a:avLst>
              <a:gd name="adj" fmla="val 16667"/>
            </a:avLst>
          </a:prstGeom>
          <a:solidFill>
            <a:srgbClr val="F2F6FA"/>
          </a:solidFill>
          <a:ln w="12700">
            <a:solidFill>
              <a:srgbClr val="DDE4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8" name="Text 8"/>
          <p:cNvSpPr/>
          <p:nvPr/>
        </p:nvSpPr>
        <p:spPr>
          <a:xfrm>
            <a:off x="7242120" y="2231280"/>
            <a:ext cx="11883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1" u="none" strike="noStrike">
                <a:solidFill>
                  <a:srgbClr val="1E88E5"/>
                </a:solidFill>
                <a:effectLst/>
                <a:uFillTx/>
                <a:latin typeface="Courier New"/>
                <a:ea typeface="Courier New"/>
              </a:rPr>
              <a:t>--table</a:t>
            </a:r>
            <a:endParaRPr lang="en-US" sz="1050" b="0" u="none" strike="noStrike">
              <a:solidFill>
                <a:srgbClr val="000000"/>
              </a:solidFill>
              <a:effectLst/>
              <a:uFillTx/>
              <a:latin typeface="Arial"/>
            </a:endParaRPr>
          </a:p>
        </p:txBody>
      </p:sp>
      <p:sp>
        <p:nvSpPr>
          <p:cNvPr id="159" name="Text 9"/>
          <p:cNvSpPr/>
          <p:nvPr/>
        </p:nvSpPr>
        <p:spPr>
          <a:xfrm>
            <a:off x="8394120" y="2194560"/>
            <a:ext cx="28800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50" b="0" u="none" strike="noStrike">
                <a:solidFill>
                  <a:srgbClr val="1F2937"/>
                </a:solidFill>
                <a:effectLst/>
                <a:uFillTx/>
                <a:latin typeface="Arial"/>
              </a:rPr>
              <a:t>Bảng cần import</a:t>
            </a:r>
            <a:endParaRPr lang="en-US" sz="1050" b="0" u="none" strike="noStrike">
              <a:solidFill>
                <a:srgbClr val="000000"/>
              </a:solidFill>
              <a:effectLst/>
              <a:uFillTx/>
              <a:latin typeface="Arial"/>
            </a:endParaRPr>
          </a:p>
        </p:txBody>
      </p:sp>
      <p:sp>
        <p:nvSpPr>
          <p:cNvPr id="160" name="Shape 10"/>
          <p:cNvSpPr/>
          <p:nvPr/>
        </p:nvSpPr>
        <p:spPr>
          <a:xfrm>
            <a:off x="7086600" y="2788920"/>
            <a:ext cx="4388760" cy="529920"/>
          </a:xfrm>
          <a:prstGeom prst="roundRect">
            <a:avLst>
              <a:gd name="adj" fmla="val 16667"/>
            </a:avLst>
          </a:prstGeom>
          <a:solidFill>
            <a:srgbClr val="FFFFFF"/>
          </a:solidFill>
          <a:ln w="12700">
            <a:solidFill>
              <a:srgbClr val="DDE4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1" name="Text 11"/>
          <p:cNvSpPr/>
          <p:nvPr/>
        </p:nvSpPr>
        <p:spPr>
          <a:xfrm>
            <a:off x="7242120" y="2917080"/>
            <a:ext cx="11883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1" u="none" strike="noStrike">
                <a:solidFill>
                  <a:srgbClr val="1E88E5"/>
                </a:solidFill>
                <a:effectLst/>
                <a:uFillTx/>
                <a:latin typeface="Courier New"/>
                <a:ea typeface="Courier New"/>
              </a:rPr>
              <a:t>--target-dir</a:t>
            </a:r>
            <a:endParaRPr lang="en-US" sz="1050" b="0" u="none" strike="noStrike">
              <a:solidFill>
                <a:srgbClr val="000000"/>
              </a:solidFill>
              <a:effectLst/>
              <a:uFillTx/>
              <a:latin typeface="Arial"/>
            </a:endParaRPr>
          </a:p>
        </p:txBody>
      </p:sp>
      <p:sp>
        <p:nvSpPr>
          <p:cNvPr id="162" name="Text 12"/>
          <p:cNvSpPr/>
          <p:nvPr/>
        </p:nvSpPr>
        <p:spPr>
          <a:xfrm>
            <a:off x="8394120" y="2880360"/>
            <a:ext cx="28800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50" b="0" u="none" strike="noStrike">
                <a:solidFill>
                  <a:srgbClr val="1F2937"/>
                </a:solidFill>
                <a:effectLst/>
                <a:uFillTx/>
                <a:latin typeface="Arial"/>
              </a:rPr>
              <a:t>Thư mục đích trên HDFS</a:t>
            </a:r>
            <a:endParaRPr lang="en-US" sz="1050" b="0" u="none" strike="noStrike">
              <a:solidFill>
                <a:srgbClr val="000000"/>
              </a:solidFill>
              <a:effectLst/>
              <a:uFillTx/>
              <a:latin typeface="Arial"/>
            </a:endParaRPr>
          </a:p>
        </p:txBody>
      </p:sp>
      <p:sp>
        <p:nvSpPr>
          <p:cNvPr id="163" name="Shape 13"/>
          <p:cNvSpPr/>
          <p:nvPr/>
        </p:nvSpPr>
        <p:spPr>
          <a:xfrm>
            <a:off x="7086600" y="3474720"/>
            <a:ext cx="4388760" cy="529920"/>
          </a:xfrm>
          <a:prstGeom prst="roundRect">
            <a:avLst>
              <a:gd name="adj" fmla="val 16667"/>
            </a:avLst>
          </a:prstGeom>
          <a:solidFill>
            <a:srgbClr val="F2F6FA"/>
          </a:solidFill>
          <a:ln w="12700">
            <a:solidFill>
              <a:srgbClr val="DDE4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4" name="Text 14"/>
          <p:cNvSpPr/>
          <p:nvPr/>
        </p:nvSpPr>
        <p:spPr>
          <a:xfrm>
            <a:off x="7242120" y="3602880"/>
            <a:ext cx="11883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1" u="none" strike="noStrike">
                <a:solidFill>
                  <a:srgbClr val="1E88E5"/>
                </a:solidFill>
                <a:effectLst/>
                <a:uFillTx/>
                <a:latin typeface="Courier New"/>
                <a:ea typeface="Courier New"/>
              </a:rPr>
              <a:t>-m 4</a:t>
            </a:r>
            <a:endParaRPr lang="en-US" sz="1050" b="0" u="none" strike="noStrike">
              <a:solidFill>
                <a:srgbClr val="000000"/>
              </a:solidFill>
              <a:effectLst/>
              <a:uFillTx/>
              <a:latin typeface="Arial"/>
            </a:endParaRPr>
          </a:p>
        </p:txBody>
      </p:sp>
      <p:sp>
        <p:nvSpPr>
          <p:cNvPr id="165" name="Text 15"/>
          <p:cNvSpPr/>
          <p:nvPr/>
        </p:nvSpPr>
        <p:spPr>
          <a:xfrm>
            <a:off x="8394120" y="3566160"/>
            <a:ext cx="28800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defTabSz="914400">
              <a:lnSpc>
                <a:spcPct val="100000"/>
              </a:lnSpc>
              <a:tabLst>
                <a:tab pos="0" algn="l"/>
              </a:tabLst>
            </a:pPr>
            <a:r>
              <a:rPr lang="en-US" sz="1050" b="0" u="none" strike="noStrike">
                <a:solidFill>
                  <a:srgbClr val="1F2937"/>
                </a:solidFill>
                <a:effectLst/>
                <a:uFillTx/>
                <a:latin typeface="Arial"/>
              </a:rPr>
              <a:t>Số mapper chạy song song; tăng song song nhưng gây tải DB</a:t>
            </a:r>
            <a:endParaRPr lang="en-US" sz="1050" b="0" u="none" strike="noStrike">
              <a:solidFill>
                <a:srgbClr val="000000"/>
              </a:solidFill>
              <a:effectLst/>
              <a:uFillTx/>
              <a:latin typeface="Arial"/>
            </a:endParaRPr>
          </a:p>
        </p:txBody>
      </p:sp>
      <p:sp>
        <p:nvSpPr>
          <p:cNvPr id="166" name="Shape 16"/>
          <p:cNvSpPr/>
          <p:nvPr/>
        </p:nvSpPr>
        <p:spPr>
          <a:xfrm>
            <a:off x="7086600" y="4160520"/>
            <a:ext cx="4388760" cy="529920"/>
          </a:xfrm>
          <a:prstGeom prst="roundRect">
            <a:avLst>
              <a:gd name="adj" fmla="val 16667"/>
            </a:avLst>
          </a:prstGeom>
          <a:solidFill>
            <a:srgbClr val="FFFFFF"/>
          </a:solidFill>
          <a:ln w="12700">
            <a:solidFill>
              <a:srgbClr val="DDE4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7" name="Text 17"/>
          <p:cNvSpPr/>
          <p:nvPr/>
        </p:nvSpPr>
        <p:spPr>
          <a:xfrm>
            <a:off x="7242120" y="4288680"/>
            <a:ext cx="11883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1" u="none" strike="noStrike">
                <a:solidFill>
                  <a:srgbClr val="1E88E5"/>
                </a:solidFill>
                <a:effectLst/>
                <a:uFillTx/>
                <a:latin typeface="Courier New"/>
                <a:ea typeface="Courier New"/>
              </a:rPr>
              <a:t>--password-file</a:t>
            </a:r>
            <a:endParaRPr lang="en-US" sz="1050" b="0" u="none" strike="noStrike">
              <a:solidFill>
                <a:srgbClr val="000000"/>
              </a:solidFill>
              <a:effectLst/>
              <a:uFillTx/>
              <a:latin typeface="Arial"/>
            </a:endParaRPr>
          </a:p>
        </p:txBody>
      </p:sp>
      <p:sp>
        <p:nvSpPr>
          <p:cNvPr id="168" name="Text 18"/>
          <p:cNvSpPr/>
          <p:nvPr/>
        </p:nvSpPr>
        <p:spPr>
          <a:xfrm>
            <a:off x="8394120" y="4251960"/>
            <a:ext cx="28800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defTabSz="914400">
              <a:lnSpc>
                <a:spcPct val="100000"/>
              </a:lnSpc>
              <a:tabLst>
                <a:tab pos="0" algn="l"/>
              </a:tabLst>
            </a:pPr>
            <a:r>
              <a:rPr lang="en-US" sz="1050" b="0" u="none" strike="noStrike">
                <a:solidFill>
                  <a:srgbClr val="1F2937"/>
                </a:solidFill>
                <a:effectLst/>
                <a:uFillTx/>
                <a:latin typeface="Arial"/>
              </a:rPr>
              <a:t>An toàn hơn ghi password trực tiếp trên command line</a:t>
            </a:r>
            <a:endParaRPr lang="en-US" sz="1050" b="0" u="none" strike="noStrike">
              <a:solidFill>
                <a:srgbClr val="000000"/>
              </a:solidFill>
              <a:effectLst/>
              <a:uFillTx/>
              <a:latin typeface="Arial"/>
            </a:endParaRPr>
          </a:p>
        </p:txBody>
      </p:sp>
      <p:sp>
        <p:nvSpPr>
          <p:cNvPr id="169" name="Shape 19"/>
          <p:cNvSpPr/>
          <p:nvPr/>
        </p:nvSpPr>
        <p:spPr>
          <a:xfrm>
            <a:off x="567000" y="5074920"/>
            <a:ext cx="11018160" cy="566640"/>
          </a:xfrm>
          <a:prstGeom prst="roundRect">
            <a:avLst>
              <a:gd name="adj" fmla="val 9677"/>
            </a:avLst>
          </a:prstGeom>
          <a:solidFill>
            <a:srgbClr val="FFF7E6"/>
          </a:solidFill>
          <a:ln w="12700">
            <a:solidFill>
              <a:srgbClr val="F4C66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0" name="Text 20"/>
          <p:cNvSpPr/>
          <p:nvPr/>
        </p:nvSpPr>
        <p:spPr>
          <a:xfrm>
            <a:off x="749880" y="5230440"/>
            <a:ext cx="8226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a:solidFill>
                  <a:srgbClr val="A15C00"/>
                </a:solidFill>
                <a:effectLst/>
                <a:uFillTx/>
                <a:latin typeface="Arial"/>
              </a:rPr>
              <a:t>Giải thích</a:t>
            </a:r>
            <a:endParaRPr lang="en-US" sz="1100" b="0" u="none" strike="noStrike">
              <a:solidFill>
                <a:srgbClr val="000000"/>
              </a:solidFill>
              <a:effectLst/>
              <a:uFillTx/>
              <a:latin typeface="Arial"/>
            </a:endParaRPr>
          </a:p>
        </p:txBody>
      </p:sp>
      <p:sp>
        <p:nvSpPr>
          <p:cNvPr id="171" name="Text 21"/>
          <p:cNvSpPr/>
          <p:nvPr/>
        </p:nvSpPr>
        <p:spPr>
          <a:xfrm>
            <a:off x="1609200" y="5193720"/>
            <a:ext cx="97106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defTabSz="914400">
              <a:lnSpc>
                <a:spcPct val="100000"/>
              </a:lnSpc>
              <a:tabLst>
                <a:tab pos="0" algn="l"/>
              </a:tabLst>
            </a:pPr>
            <a:r>
              <a:rPr lang="en-US" sz="1120" b="0" u="none" strike="noStrike">
                <a:solidFill>
                  <a:srgbClr val="6B4D1D"/>
                </a:solidFill>
                <a:effectLst/>
                <a:uFillTx/>
                <a:latin typeface="Arial"/>
              </a:rPr>
              <a:t>Ý tưởng quan trọng: công cụ ingestion phải biết nguồn, đích, cách chia tải song song và cách xử lý credential. Đây cũng là tư duy chung khi chuyển sang Spark JDBC hoặc Kafka Connect.</a:t>
            </a:r>
            <a:endParaRPr lang="en-US" sz="1120" b="0" u="none" strike="noStrike">
              <a:solidFill>
                <a:srgbClr val="000000"/>
              </a:solidFill>
              <a:effectLst/>
              <a:uFillTx/>
              <a:latin typeface="Arial"/>
            </a:endParaRPr>
          </a:p>
        </p:txBody>
      </p:sp>
      <p:sp>
        <p:nvSpPr>
          <p:cNvPr id="172" name="PlaceHolder 1"/>
          <p:cNvSpPr>
            <a:spLocks noGrp="1"/>
          </p:cNvSpPr>
          <p:nvPr>
            <p:ph type="sldNum" idx="9"/>
          </p:nvPr>
        </p:nvSpPr>
        <p:spPr>
          <a:xfrm>
            <a:off x="11631240" y="6510600"/>
            <a:ext cx="255600" cy="200880"/>
          </a:xfrm>
          <a:prstGeom prst="rect">
            <a:avLst/>
          </a:prstGeom>
          <a:noFill/>
          <a:ln w="0">
            <a:noFill/>
          </a:ln>
        </p:spPr>
        <p:txBody>
          <a:bodyPr lIns="90000" tIns="45000" rIns="90000" bIns="45000" anchor="t">
            <a:noAutofit/>
          </a:bodyPr>
          <a:lstStyle>
            <a:lvl1pPr indent="0" algn="r" defTabSz="914400">
              <a:lnSpc>
                <a:spcPct val="100000"/>
              </a:lnSpc>
              <a:buNone/>
              <a:defRPr lang="en-US" sz="800" b="0" u="none" strike="noStrike">
                <a:solidFill>
                  <a:srgbClr val="7A8797"/>
                </a:solidFill>
                <a:effectLst/>
                <a:uFillTx/>
                <a:latin typeface="Arial"/>
                <a:ea typeface="Arial"/>
              </a:defRPr>
            </a:lvl1pPr>
          </a:lstStyle>
          <a:p>
            <a:pPr indent="0" algn="r" defTabSz="914400">
              <a:lnSpc>
                <a:spcPct val="100000"/>
              </a:lnSpc>
              <a:buNone/>
            </a:pPr>
            <a:fld id="{439CFC21-7513-4058-9F68-C2D781E94BCB}" type="slidenum">
              <a:rPr lang="en-US" sz="800" b="0" u="none" strike="noStrike">
                <a:solidFill>
                  <a:srgbClr val="7A8797"/>
                </a:solidFill>
                <a:effectLst/>
                <a:uFillTx/>
                <a:latin typeface="Arial"/>
                <a:ea typeface="Arial"/>
              </a:rPr>
              <a:t>5</a:t>
            </a:fld>
            <a:endParaRPr lang="en-US" sz="800" b="0" u="none" strike="noStrike">
              <a:solidFill>
                <a:srgbClr val="000000"/>
              </a:solidFill>
              <a:effectLst/>
              <a:uFillTx/>
              <a:latin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Text 0"/>
          <p:cNvSpPr/>
          <p:nvPr/>
        </p:nvSpPr>
        <p:spPr>
          <a:xfrm>
            <a:off x="548640" y="329040"/>
            <a:ext cx="1106388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700" b="1" u="none" strike="noStrike">
                <a:solidFill>
                  <a:srgbClr val="16324F"/>
                </a:solidFill>
                <a:effectLst/>
                <a:uFillTx/>
                <a:latin typeface="Arial"/>
                <a:ea typeface="Arial"/>
              </a:rPr>
              <a:t>5. Apache Flume — thu thập log và event</a:t>
            </a:r>
            <a:endParaRPr lang="en-US" sz="2700" b="0" u="none" strike="noStrike">
              <a:solidFill>
                <a:srgbClr val="000000"/>
              </a:solidFill>
              <a:effectLst/>
              <a:uFillTx/>
              <a:latin typeface="Arial"/>
            </a:endParaRPr>
          </a:p>
        </p:txBody>
      </p:sp>
      <p:sp>
        <p:nvSpPr>
          <p:cNvPr id="174" name="Text 1"/>
          <p:cNvSpPr/>
          <p:nvPr/>
        </p:nvSpPr>
        <p:spPr>
          <a:xfrm>
            <a:off x="567000" y="841320"/>
            <a:ext cx="109724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0" u="none" strike="noStrike">
                <a:solidFill>
                  <a:srgbClr val="5F6B7A"/>
                </a:solidFill>
                <a:effectLst/>
                <a:uFillTx/>
                <a:latin typeface="Arial"/>
                <a:ea typeface="Arial"/>
              </a:rPr>
              <a:t>Flume phù hợp với luồng log/event liên tục từ nhiều máy chủ về một nơi lưu trữ tập trung.</a:t>
            </a:r>
            <a:endParaRPr lang="en-US" sz="1250" b="0" u="none" strike="noStrike">
              <a:solidFill>
                <a:srgbClr val="000000"/>
              </a:solidFill>
              <a:effectLst/>
              <a:uFillTx/>
              <a:latin typeface="Arial"/>
            </a:endParaRPr>
          </a:p>
        </p:txBody>
      </p:sp>
      <p:sp>
        <p:nvSpPr>
          <p:cNvPr id="175" name="Shape 2"/>
          <p:cNvSpPr/>
          <p:nvPr/>
        </p:nvSpPr>
        <p:spPr>
          <a:xfrm>
            <a:off x="685800" y="1417320"/>
            <a:ext cx="3200040" cy="1874160"/>
          </a:xfrm>
          <a:prstGeom prst="roundRect">
            <a:avLst>
              <a:gd name="adj" fmla="val 2927"/>
            </a:avLst>
          </a:prstGeom>
          <a:solidFill>
            <a:srgbClr val="FFFFFF"/>
          </a:solidFill>
          <a:ln w="15240">
            <a:solidFill>
              <a:srgbClr val="D9E2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6" name="Shape 3"/>
          <p:cNvSpPr/>
          <p:nvPr/>
        </p:nvSpPr>
        <p:spPr>
          <a:xfrm>
            <a:off x="685800" y="1417320"/>
            <a:ext cx="72720" cy="1874160"/>
          </a:xfrm>
          <a:prstGeom prst="rect">
            <a:avLst/>
          </a:prstGeom>
          <a:solidFill>
            <a:srgbClr val="00A6A6"/>
          </a:solidFill>
          <a:ln w="12700">
            <a:solidFill>
              <a:srgbClr val="00A6A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77" name="Text 4"/>
          <p:cNvSpPr/>
          <p:nvPr/>
        </p:nvSpPr>
        <p:spPr>
          <a:xfrm>
            <a:off x="868680" y="1563480"/>
            <a:ext cx="29073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6324F"/>
                </a:solidFill>
                <a:effectLst/>
                <a:uFillTx/>
                <a:latin typeface="Arial"/>
              </a:rPr>
              <a:t>Bài toán</a:t>
            </a:r>
            <a:endParaRPr lang="en-US" sz="1600" b="0" u="none" strike="noStrike">
              <a:solidFill>
                <a:srgbClr val="000000"/>
              </a:solidFill>
              <a:effectLst/>
              <a:uFillTx/>
              <a:latin typeface="Arial"/>
            </a:endParaRPr>
          </a:p>
        </p:txBody>
      </p:sp>
      <p:sp>
        <p:nvSpPr>
          <p:cNvPr id="178" name="Text 5"/>
          <p:cNvSpPr/>
          <p:nvPr/>
        </p:nvSpPr>
        <p:spPr>
          <a:xfrm>
            <a:off x="868680" y="1947600"/>
            <a:ext cx="2889000" cy="12157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250" b="0" u="none" strike="noStrike">
                <a:solidFill>
                  <a:srgbClr val="1F2937"/>
                </a:solidFill>
                <a:effectLst/>
                <a:uFillTx/>
                <a:latin typeface="Arial"/>
              </a:rPr>
              <a:t>Hàng chục/hàng trăm web server liên tục sinh log. Ta cần gom dữ liệu ổn định, chịu lỗi và đẩy về HDFS/HBase.</a:t>
            </a:r>
            <a:endParaRPr lang="en-US" sz="1250" b="0" u="none" strike="noStrike">
              <a:solidFill>
                <a:srgbClr val="000000"/>
              </a:solidFill>
              <a:effectLst/>
              <a:uFillTx/>
              <a:latin typeface="Arial"/>
            </a:endParaRPr>
          </a:p>
        </p:txBody>
      </p:sp>
      <p:sp>
        <p:nvSpPr>
          <p:cNvPr id="179" name="Shape 6"/>
          <p:cNvSpPr/>
          <p:nvPr/>
        </p:nvSpPr>
        <p:spPr>
          <a:xfrm>
            <a:off x="4343400" y="1417320"/>
            <a:ext cx="3200040" cy="1874160"/>
          </a:xfrm>
          <a:prstGeom prst="roundRect">
            <a:avLst>
              <a:gd name="adj" fmla="val 2927"/>
            </a:avLst>
          </a:prstGeom>
          <a:solidFill>
            <a:srgbClr val="FFFFFF"/>
          </a:solidFill>
          <a:ln w="15240">
            <a:solidFill>
              <a:srgbClr val="D9E2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80" name="Shape 7"/>
          <p:cNvSpPr/>
          <p:nvPr/>
        </p:nvSpPr>
        <p:spPr>
          <a:xfrm>
            <a:off x="4343400" y="1417320"/>
            <a:ext cx="72720" cy="1874160"/>
          </a:xfrm>
          <a:prstGeom prst="rect">
            <a:avLst/>
          </a:prstGeom>
          <a:solidFill>
            <a:srgbClr val="1E88E5"/>
          </a:solidFill>
          <a:ln w="12700">
            <a:solidFill>
              <a:srgbClr val="1E88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81" name="Text 8"/>
          <p:cNvSpPr/>
          <p:nvPr/>
        </p:nvSpPr>
        <p:spPr>
          <a:xfrm>
            <a:off x="4526280" y="1563480"/>
            <a:ext cx="29073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6324F"/>
                </a:solidFill>
                <a:effectLst/>
                <a:uFillTx/>
                <a:latin typeface="Arial"/>
              </a:rPr>
              <a:t>Vai trò của Flume</a:t>
            </a:r>
            <a:endParaRPr lang="en-US" sz="1600" b="0" u="none" strike="noStrike">
              <a:solidFill>
                <a:srgbClr val="000000"/>
              </a:solidFill>
              <a:effectLst/>
              <a:uFillTx/>
              <a:latin typeface="Arial"/>
            </a:endParaRPr>
          </a:p>
        </p:txBody>
      </p:sp>
      <p:sp>
        <p:nvSpPr>
          <p:cNvPr id="182" name="Text 9"/>
          <p:cNvSpPr/>
          <p:nvPr/>
        </p:nvSpPr>
        <p:spPr>
          <a:xfrm>
            <a:off x="4526280" y="1947600"/>
            <a:ext cx="2889000" cy="12157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250" b="0" u="none" strike="noStrike">
                <a:solidFill>
                  <a:srgbClr val="1F2937"/>
                </a:solidFill>
                <a:effectLst/>
                <a:uFillTx/>
                <a:latin typeface="Arial"/>
              </a:rPr>
              <a:t>Chạy các agent gần nguồn dữ liệu, tiếp nhận event, đệm qua channel rồi chuyển sang sink.</a:t>
            </a:r>
            <a:endParaRPr lang="en-US" sz="1250" b="0" u="none" strike="noStrike">
              <a:solidFill>
                <a:srgbClr val="000000"/>
              </a:solidFill>
              <a:effectLst/>
              <a:uFillTx/>
              <a:latin typeface="Arial"/>
            </a:endParaRPr>
          </a:p>
        </p:txBody>
      </p:sp>
      <p:sp>
        <p:nvSpPr>
          <p:cNvPr id="183" name="Shape 10"/>
          <p:cNvSpPr/>
          <p:nvPr/>
        </p:nvSpPr>
        <p:spPr>
          <a:xfrm>
            <a:off x="8001000" y="1417320"/>
            <a:ext cx="3200040" cy="1874160"/>
          </a:xfrm>
          <a:prstGeom prst="roundRect">
            <a:avLst>
              <a:gd name="adj" fmla="val 2927"/>
            </a:avLst>
          </a:prstGeom>
          <a:solidFill>
            <a:srgbClr val="FFFFFF"/>
          </a:solidFill>
          <a:ln w="15240">
            <a:solidFill>
              <a:srgbClr val="D9E2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84" name="Shape 11"/>
          <p:cNvSpPr/>
          <p:nvPr/>
        </p:nvSpPr>
        <p:spPr>
          <a:xfrm>
            <a:off x="8001000" y="1417320"/>
            <a:ext cx="72720" cy="1874160"/>
          </a:xfrm>
          <a:prstGeom prst="rect">
            <a:avLst/>
          </a:prstGeom>
          <a:solidFill>
            <a:srgbClr val="2E7D32"/>
          </a:solidFill>
          <a:ln w="12700">
            <a:solidFill>
              <a:srgbClr val="2E7D3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85" name="Text 12"/>
          <p:cNvSpPr/>
          <p:nvPr/>
        </p:nvSpPr>
        <p:spPr>
          <a:xfrm>
            <a:off x="8183880" y="1563480"/>
            <a:ext cx="29073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6324F"/>
                </a:solidFill>
                <a:effectLst/>
                <a:uFillTx/>
                <a:latin typeface="Arial"/>
              </a:rPr>
              <a:t>Điểm mạnh</a:t>
            </a:r>
            <a:endParaRPr lang="en-US" sz="1600" b="0" u="none" strike="noStrike">
              <a:solidFill>
                <a:srgbClr val="000000"/>
              </a:solidFill>
              <a:effectLst/>
              <a:uFillTx/>
              <a:latin typeface="Arial"/>
            </a:endParaRPr>
          </a:p>
        </p:txBody>
      </p:sp>
      <p:sp>
        <p:nvSpPr>
          <p:cNvPr id="186" name="Text 13"/>
          <p:cNvSpPr/>
          <p:nvPr/>
        </p:nvSpPr>
        <p:spPr>
          <a:xfrm>
            <a:off x="8183880" y="1947600"/>
            <a:ext cx="2889000" cy="12157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220" b="0" u="none" strike="noStrike">
                <a:solidFill>
                  <a:srgbClr val="1F2937"/>
                </a:solidFill>
                <a:effectLst/>
                <a:uFillTx/>
                <a:latin typeface="Arial"/>
              </a:rPr>
              <a:t>Distributed • reliable • scalable. Channel giúp tách tốc độ “nhận” và “ghi”, hỗ trợ chống mất dữ liệu tùy cấu hình.</a:t>
            </a:r>
            <a:endParaRPr lang="en-US" sz="1220" b="0" u="none" strike="noStrike">
              <a:solidFill>
                <a:srgbClr val="000000"/>
              </a:solidFill>
              <a:effectLst/>
              <a:uFillTx/>
              <a:latin typeface="Arial"/>
            </a:endParaRPr>
          </a:p>
        </p:txBody>
      </p:sp>
      <p:sp>
        <p:nvSpPr>
          <p:cNvPr id="187" name="Shape 14"/>
          <p:cNvSpPr/>
          <p:nvPr/>
        </p:nvSpPr>
        <p:spPr>
          <a:xfrm>
            <a:off x="1188720" y="3977640"/>
            <a:ext cx="2285640" cy="840960"/>
          </a:xfrm>
          <a:prstGeom prst="roundRect">
            <a:avLst>
              <a:gd name="adj" fmla="val 16667"/>
            </a:avLst>
          </a:prstGeom>
          <a:solidFill>
            <a:srgbClr val="00A6A6"/>
          </a:solidFill>
          <a:ln w="12700">
            <a:solidFill>
              <a:srgbClr val="00A6A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88" name="Text 15"/>
          <p:cNvSpPr/>
          <p:nvPr/>
        </p:nvSpPr>
        <p:spPr>
          <a:xfrm>
            <a:off x="1298520" y="4251960"/>
            <a:ext cx="20660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rial"/>
              </a:rPr>
              <a:t>Web / App Logs</a:t>
            </a:r>
            <a:endParaRPr lang="en-US" sz="1400" b="0" u="none" strike="noStrike">
              <a:solidFill>
                <a:srgbClr val="000000"/>
              </a:solidFill>
              <a:effectLst/>
              <a:uFillTx/>
              <a:latin typeface="Arial"/>
            </a:endParaRPr>
          </a:p>
        </p:txBody>
      </p:sp>
      <p:sp>
        <p:nvSpPr>
          <p:cNvPr id="189" name="Shape 16"/>
          <p:cNvSpPr/>
          <p:nvPr/>
        </p:nvSpPr>
        <p:spPr>
          <a:xfrm>
            <a:off x="3474720" y="4398120"/>
            <a:ext cx="150876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90" name="Shape 17"/>
          <p:cNvSpPr/>
          <p:nvPr/>
        </p:nvSpPr>
        <p:spPr>
          <a:xfrm>
            <a:off x="4983480" y="3977640"/>
            <a:ext cx="2285640" cy="840960"/>
          </a:xfrm>
          <a:prstGeom prst="roundRect">
            <a:avLst>
              <a:gd name="adj" fmla="val 16667"/>
            </a:avLst>
          </a:prstGeom>
          <a:solidFill>
            <a:srgbClr val="1E88E5"/>
          </a:solidFill>
          <a:ln w="12700">
            <a:solidFill>
              <a:srgbClr val="1E88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91" name="Text 18"/>
          <p:cNvSpPr/>
          <p:nvPr/>
        </p:nvSpPr>
        <p:spPr>
          <a:xfrm>
            <a:off x="5093280" y="4251960"/>
            <a:ext cx="20660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rial"/>
              </a:rPr>
              <a:t>Flume Agent</a:t>
            </a:r>
            <a:endParaRPr lang="en-US" sz="1400" b="0" u="none" strike="noStrike">
              <a:solidFill>
                <a:srgbClr val="000000"/>
              </a:solidFill>
              <a:effectLst/>
              <a:uFillTx/>
              <a:latin typeface="Arial"/>
            </a:endParaRPr>
          </a:p>
        </p:txBody>
      </p:sp>
      <p:sp>
        <p:nvSpPr>
          <p:cNvPr id="192" name="Shape 19"/>
          <p:cNvSpPr/>
          <p:nvPr/>
        </p:nvSpPr>
        <p:spPr>
          <a:xfrm>
            <a:off x="7269480" y="4398120"/>
            <a:ext cx="150876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193" name="Shape 20"/>
          <p:cNvSpPr/>
          <p:nvPr/>
        </p:nvSpPr>
        <p:spPr>
          <a:xfrm>
            <a:off x="8778240" y="3977640"/>
            <a:ext cx="2285640" cy="840960"/>
          </a:xfrm>
          <a:prstGeom prst="roundRect">
            <a:avLst>
              <a:gd name="adj" fmla="val 16667"/>
            </a:avLst>
          </a:prstGeom>
          <a:solidFill>
            <a:srgbClr val="16324F"/>
          </a:solidFill>
          <a:ln w="12700">
            <a:solidFill>
              <a:srgbClr val="16324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94" name="Text 21"/>
          <p:cNvSpPr/>
          <p:nvPr/>
        </p:nvSpPr>
        <p:spPr>
          <a:xfrm>
            <a:off x="8888040" y="4251960"/>
            <a:ext cx="20660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rial"/>
              </a:rPr>
              <a:t>HDFS / HBase</a:t>
            </a:r>
            <a:endParaRPr lang="en-US" sz="1400" b="0" u="none" strike="noStrike">
              <a:solidFill>
                <a:srgbClr val="000000"/>
              </a:solidFill>
              <a:effectLst/>
              <a:uFillTx/>
              <a:latin typeface="Arial"/>
            </a:endParaRPr>
          </a:p>
        </p:txBody>
      </p:sp>
      <p:sp>
        <p:nvSpPr>
          <p:cNvPr id="195" name="Shape 22"/>
          <p:cNvSpPr/>
          <p:nvPr/>
        </p:nvSpPr>
        <p:spPr>
          <a:xfrm>
            <a:off x="567000" y="5230440"/>
            <a:ext cx="11018160" cy="566640"/>
          </a:xfrm>
          <a:prstGeom prst="roundRect">
            <a:avLst>
              <a:gd name="adj" fmla="val 9677"/>
            </a:avLst>
          </a:prstGeom>
          <a:solidFill>
            <a:srgbClr val="FFF7E6"/>
          </a:solidFill>
          <a:ln w="12700">
            <a:solidFill>
              <a:srgbClr val="F4C66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96" name="Text 23"/>
          <p:cNvSpPr/>
          <p:nvPr/>
        </p:nvSpPr>
        <p:spPr>
          <a:xfrm>
            <a:off x="749880" y="5385960"/>
            <a:ext cx="8226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a:solidFill>
                  <a:srgbClr val="A15C00"/>
                </a:solidFill>
                <a:effectLst/>
                <a:uFillTx/>
                <a:latin typeface="Arial"/>
              </a:rPr>
              <a:t>Giải thích</a:t>
            </a:r>
            <a:endParaRPr lang="en-US" sz="1100" b="0" u="none" strike="noStrike">
              <a:solidFill>
                <a:srgbClr val="000000"/>
              </a:solidFill>
              <a:effectLst/>
              <a:uFillTx/>
              <a:latin typeface="Arial"/>
            </a:endParaRPr>
          </a:p>
        </p:txBody>
      </p:sp>
      <p:sp>
        <p:nvSpPr>
          <p:cNvPr id="197" name="Text 24"/>
          <p:cNvSpPr/>
          <p:nvPr/>
        </p:nvSpPr>
        <p:spPr>
          <a:xfrm>
            <a:off x="1609200" y="5349240"/>
            <a:ext cx="97106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20" b="0" u="none" strike="noStrike">
                <a:solidFill>
                  <a:srgbClr val="6B4D1D"/>
                </a:solidFill>
                <a:effectLst/>
                <a:uFillTx/>
                <a:latin typeface="Arial"/>
              </a:rPr>
              <a:t>Flume không phải công cụ xử lý dữ liệu. Nó chủ yếu “thu gom và vận chuyển” event/log đến nơi lưu trữ hoặc hệ thống kế tiếp trong pipeline.</a:t>
            </a:r>
            <a:endParaRPr lang="en-US" sz="1120" b="0" u="none" strike="noStrike">
              <a:solidFill>
                <a:srgbClr val="000000"/>
              </a:solidFill>
              <a:effectLst/>
              <a:uFillTx/>
              <a:latin typeface="Arial"/>
            </a:endParaRPr>
          </a:p>
        </p:txBody>
      </p:sp>
      <p:sp>
        <p:nvSpPr>
          <p:cNvPr id="198" name="Text 25"/>
          <p:cNvSpPr/>
          <p:nvPr/>
        </p:nvSpPr>
        <p:spPr>
          <a:xfrm>
            <a:off x="585360" y="6364080"/>
            <a:ext cx="80463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i="1" u="none" strike="noStrike">
                <a:solidFill>
                  <a:srgbClr val="8793A1"/>
                </a:solidFill>
                <a:effectLst/>
                <a:uFillTx/>
                <a:latin typeface="Arial"/>
              </a:rPr>
              <a:t>Nguồn: tài liệu gốc slide 4–6; Apache Flume User Guide.</a:t>
            </a:r>
            <a:endParaRPr lang="en-US" sz="720" b="0" u="none" strike="noStrike">
              <a:solidFill>
                <a:srgbClr val="000000"/>
              </a:solidFill>
              <a:effectLst/>
              <a:uFillTx/>
              <a:latin typeface="Arial"/>
            </a:endParaRPr>
          </a:p>
        </p:txBody>
      </p:sp>
      <p:sp>
        <p:nvSpPr>
          <p:cNvPr id="199" name="PlaceHolder 1"/>
          <p:cNvSpPr>
            <a:spLocks noGrp="1"/>
          </p:cNvSpPr>
          <p:nvPr>
            <p:ph type="sldNum" idx="10"/>
          </p:nvPr>
        </p:nvSpPr>
        <p:spPr>
          <a:xfrm>
            <a:off x="11631240" y="6510600"/>
            <a:ext cx="255600" cy="200880"/>
          </a:xfrm>
          <a:prstGeom prst="rect">
            <a:avLst/>
          </a:prstGeom>
          <a:noFill/>
          <a:ln w="0">
            <a:noFill/>
          </a:ln>
        </p:spPr>
        <p:txBody>
          <a:bodyPr lIns="90000" tIns="45000" rIns="90000" bIns="45000" anchor="t">
            <a:noAutofit/>
          </a:bodyPr>
          <a:lstStyle>
            <a:lvl1pPr indent="0" algn="r" defTabSz="914400">
              <a:lnSpc>
                <a:spcPct val="100000"/>
              </a:lnSpc>
              <a:buNone/>
              <a:defRPr lang="en-US" sz="800" b="0" u="none" strike="noStrike">
                <a:solidFill>
                  <a:srgbClr val="7A8797"/>
                </a:solidFill>
                <a:effectLst/>
                <a:uFillTx/>
                <a:latin typeface="Arial"/>
                <a:ea typeface="Arial"/>
              </a:defRPr>
            </a:lvl1pPr>
          </a:lstStyle>
          <a:p>
            <a:pPr indent="0" algn="r" defTabSz="914400">
              <a:lnSpc>
                <a:spcPct val="100000"/>
              </a:lnSpc>
              <a:buNone/>
            </a:pPr>
            <a:fld id="{DD66A0BD-B7E7-48F1-AB0E-27E46EC4DA45}" type="slidenum">
              <a:rPr lang="en-US" sz="800" b="0" u="none" strike="noStrike">
                <a:solidFill>
                  <a:srgbClr val="7A8797"/>
                </a:solidFill>
                <a:effectLst/>
                <a:uFillTx/>
                <a:latin typeface="Arial"/>
                <a:ea typeface="Arial"/>
              </a:rPr>
              <a:t>6</a:t>
            </a:fld>
            <a:endParaRPr lang="en-US" sz="800" b="0" u="none" strike="noStrike">
              <a:solidFill>
                <a:srgbClr val="000000"/>
              </a:solidFill>
              <a:effectLst/>
              <a:uFillTx/>
              <a:latin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Text 0"/>
          <p:cNvSpPr/>
          <p:nvPr/>
        </p:nvSpPr>
        <p:spPr>
          <a:xfrm>
            <a:off x="548640" y="329040"/>
            <a:ext cx="1106388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700" b="1" u="none" strike="noStrike">
                <a:solidFill>
                  <a:srgbClr val="16324F"/>
                </a:solidFill>
                <a:effectLst/>
                <a:uFillTx/>
                <a:latin typeface="Arial"/>
                <a:ea typeface="Arial"/>
              </a:rPr>
              <a:t>6. Flume Agent hoạt động như thế nào?</a:t>
            </a:r>
            <a:endParaRPr lang="en-US" sz="2700" b="0" u="none" strike="noStrike">
              <a:solidFill>
                <a:srgbClr val="000000"/>
              </a:solidFill>
              <a:effectLst/>
              <a:uFillTx/>
              <a:latin typeface="Arial"/>
            </a:endParaRPr>
          </a:p>
        </p:txBody>
      </p:sp>
      <p:sp>
        <p:nvSpPr>
          <p:cNvPr id="201" name="Text 1"/>
          <p:cNvSpPr/>
          <p:nvPr/>
        </p:nvSpPr>
        <p:spPr>
          <a:xfrm>
            <a:off x="567000" y="841320"/>
            <a:ext cx="109724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0" u="none" strike="noStrike">
                <a:solidFill>
                  <a:srgbClr val="5F6B7A"/>
                </a:solidFill>
                <a:effectLst/>
                <a:uFillTx/>
                <a:latin typeface="Arial"/>
                <a:ea typeface="Arial"/>
              </a:rPr>
              <a:t>Một agent gồm 3 thành phần cốt lõi: Source → Channel → Sink.</a:t>
            </a:r>
            <a:endParaRPr lang="en-US" sz="1250" b="0" u="none" strike="noStrike">
              <a:solidFill>
                <a:srgbClr val="000000"/>
              </a:solidFill>
              <a:effectLst/>
              <a:uFillTx/>
              <a:latin typeface="Arial"/>
            </a:endParaRPr>
          </a:p>
        </p:txBody>
      </p:sp>
      <p:sp>
        <p:nvSpPr>
          <p:cNvPr id="202" name="Shape 2"/>
          <p:cNvSpPr/>
          <p:nvPr/>
        </p:nvSpPr>
        <p:spPr>
          <a:xfrm>
            <a:off x="822960" y="1645920"/>
            <a:ext cx="2788560" cy="1462680"/>
          </a:xfrm>
          <a:prstGeom prst="roundRect">
            <a:avLst>
              <a:gd name="adj" fmla="val 16667"/>
            </a:avLst>
          </a:prstGeom>
          <a:solidFill>
            <a:srgbClr val="00A6A6"/>
          </a:solidFill>
          <a:ln w="12700">
            <a:solidFill>
              <a:srgbClr val="00A6A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03" name="Text 3"/>
          <p:cNvSpPr/>
          <p:nvPr/>
        </p:nvSpPr>
        <p:spPr>
          <a:xfrm>
            <a:off x="914400" y="1901880"/>
            <a:ext cx="26056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FFFFFF"/>
                </a:solidFill>
                <a:effectLst/>
                <a:uFillTx/>
                <a:latin typeface="Arial"/>
              </a:rPr>
              <a:t>SOURCE</a:t>
            </a:r>
            <a:endParaRPr lang="en-US" sz="1800" b="0" u="none" strike="noStrike">
              <a:solidFill>
                <a:srgbClr val="000000"/>
              </a:solidFill>
              <a:effectLst/>
              <a:uFillTx/>
              <a:latin typeface="Arial"/>
            </a:endParaRPr>
          </a:p>
        </p:txBody>
      </p:sp>
      <p:sp>
        <p:nvSpPr>
          <p:cNvPr id="204" name="Text 4"/>
          <p:cNvSpPr/>
          <p:nvPr/>
        </p:nvSpPr>
        <p:spPr>
          <a:xfrm>
            <a:off x="987480" y="2286000"/>
            <a:ext cx="246852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00" b="0" u="none" strike="noStrike">
                <a:solidFill>
                  <a:srgbClr val="F4F7FB"/>
                </a:solidFill>
                <a:effectLst/>
                <a:uFillTx/>
                <a:latin typeface="Arial"/>
              </a:rPr>
              <a:t>Nhận event từ nguồn</a:t>
            </a:r>
            <a:endParaRPr lang="en-US" sz="1100" b="0" u="none" strike="noStrike">
              <a:solidFill>
                <a:srgbClr val="000000"/>
              </a:solidFill>
              <a:effectLst/>
              <a:uFillTx/>
              <a:latin typeface="Arial"/>
            </a:endParaRPr>
          </a:p>
          <a:p>
            <a:pPr algn="ctr" defTabSz="914400">
              <a:lnSpc>
                <a:spcPct val="100000"/>
              </a:lnSpc>
              <a:tabLst>
                <a:tab pos="0" algn="l"/>
              </a:tabLst>
            </a:pPr>
            <a:r>
              <a:rPr lang="en-US" sz="1100" b="0" u="none" strike="noStrike">
                <a:solidFill>
                  <a:srgbClr val="F4F7FB"/>
                </a:solidFill>
                <a:effectLst/>
                <a:uFillTx/>
                <a:latin typeface="Arial"/>
              </a:rPr>
              <a:t>(exec, spooldir, netcat, Kafka...)</a:t>
            </a:r>
            <a:endParaRPr lang="en-US" sz="1100" b="0" u="none" strike="noStrike">
              <a:solidFill>
                <a:srgbClr val="000000"/>
              </a:solidFill>
              <a:effectLst/>
              <a:uFillTx/>
              <a:latin typeface="Arial"/>
            </a:endParaRPr>
          </a:p>
        </p:txBody>
      </p:sp>
      <p:sp>
        <p:nvSpPr>
          <p:cNvPr id="205" name="Shape 5"/>
          <p:cNvSpPr/>
          <p:nvPr/>
        </p:nvSpPr>
        <p:spPr>
          <a:xfrm>
            <a:off x="3611880" y="2377440"/>
            <a:ext cx="640080" cy="360"/>
          </a:xfrm>
          <a:prstGeom prst="line">
            <a:avLst/>
          </a:prstGeom>
          <a:ln w="25400">
            <a:solidFill>
              <a:srgbClr val="8DA0B6"/>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06" name="Shape 6"/>
          <p:cNvSpPr/>
          <p:nvPr/>
        </p:nvSpPr>
        <p:spPr>
          <a:xfrm>
            <a:off x="4251960" y="1645920"/>
            <a:ext cx="2788560" cy="1462680"/>
          </a:xfrm>
          <a:prstGeom prst="roundRect">
            <a:avLst>
              <a:gd name="adj" fmla="val 16667"/>
            </a:avLst>
          </a:prstGeom>
          <a:solidFill>
            <a:srgbClr val="F59E0B"/>
          </a:solidFill>
          <a:ln w="12700">
            <a:solidFill>
              <a:srgbClr val="F59E0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7" name="Text 7"/>
          <p:cNvSpPr/>
          <p:nvPr/>
        </p:nvSpPr>
        <p:spPr>
          <a:xfrm>
            <a:off x="4343400" y="1901880"/>
            <a:ext cx="26056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FFFFFF"/>
                </a:solidFill>
                <a:effectLst/>
                <a:uFillTx/>
                <a:latin typeface="Arial"/>
              </a:rPr>
              <a:t>CHANNEL</a:t>
            </a:r>
            <a:endParaRPr lang="en-US" sz="1800" b="0" u="none" strike="noStrike">
              <a:solidFill>
                <a:srgbClr val="000000"/>
              </a:solidFill>
              <a:effectLst/>
              <a:uFillTx/>
              <a:latin typeface="Arial"/>
            </a:endParaRPr>
          </a:p>
        </p:txBody>
      </p:sp>
      <p:sp>
        <p:nvSpPr>
          <p:cNvPr id="208" name="Text 8"/>
          <p:cNvSpPr/>
          <p:nvPr/>
        </p:nvSpPr>
        <p:spPr>
          <a:xfrm>
            <a:off x="4416480" y="2286000"/>
            <a:ext cx="246852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00" b="0" u="none" strike="noStrike">
                <a:solidFill>
                  <a:srgbClr val="F4F7FB"/>
                </a:solidFill>
                <a:effectLst/>
                <a:uFillTx/>
                <a:latin typeface="Arial"/>
              </a:rPr>
              <a:t>Bộ đệm trung gian</a:t>
            </a:r>
            <a:endParaRPr lang="en-US" sz="1100" b="0" u="none" strike="noStrike">
              <a:solidFill>
                <a:srgbClr val="000000"/>
              </a:solidFill>
              <a:effectLst/>
              <a:uFillTx/>
              <a:latin typeface="Arial"/>
            </a:endParaRPr>
          </a:p>
          <a:p>
            <a:pPr algn="ctr" defTabSz="914400">
              <a:lnSpc>
                <a:spcPct val="100000"/>
              </a:lnSpc>
              <a:tabLst>
                <a:tab pos="0" algn="l"/>
              </a:tabLst>
            </a:pPr>
            <a:r>
              <a:rPr lang="en-US" sz="1100" b="0" u="none" strike="noStrike">
                <a:solidFill>
                  <a:srgbClr val="F4F7FB"/>
                </a:solidFill>
                <a:effectLst/>
                <a:uFillTx/>
                <a:latin typeface="Arial"/>
              </a:rPr>
              <a:t>Memory Channel hoặc File Channel</a:t>
            </a:r>
            <a:endParaRPr lang="en-US" sz="1100" b="0" u="none" strike="noStrike">
              <a:solidFill>
                <a:srgbClr val="000000"/>
              </a:solidFill>
              <a:effectLst/>
              <a:uFillTx/>
              <a:latin typeface="Arial"/>
            </a:endParaRPr>
          </a:p>
        </p:txBody>
      </p:sp>
      <p:sp>
        <p:nvSpPr>
          <p:cNvPr id="209" name="Shape 9"/>
          <p:cNvSpPr/>
          <p:nvPr/>
        </p:nvSpPr>
        <p:spPr>
          <a:xfrm>
            <a:off x="7040880" y="2377440"/>
            <a:ext cx="640080" cy="360"/>
          </a:xfrm>
          <a:prstGeom prst="line">
            <a:avLst/>
          </a:prstGeom>
          <a:ln w="25400">
            <a:solidFill>
              <a:srgbClr val="8DA0B6"/>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10" name="Shape 10"/>
          <p:cNvSpPr/>
          <p:nvPr/>
        </p:nvSpPr>
        <p:spPr>
          <a:xfrm>
            <a:off x="7680960" y="1645920"/>
            <a:ext cx="2788560" cy="1462680"/>
          </a:xfrm>
          <a:prstGeom prst="roundRect">
            <a:avLst>
              <a:gd name="adj" fmla="val 16667"/>
            </a:avLst>
          </a:prstGeom>
          <a:solidFill>
            <a:srgbClr val="1E88E5"/>
          </a:solidFill>
          <a:ln w="12700">
            <a:solidFill>
              <a:srgbClr val="1E88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11" name="Text 11"/>
          <p:cNvSpPr/>
          <p:nvPr/>
        </p:nvSpPr>
        <p:spPr>
          <a:xfrm>
            <a:off x="7772400" y="1901880"/>
            <a:ext cx="26056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u="none" strike="noStrike">
                <a:solidFill>
                  <a:srgbClr val="FFFFFF"/>
                </a:solidFill>
                <a:effectLst/>
                <a:uFillTx/>
                <a:latin typeface="Arial"/>
              </a:rPr>
              <a:t>SINK</a:t>
            </a:r>
            <a:endParaRPr lang="en-US" sz="1800" b="0" u="none" strike="noStrike">
              <a:solidFill>
                <a:srgbClr val="000000"/>
              </a:solidFill>
              <a:effectLst/>
              <a:uFillTx/>
              <a:latin typeface="Arial"/>
            </a:endParaRPr>
          </a:p>
        </p:txBody>
      </p:sp>
      <p:sp>
        <p:nvSpPr>
          <p:cNvPr id="212" name="Text 12"/>
          <p:cNvSpPr/>
          <p:nvPr/>
        </p:nvSpPr>
        <p:spPr>
          <a:xfrm>
            <a:off x="7845480" y="2286000"/>
            <a:ext cx="246852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00" b="0" u="none" strike="noStrike">
                <a:solidFill>
                  <a:srgbClr val="F4F7FB"/>
                </a:solidFill>
                <a:effectLst/>
                <a:uFillTx/>
                <a:latin typeface="Arial"/>
              </a:rPr>
              <a:t>Đọc event từ channel</a:t>
            </a:r>
            <a:endParaRPr lang="en-US" sz="1100" b="0" u="none" strike="noStrike">
              <a:solidFill>
                <a:srgbClr val="000000"/>
              </a:solidFill>
              <a:effectLst/>
              <a:uFillTx/>
              <a:latin typeface="Arial"/>
            </a:endParaRPr>
          </a:p>
          <a:p>
            <a:pPr algn="ctr" defTabSz="914400">
              <a:lnSpc>
                <a:spcPct val="100000"/>
              </a:lnSpc>
              <a:tabLst>
                <a:tab pos="0" algn="l"/>
              </a:tabLst>
            </a:pPr>
            <a:r>
              <a:rPr lang="en-US" sz="1100" b="0" u="none" strike="noStrike">
                <a:solidFill>
                  <a:srgbClr val="F4F7FB"/>
                </a:solidFill>
                <a:effectLst/>
                <a:uFillTx/>
                <a:latin typeface="Arial"/>
              </a:rPr>
              <a:t>và ghi ra HDFS/HBase/Kafka</a:t>
            </a:r>
            <a:endParaRPr lang="en-US" sz="1100" b="0" u="none" strike="noStrike">
              <a:solidFill>
                <a:srgbClr val="000000"/>
              </a:solidFill>
              <a:effectLst/>
              <a:uFillTx/>
              <a:latin typeface="Arial"/>
            </a:endParaRPr>
          </a:p>
        </p:txBody>
      </p:sp>
      <p:sp>
        <p:nvSpPr>
          <p:cNvPr id="213" name="Shape 13"/>
          <p:cNvSpPr/>
          <p:nvPr/>
        </p:nvSpPr>
        <p:spPr>
          <a:xfrm>
            <a:off x="868680" y="3703320"/>
            <a:ext cx="3245760" cy="1325520"/>
          </a:xfrm>
          <a:prstGeom prst="roundRect">
            <a:avLst>
              <a:gd name="adj" fmla="val 4138"/>
            </a:avLst>
          </a:prstGeom>
          <a:solidFill>
            <a:srgbClr val="FFFFFF"/>
          </a:solidFill>
          <a:ln w="15240">
            <a:solidFill>
              <a:srgbClr val="D9E2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14" name="Shape 14"/>
          <p:cNvSpPr/>
          <p:nvPr/>
        </p:nvSpPr>
        <p:spPr>
          <a:xfrm>
            <a:off x="868680" y="3703320"/>
            <a:ext cx="72720" cy="1325520"/>
          </a:xfrm>
          <a:prstGeom prst="rect">
            <a:avLst/>
          </a:prstGeom>
          <a:solidFill>
            <a:srgbClr val="00A6A6"/>
          </a:solidFill>
          <a:ln w="12700">
            <a:solidFill>
              <a:srgbClr val="00A6A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15" name="Text 15"/>
          <p:cNvSpPr/>
          <p:nvPr/>
        </p:nvSpPr>
        <p:spPr>
          <a:xfrm>
            <a:off x="1051560" y="3849480"/>
            <a:ext cx="29530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6324F"/>
                </a:solidFill>
                <a:effectLst/>
                <a:uFillTx/>
                <a:latin typeface="Arial"/>
              </a:rPr>
              <a:t>Transaction 1</a:t>
            </a:r>
            <a:endParaRPr lang="en-US" sz="1600" b="0" u="none" strike="noStrike">
              <a:solidFill>
                <a:srgbClr val="000000"/>
              </a:solidFill>
              <a:effectLst/>
              <a:uFillTx/>
              <a:latin typeface="Arial"/>
            </a:endParaRPr>
          </a:p>
        </p:txBody>
      </p:sp>
      <p:sp>
        <p:nvSpPr>
          <p:cNvPr id="216" name="Text 16"/>
          <p:cNvSpPr/>
          <p:nvPr/>
        </p:nvSpPr>
        <p:spPr>
          <a:xfrm>
            <a:off x="1051560" y="4233600"/>
            <a:ext cx="2934720" cy="667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160" b="0" u="none" strike="noStrike">
                <a:solidFill>
                  <a:srgbClr val="1F2937"/>
                </a:solidFill>
                <a:effectLst/>
                <a:uFillTx/>
                <a:latin typeface="Arial"/>
              </a:rPr>
              <a:t>Source ghi event vào Channel theo transaction. Chỉ commit khi ghi thành công.</a:t>
            </a:r>
            <a:endParaRPr lang="en-US" sz="1160" b="0" u="none" strike="noStrike">
              <a:solidFill>
                <a:srgbClr val="000000"/>
              </a:solidFill>
              <a:effectLst/>
              <a:uFillTx/>
              <a:latin typeface="Arial"/>
            </a:endParaRPr>
          </a:p>
        </p:txBody>
      </p:sp>
      <p:sp>
        <p:nvSpPr>
          <p:cNvPr id="217" name="Shape 17"/>
          <p:cNvSpPr/>
          <p:nvPr/>
        </p:nvSpPr>
        <p:spPr>
          <a:xfrm>
            <a:off x="4480560" y="3703320"/>
            <a:ext cx="3245760" cy="1325520"/>
          </a:xfrm>
          <a:prstGeom prst="roundRect">
            <a:avLst>
              <a:gd name="adj" fmla="val 4138"/>
            </a:avLst>
          </a:prstGeom>
          <a:solidFill>
            <a:srgbClr val="FFFFFF"/>
          </a:solidFill>
          <a:ln w="15240">
            <a:solidFill>
              <a:srgbClr val="D9E2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18" name="Shape 18"/>
          <p:cNvSpPr/>
          <p:nvPr/>
        </p:nvSpPr>
        <p:spPr>
          <a:xfrm>
            <a:off x="4480560" y="3703320"/>
            <a:ext cx="72720" cy="1325520"/>
          </a:xfrm>
          <a:prstGeom prst="rect">
            <a:avLst/>
          </a:prstGeom>
          <a:solidFill>
            <a:srgbClr val="F59E0B"/>
          </a:solidFill>
          <a:ln w="12700">
            <a:solidFill>
              <a:srgbClr val="F59E0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19" name="Text 19"/>
          <p:cNvSpPr/>
          <p:nvPr/>
        </p:nvSpPr>
        <p:spPr>
          <a:xfrm>
            <a:off x="4663440" y="3849480"/>
            <a:ext cx="29530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6324F"/>
                </a:solidFill>
                <a:effectLst/>
                <a:uFillTx/>
                <a:latin typeface="Arial"/>
              </a:rPr>
              <a:t>Transaction 2</a:t>
            </a:r>
            <a:endParaRPr lang="en-US" sz="1600" b="0" u="none" strike="noStrike">
              <a:solidFill>
                <a:srgbClr val="000000"/>
              </a:solidFill>
              <a:effectLst/>
              <a:uFillTx/>
              <a:latin typeface="Arial"/>
            </a:endParaRPr>
          </a:p>
        </p:txBody>
      </p:sp>
      <p:sp>
        <p:nvSpPr>
          <p:cNvPr id="220" name="Text 20"/>
          <p:cNvSpPr/>
          <p:nvPr/>
        </p:nvSpPr>
        <p:spPr>
          <a:xfrm>
            <a:off x="4663440" y="4233600"/>
            <a:ext cx="2934720" cy="667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160" b="0" u="none" strike="noStrike">
                <a:solidFill>
                  <a:srgbClr val="1F2937"/>
                </a:solidFill>
                <a:effectLst/>
                <a:uFillTx/>
                <a:latin typeface="Arial"/>
              </a:rPr>
              <a:t>Sink lấy event từ Channel và ghi đến đích. Chỉ xóa event sau khi commit.</a:t>
            </a:r>
            <a:endParaRPr lang="en-US" sz="1160" b="0" u="none" strike="noStrike">
              <a:solidFill>
                <a:srgbClr val="000000"/>
              </a:solidFill>
              <a:effectLst/>
              <a:uFillTx/>
              <a:latin typeface="Arial"/>
            </a:endParaRPr>
          </a:p>
        </p:txBody>
      </p:sp>
      <p:sp>
        <p:nvSpPr>
          <p:cNvPr id="221" name="Shape 21"/>
          <p:cNvSpPr/>
          <p:nvPr/>
        </p:nvSpPr>
        <p:spPr>
          <a:xfrm>
            <a:off x="8092440" y="3703320"/>
            <a:ext cx="3245760" cy="1325520"/>
          </a:xfrm>
          <a:prstGeom prst="roundRect">
            <a:avLst>
              <a:gd name="adj" fmla="val 4138"/>
            </a:avLst>
          </a:prstGeom>
          <a:solidFill>
            <a:srgbClr val="FFFFFF"/>
          </a:solidFill>
          <a:ln w="15240">
            <a:solidFill>
              <a:srgbClr val="D9E2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2" name="Shape 22"/>
          <p:cNvSpPr/>
          <p:nvPr/>
        </p:nvSpPr>
        <p:spPr>
          <a:xfrm>
            <a:off x="8092440" y="3703320"/>
            <a:ext cx="72720" cy="1325520"/>
          </a:xfrm>
          <a:prstGeom prst="rect">
            <a:avLst/>
          </a:prstGeom>
          <a:solidFill>
            <a:srgbClr val="1E88E5"/>
          </a:solidFill>
          <a:ln w="12700">
            <a:solidFill>
              <a:srgbClr val="1E88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23" name="Text 23"/>
          <p:cNvSpPr/>
          <p:nvPr/>
        </p:nvSpPr>
        <p:spPr>
          <a:xfrm>
            <a:off x="8275320" y="3849480"/>
            <a:ext cx="29530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6324F"/>
                </a:solidFill>
                <a:effectLst/>
                <a:uFillTx/>
                <a:latin typeface="Arial"/>
              </a:rPr>
              <a:t>Ý nghĩa</a:t>
            </a:r>
            <a:endParaRPr lang="en-US" sz="1600" b="0" u="none" strike="noStrike">
              <a:solidFill>
                <a:srgbClr val="000000"/>
              </a:solidFill>
              <a:effectLst/>
              <a:uFillTx/>
              <a:latin typeface="Arial"/>
            </a:endParaRPr>
          </a:p>
        </p:txBody>
      </p:sp>
      <p:sp>
        <p:nvSpPr>
          <p:cNvPr id="224" name="Text 24"/>
          <p:cNvSpPr/>
          <p:nvPr/>
        </p:nvSpPr>
        <p:spPr>
          <a:xfrm>
            <a:off x="8275320" y="4233600"/>
            <a:ext cx="2934720" cy="667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160" b="0" u="none" strike="noStrike">
                <a:solidFill>
                  <a:srgbClr val="1F2937"/>
                </a:solidFill>
                <a:effectLst/>
                <a:uFillTx/>
                <a:latin typeface="Arial"/>
              </a:rPr>
              <a:t>Nếu sink tạm lỗi, event có thể vẫn nằm trong Channel và được retry.</a:t>
            </a:r>
            <a:endParaRPr lang="en-US" sz="1160" b="0" u="none" strike="noStrike">
              <a:solidFill>
                <a:srgbClr val="000000"/>
              </a:solidFill>
              <a:effectLst/>
              <a:uFillTx/>
              <a:latin typeface="Arial"/>
            </a:endParaRPr>
          </a:p>
        </p:txBody>
      </p:sp>
      <p:sp>
        <p:nvSpPr>
          <p:cNvPr id="225" name="Shape 25"/>
          <p:cNvSpPr/>
          <p:nvPr/>
        </p:nvSpPr>
        <p:spPr>
          <a:xfrm>
            <a:off x="567000" y="5257800"/>
            <a:ext cx="11018160" cy="566640"/>
          </a:xfrm>
          <a:prstGeom prst="roundRect">
            <a:avLst>
              <a:gd name="adj" fmla="val 9677"/>
            </a:avLst>
          </a:prstGeom>
          <a:solidFill>
            <a:srgbClr val="FFF7E6"/>
          </a:solidFill>
          <a:ln w="12700">
            <a:solidFill>
              <a:srgbClr val="F4C66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6" name="Text 26"/>
          <p:cNvSpPr/>
          <p:nvPr/>
        </p:nvSpPr>
        <p:spPr>
          <a:xfrm>
            <a:off x="749880" y="5413320"/>
            <a:ext cx="8226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a:solidFill>
                  <a:srgbClr val="A15C00"/>
                </a:solidFill>
                <a:effectLst/>
                <a:uFillTx/>
                <a:latin typeface="Arial"/>
              </a:rPr>
              <a:t>Giải thích</a:t>
            </a:r>
            <a:endParaRPr lang="en-US" sz="1100" b="0" u="none" strike="noStrike">
              <a:solidFill>
                <a:srgbClr val="000000"/>
              </a:solidFill>
              <a:effectLst/>
              <a:uFillTx/>
              <a:latin typeface="Arial"/>
            </a:endParaRPr>
          </a:p>
        </p:txBody>
      </p:sp>
      <p:sp>
        <p:nvSpPr>
          <p:cNvPr id="227" name="Text 27"/>
          <p:cNvSpPr/>
          <p:nvPr/>
        </p:nvSpPr>
        <p:spPr>
          <a:xfrm>
            <a:off x="1609200" y="5376600"/>
            <a:ext cx="97106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20" b="0" u="none" strike="noStrike">
                <a:solidFill>
                  <a:srgbClr val="6B4D1D"/>
                </a:solidFill>
                <a:effectLst/>
                <a:uFillTx/>
                <a:latin typeface="Arial"/>
              </a:rPr>
              <a:t>Channel là điểm then chốt của Flume: Memory Channel nhanh hơn nhưng kém bền vững; File Channel chậm hơn nhưng ưu tiên độ tin cậy.</a:t>
            </a:r>
            <a:endParaRPr lang="en-US" sz="1120" b="0" u="none" strike="noStrike">
              <a:solidFill>
                <a:srgbClr val="000000"/>
              </a:solidFill>
              <a:effectLst/>
              <a:uFillTx/>
              <a:latin typeface="Arial"/>
            </a:endParaRPr>
          </a:p>
        </p:txBody>
      </p:sp>
      <p:sp>
        <p:nvSpPr>
          <p:cNvPr id="228" name="PlaceHolder 1"/>
          <p:cNvSpPr>
            <a:spLocks noGrp="1"/>
          </p:cNvSpPr>
          <p:nvPr>
            <p:ph type="sldNum" idx="11"/>
          </p:nvPr>
        </p:nvSpPr>
        <p:spPr>
          <a:xfrm>
            <a:off x="11631240" y="6510600"/>
            <a:ext cx="255600" cy="200880"/>
          </a:xfrm>
          <a:prstGeom prst="rect">
            <a:avLst/>
          </a:prstGeom>
          <a:noFill/>
          <a:ln w="0">
            <a:noFill/>
          </a:ln>
        </p:spPr>
        <p:txBody>
          <a:bodyPr lIns="90000" tIns="45000" rIns="90000" bIns="45000" anchor="t">
            <a:noAutofit/>
          </a:bodyPr>
          <a:lstStyle>
            <a:lvl1pPr indent="0" algn="r" defTabSz="914400">
              <a:lnSpc>
                <a:spcPct val="100000"/>
              </a:lnSpc>
              <a:buNone/>
              <a:defRPr lang="en-US" sz="800" b="0" u="none" strike="noStrike">
                <a:solidFill>
                  <a:srgbClr val="7A8797"/>
                </a:solidFill>
                <a:effectLst/>
                <a:uFillTx/>
                <a:latin typeface="Arial"/>
                <a:ea typeface="Arial"/>
              </a:defRPr>
            </a:lvl1pPr>
          </a:lstStyle>
          <a:p>
            <a:pPr indent="0" algn="r" defTabSz="914400">
              <a:lnSpc>
                <a:spcPct val="100000"/>
              </a:lnSpc>
              <a:buNone/>
            </a:pPr>
            <a:fld id="{A3D1F51A-2ED0-417D-93AC-7A0D90282B2E}" type="slidenum">
              <a:rPr lang="en-US" sz="800" b="0" u="none" strike="noStrike">
                <a:solidFill>
                  <a:srgbClr val="7A8797"/>
                </a:solidFill>
                <a:effectLst/>
                <a:uFillTx/>
                <a:latin typeface="Arial"/>
                <a:ea typeface="Arial"/>
              </a:rPr>
              <a:t>7</a:t>
            </a:fld>
            <a:endParaRPr lang="en-US" sz="800" b="0" u="none" strike="noStrike">
              <a:solidFill>
                <a:srgbClr val="000000"/>
              </a:solidFill>
              <a:effectLst/>
              <a:uFillTx/>
              <a:latin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Text 0"/>
          <p:cNvSpPr/>
          <p:nvPr/>
        </p:nvSpPr>
        <p:spPr>
          <a:xfrm>
            <a:off x="548640" y="329040"/>
            <a:ext cx="1106388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700" b="1" u="none" strike="noStrike">
                <a:solidFill>
                  <a:srgbClr val="16324F"/>
                </a:solidFill>
                <a:effectLst/>
                <a:uFillTx/>
                <a:latin typeface="Arial"/>
                <a:ea typeface="Arial"/>
              </a:rPr>
              <a:t>7. Kafka — nền tảng event streaming cho ingestion hiện đại</a:t>
            </a:r>
            <a:endParaRPr lang="en-US" sz="2700" b="0" u="none" strike="noStrike">
              <a:solidFill>
                <a:srgbClr val="000000"/>
              </a:solidFill>
              <a:effectLst/>
              <a:uFillTx/>
              <a:latin typeface="Arial"/>
            </a:endParaRPr>
          </a:p>
        </p:txBody>
      </p:sp>
      <p:sp>
        <p:nvSpPr>
          <p:cNvPr id="230" name="Text 1"/>
          <p:cNvSpPr/>
          <p:nvPr/>
        </p:nvSpPr>
        <p:spPr>
          <a:xfrm>
            <a:off x="567000" y="841320"/>
            <a:ext cx="109724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0" u="none" strike="noStrike">
                <a:solidFill>
                  <a:srgbClr val="5F6B7A"/>
                </a:solidFill>
                <a:effectLst/>
                <a:uFillTx/>
                <a:latin typeface="Arial"/>
                <a:ea typeface="Arial"/>
              </a:rPr>
              <a:t>Kafka cho phép ghi, lưu và đọc luồng sự kiện phân tán với throughput cao.</a:t>
            </a:r>
            <a:endParaRPr lang="en-US" sz="1250" b="0" u="none" strike="noStrike">
              <a:solidFill>
                <a:srgbClr val="000000"/>
              </a:solidFill>
              <a:effectLst/>
              <a:uFillTx/>
              <a:latin typeface="Arial"/>
            </a:endParaRPr>
          </a:p>
        </p:txBody>
      </p:sp>
      <p:sp>
        <p:nvSpPr>
          <p:cNvPr id="231" name="Shape 2"/>
          <p:cNvSpPr/>
          <p:nvPr/>
        </p:nvSpPr>
        <p:spPr>
          <a:xfrm>
            <a:off x="731520" y="1920240"/>
            <a:ext cx="1874160" cy="914040"/>
          </a:xfrm>
          <a:prstGeom prst="roundRect">
            <a:avLst>
              <a:gd name="adj" fmla="val 16667"/>
            </a:avLst>
          </a:prstGeom>
          <a:solidFill>
            <a:srgbClr val="00A6A6"/>
          </a:solidFill>
          <a:ln w="12700">
            <a:solidFill>
              <a:srgbClr val="00A6A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32" name="Text 3"/>
          <p:cNvSpPr/>
          <p:nvPr/>
        </p:nvSpPr>
        <p:spPr>
          <a:xfrm>
            <a:off x="868680" y="2130480"/>
            <a:ext cx="159984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FFFFFF"/>
                </a:solidFill>
                <a:effectLst/>
                <a:uFillTx/>
                <a:latin typeface="Arial"/>
              </a:rPr>
              <a:t>PRODUCERS</a:t>
            </a:r>
            <a:endParaRPr lang="en-US" sz="1300" b="0" u="none" strike="noStrike">
              <a:solidFill>
                <a:srgbClr val="000000"/>
              </a:solidFill>
              <a:effectLst/>
              <a:uFillTx/>
              <a:latin typeface="Arial"/>
            </a:endParaRPr>
          </a:p>
          <a:p>
            <a:pPr algn="ctr" defTabSz="914400">
              <a:lnSpc>
                <a:spcPct val="100000"/>
              </a:lnSpc>
              <a:tabLst>
                <a:tab pos="0" algn="l"/>
              </a:tabLst>
            </a:pPr>
            <a:r>
              <a:rPr lang="en-US" sz="1300" b="1" u="none" strike="noStrike">
                <a:solidFill>
                  <a:srgbClr val="FFFFFF"/>
                </a:solidFill>
                <a:effectLst/>
                <a:uFillTx/>
                <a:latin typeface="Arial"/>
              </a:rPr>
              <a:t>App • IoT • Logs</a:t>
            </a:r>
            <a:endParaRPr lang="en-US" sz="1300" b="0" u="none" strike="noStrike">
              <a:solidFill>
                <a:srgbClr val="000000"/>
              </a:solidFill>
              <a:effectLst/>
              <a:uFillTx/>
              <a:latin typeface="Arial"/>
            </a:endParaRPr>
          </a:p>
        </p:txBody>
      </p:sp>
      <p:sp>
        <p:nvSpPr>
          <p:cNvPr id="233" name="Shape 4"/>
          <p:cNvSpPr/>
          <p:nvPr/>
        </p:nvSpPr>
        <p:spPr>
          <a:xfrm>
            <a:off x="4160520" y="1417320"/>
            <a:ext cx="3794400" cy="1965600"/>
          </a:xfrm>
          <a:prstGeom prst="roundRect">
            <a:avLst>
              <a:gd name="adj" fmla="val 16667"/>
            </a:avLst>
          </a:prstGeom>
          <a:solidFill>
            <a:srgbClr val="FFFFFF"/>
          </a:solidFill>
          <a:ln w="19050">
            <a:solidFill>
              <a:srgbClr val="C9D7E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34" name="Text 5"/>
          <p:cNvSpPr/>
          <p:nvPr/>
        </p:nvSpPr>
        <p:spPr>
          <a:xfrm>
            <a:off x="4892040" y="1627560"/>
            <a:ext cx="22856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u="none" strike="noStrike">
                <a:solidFill>
                  <a:srgbClr val="16324F"/>
                </a:solidFill>
                <a:effectLst/>
                <a:uFillTx/>
                <a:latin typeface="Arial"/>
              </a:rPr>
              <a:t>KAFKA CLUSTER</a:t>
            </a:r>
            <a:endParaRPr lang="en-US" sz="1700" b="0" u="none" strike="noStrike">
              <a:solidFill>
                <a:srgbClr val="000000"/>
              </a:solidFill>
              <a:effectLst/>
              <a:uFillTx/>
              <a:latin typeface="Arial"/>
            </a:endParaRPr>
          </a:p>
        </p:txBody>
      </p:sp>
      <p:sp>
        <p:nvSpPr>
          <p:cNvPr id="235" name="Shape 6"/>
          <p:cNvSpPr/>
          <p:nvPr/>
        </p:nvSpPr>
        <p:spPr>
          <a:xfrm>
            <a:off x="4526280" y="2148840"/>
            <a:ext cx="749520" cy="594000"/>
          </a:xfrm>
          <a:prstGeom prst="roundRect">
            <a:avLst>
              <a:gd name="adj" fmla="val 16667"/>
            </a:avLst>
          </a:prstGeom>
          <a:solidFill>
            <a:srgbClr val="1E88E5"/>
          </a:solidFill>
          <a:ln w="12700">
            <a:solidFill>
              <a:srgbClr val="1E88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36" name="Text 7"/>
          <p:cNvSpPr/>
          <p:nvPr/>
        </p:nvSpPr>
        <p:spPr>
          <a:xfrm>
            <a:off x="4572000" y="234072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Arial"/>
              </a:rPr>
              <a:t>P0</a:t>
            </a:r>
            <a:endParaRPr lang="en-US" sz="1200" b="0" u="none" strike="noStrike">
              <a:solidFill>
                <a:srgbClr val="000000"/>
              </a:solidFill>
              <a:effectLst/>
              <a:uFillTx/>
              <a:latin typeface="Arial"/>
            </a:endParaRPr>
          </a:p>
        </p:txBody>
      </p:sp>
      <p:sp>
        <p:nvSpPr>
          <p:cNvPr id="237" name="Shape 8"/>
          <p:cNvSpPr/>
          <p:nvPr/>
        </p:nvSpPr>
        <p:spPr>
          <a:xfrm>
            <a:off x="5486400" y="2148840"/>
            <a:ext cx="749520" cy="594000"/>
          </a:xfrm>
          <a:prstGeom prst="roundRect">
            <a:avLst>
              <a:gd name="adj" fmla="val 16667"/>
            </a:avLst>
          </a:prstGeom>
          <a:solidFill>
            <a:srgbClr val="1E88E5"/>
          </a:solidFill>
          <a:ln w="12700">
            <a:solidFill>
              <a:srgbClr val="1E88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38" name="Text 9"/>
          <p:cNvSpPr/>
          <p:nvPr/>
        </p:nvSpPr>
        <p:spPr>
          <a:xfrm>
            <a:off x="5532120" y="234072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Arial"/>
              </a:rPr>
              <a:t>P1</a:t>
            </a:r>
            <a:endParaRPr lang="en-US" sz="1200" b="0" u="none" strike="noStrike">
              <a:solidFill>
                <a:srgbClr val="000000"/>
              </a:solidFill>
              <a:effectLst/>
              <a:uFillTx/>
              <a:latin typeface="Arial"/>
            </a:endParaRPr>
          </a:p>
        </p:txBody>
      </p:sp>
      <p:sp>
        <p:nvSpPr>
          <p:cNvPr id="239" name="Shape 10"/>
          <p:cNvSpPr/>
          <p:nvPr/>
        </p:nvSpPr>
        <p:spPr>
          <a:xfrm>
            <a:off x="6446520" y="2148840"/>
            <a:ext cx="749520" cy="594000"/>
          </a:xfrm>
          <a:prstGeom prst="roundRect">
            <a:avLst>
              <a:gd name="adj" fmla="val 16667"/>
            </a:avLst>
          </a:prstGeom>
          <a:solidFill>
            <a:srgbClr val="1E88E5"/>
          </a:solidFill>
          <a:ln w="12700">
            <a:solidFill>
              <a:srgbClr val="1E88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40" name="Text 11"/>
          <p:cNvSpPr/>
          <p:nvPr/>
        </p:nvSpPr>
        <p:spPr>
          <a:xfrm>
            <a:off x="6492240" y="2340720"/>
            <a:ext cx="658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u="none" strike="noStrike">
                <a:solidFill>
                  <a:srgbClr val="FFFFFF"/>
                </a:solidFill>
                <a:effectLst/>
                <a:uFillTx/>
                <a:latin typeface="Arial"/>
              </a:rPr>
              <a:t>P2</a:t>
            </a:r>
            <a:endParaRPr lang="en-US" sz="1200" b="0" u="none" strike="noStrike">
              <a:solidFill>
                <a:srgbClr val="000000"/>
              </a:solidFill>
              <a:effectLst/>
              <a:uFillTx/>
              <a:latin typeface="Arial"/>
            </a:endParaRPr>
          </a:p>
        </p:txBody>
      </p:sp>
      <p:sp>
        <p:nvSpPr>
          <p:cNvPr id="241" name="Text 12"/>
          <p:cNvSpPr/>
          <p:nvPr/>
        </p:nvSpPr>
        <p:spPr>
          <a:xfrm>
            <a:off x="4873680" y="2898720"/>
            <a:ext cx="22856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0" u="none" strike="noStrike">
                <a:solidFill>
                  <a:srgbClr val="5F6B7A"/>
                </a:solidFill>
                <a:effectLst/>
                <a:uFillTx/>
                <a:latin typeface="Arial"/>
              </a:rPr>
              <a:t>Topic: orders</a:t>
            </a:r>
            <a:endParaRPr lang="en-US" sz="1100" b="0" u="none" strike="noStrike">
              <a:solidFill>
                <a:srgbClr val="000000"/>
              </a:solidFill>
              <a:effectLst/>
              <a:uFillTx/>
              <a:latin typeface="Arial"/>
            </a:endParaRPr>
          </a:p>
        </p:txBody>
      </p:sp>
      <p:sp>
        <p:nvSpPr>
          <p:cNvPr id="242" name="Shape 13"/>
          <p:cNvSpPr/>
          <p:nvPr/>
        </p:nvSpPr>
        <p:spPr>
          <a:xfrm>
            <a:off x="9464040" y="1920240"/>
            <a:ext cx="1874160" cy="914040"/>
          </a:xfrm>
          <a:prstGeom prst="roundRect">
            <a:avLst>
              <a:gd name="adj" fmla="val 16667"/>
            </a:avLst>
          </a:prstGeom>
          <a:solidFill>
            <a:srgbClr val="2E7D32"/>
          </a:solidFill>
          <a:ln w="12700">
            <a:solidFill>
              <a:srgbClr val="2E7D3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43" name="Text 14"/>
          <p:cNvSpPr/>
          <p:nvPr/>
        </p:nvSpPr>
        <p:spPr>
          <a:xfrm>
            <a:off x="9601200" y="2130480"/>
            <a:ext cx="159984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FFFFFF"/>
                </a:solidFill>
                <a:effectLst/>
                <a:uFillTx/>
                <a:latin typeface="Arial"/>
              </a:rPr>
              <a:t>CONSUMERS</a:t>
            </a:r>
            <a:endParaRPr lang="en-US" sz="1300" b="0" u="none" strike="noStrike">
              <a:solidFill>
                <a:srgbClr val="000000"/>
              </a:solidFill>
              <a:effectLst/>
              <a:uFillTx/>
              <a:latin typeface="Arial"/>
            </a:endParaRPr>
          </a:p>
          <a:p>
            <a:pPr algn="ctr" defTabSz="914400">
              <a:lnSpc>
                <a:spcPct val="100000"/>
              </a:lnSpc>
              <a:tabLst>
                <a:tab pos="0" algn="l"/>
              </a:tabLst>
            </a:pPr>
            <a:r>
              <a:rPr lang="en-US" sz="1300" b="1" u="none" strike="noStrike">
                <a:solidFill>
                  <a:srgbClr val="FFFFFF"/>
                </a:solidFill>
                <a:effectLst/>
                <a:uFillTx/>
                <a:latin typeface="Arial"/>
              </a:rPr>
              <a:t>Spark • DB • Services</a:t>
            </a:r>
            <a:endParaRPr lang="en-US" sz="1300" b="0" u="none" strike="noStrike">
              <a:solidFill>
                <a:srgbClr val="000000"/>
              </a:solidFill>
              <a:effectLst/>
              <a:uFillTx/>
              <a:latin typeface="Arial"/>
            </a:endParaRPr>
          </a:p>
        </p:txBody>
      </p:sp>
      <p:sp>
        <p:nvSpPr>
          <p:cNvPr id="244" name="Shape 15"/>
          <p:cNvSpPr/>
          <p:nvPr/>
        </p:nvSpPr>
        <p:spPr>
          <a:xfrm>
            <a:off x="2606040" y="2377440"/>
            <a:ext cx="1554480" cy="360"/>
          </a:xfrm>
          <a:prstGeom prst="line">
            <a:avLst/>
          </a:prstGeom>
          <a:ln w="25400">
            <a:solidFill>
              <a:srgbClr val="00A6A6"/>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45" name="Shape 16"/>
          <p:cNvSpPr/>
          <p:nvPr/>
        </p:nvSpPr>
        <p:spPr>
          <a:xfrm>
            <a:off x="7955280" y="2377440"/>
            <a:ext cx="1508760" cy="360"/>
          </a:xfrm>
          <a:prstGeom prst="line">
            <a:avLst/>
          </a:prstGeom>
          <a:ln w="25400">
            <a:solidFill>
              <a:srgbClr val="2E7D32"/>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246" name="Shape 17"/>
          <p:cNvSpPr/>
          <p:nvPr/>
        </p:nvSpPr>
        <p:spPr>
          <a:xfrm>
            <a:off x="731520" y="3886200"/>
            <a:ext cx="3245760" cy="1279800"/>
          </a:xfrm>
          <a:prstGeom prst="roundRect">
            <a:avLst>
              <a:gd name="adj" fmla="val 4286"/>
            </a:avLst>
          </a:prstGeom>
          <a:solidFill>
            <a:srgbClr val="FFFFFF"/>
          </a:solidFill>
          <a:ln w="15240">
            <a:solidFill>
              <a:srgbClr val="D9E2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47" name="Shape 18"/>
          <p:cNvSpPr/>
          <p:nvPr/>
        </p:nvSpPr>
        <p:spPr>
          <a:xfrm>
            <a:off x="731520" y="3886200"/>
            <a:ext cx="72720" cy="1279800"/>
          </a:xfrm>
          <a:prstGeom prst="rect">
            <a:avLst/>
          </a:prstGeom>
          <a:solidFill>
            <a:srgbClr val="1E88E5"/>
          </a:solidFill>
          <a:ln w="12700">
            <a:solidFill>
              <a:srgbClr val="1E88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48" name="Text 19"/>
          <p:cNvSpPr/>
          <p:nvPr/>
        </p:nvSpPr>
        <p:spPr>
          <a:xfrm>
            <a:off x="914400" y="4032360"/>
            <a:ext cx="29530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6324F"/>
                </a:solidFill>
                <a:effectLst/>
                <a:uFillTx/>
                <a:latin typeface="Arial"/>
              </a:rPr>
              <a:t>Topic</a:t>
            </a:r>
            <a:endParaRPr lang="en-US" sz="1600" b="0" u="none" strike="noStrike">
              <a:solidFill>
                <a:srgbClr val="000000"/>
              </a:solidFill>
              <a:effectLst/>
              <a:uFillTx/>
              <a:latin typeface="Arial"/>
            </a:endParaRPr>
          </a:p>
        </p:txBody>
      </p:sp>
      <p:sp>
        <p:nvSpPr>
          <p:cNvPr id="249" name="Text 20"/>
          <p:cNvSpPr/>
          <p:nvPr/>
        </p:nvSpPr>
        <p:spPr>
          <a:xfrm>
            <a:off x="914400" y="4416480"/>
            <a:ext cx="2934720" cy="6213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160" b="0" u="none" strike="noStrike">
                <a:solidFill>
                  <a:srgbClr val="1F2937"/>
                </a:solidFill>
                <a:effectLst/>
                <a:uFillTx/>
                <a:latin typeface="Arial"/>
              </a:rPr>
              <a:t>Luồng sự kiện theo chủ đề, ví dụ orders, clicks, payments.</a:t>
            </a:r>
            <a:endParaRPr lang="en-US" sz="1160" b="0" u="none" strike="noStrike">
              <a:solidFill>
                <a:srgbClr val="000000"/>
              </a:solidFill>
              <a:effectLst/>
              <a:uFillTx/>
              <a:latin typeface="Arial"/>
            </a:endParaRPr>
          </a:p>
        </p:txBody>
      </p:sp>
      <p:sp>
        <p:nvSpPr>
          <p:cNvPr id="250" name="Shape 21"/>
          <p:cNvSpPr/>
          <p:nvPr/>
        </p:nvSpPr>
        <p:spPr>
          <a:xfrm>
            <a:off x="4480560" y="3886200"/>
            <a:ext cx="3245760" cy="1279800"/>
          </a:xfrm>
          <a:prstGeom prst="roundRect">
            <a:avLst>
              <a:gd name="adj" fmla="val 4286"/>
            </a:avLst>
          </a:prstGeom>
          <a:solidFill>
            <a:srgbClr val="FFFFFF"/>
          </a:solidFill>
          <a:ln w="15240">
            <a:solidFill>
              <a:srgbClr val="D9E2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1" name="Shape 22"/>
          <p:cNvSpPr/>
          <p:nvPr/>
        </p:nvSpPr>
        <p:spPr>
          <a:xfrm>
            <a:off x="4480560" y="3886200"/>
            <a:ext cx="72720" cy="1279800"/>
          </a:xfrm>
          <a:prstGeom prst="rect">
            <a:avLst/>
          </a:prstGeom>
          <a:solidFill>
            <a:srgbClr val="F59E0B"/>
          </a:solidFill>
          <a:ln w="12700">
            <a:solidFill>
              <a:srgbClr val="F59E0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2" name="Text 23"/>
          <p:cNvSpPr/>
          <p:nvPr/>
        </p:nvSpPr>
        <p:spPr>
          <a:xfrm>
            <a:off x="4663440" y="4032360"/>
            <a:ext cx="29530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6324F"/>
                </a:solidFill>
                <a:effectLst/>
                <a:uFillTx/>
                <a:latin typeface="Arial"/>
              </a:rPr>
              <a:t>Partition</a:t>
            </a:r>
            <a:endParaRPr lang="en-US" sz="1600" b="0" u="none" strike="noStrike">
              <a:solidFill>
                <a:srgbClr val="000000"/>
              </a:solidFill>
              <a:effectLst/>
              <a:uFillTx/>
              <a:latin typeface="Arial"/>
            </a:endParaRPr>
          </a:p>
        </p:txBody>
      </p:sp>
      <p:sp>
        <p:nvSpPr>
          <p:cNvPr id="253" name="Text 24"/>
          <p:cNvSpPr/>
          <p:nvPr/>
        </p:nvSpPr>
        <p:spPr>
          <a:xfrm>
            <a:off x="4663440" y="4416480"/>
            <a:ext cx="2934720" cy="6213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160" b="0" u="none" strike="noStrike">
                <a:solidFill>
                  <a:srgbClr val="1F2937"/>
                </a:solidFill>
                <a:effectLst/>
                <a:uFillTx/>
                <a:latin typeface="Arial"/>
              </a:rPr>
              <a:t>Chia topic để xử lý song song và tăng throughput.</a:t>
            </a:r>
            <a:endParaRPr lang="en-US" sz="1160" b="0" u="none" strike="noStrike">
              <a:solidFill>
                <a:srgbClr val="000000"/>
              </a:solidFill>
              <a:effectLst/>
              <a:uFillTx/>
              <a:latin typeface="Arial"/>
            </a:endParaRPr>
          </a:p>
        </p:txBody>
      </p:sp>
      <p:sp>
        <p:nvSpPr>
          <p:cNvPr id="254" name="Shape 25"/>
          <p:cNvSpPr/>
          <p:nvPr/>
        </p:nvSpPr>
        <p:spPr>
          <a:xfrm>
            <a:off x="8229600" y="3886200"/>
            <a:ext cx="3108600" cy="1279800"/>
          </a:xfrm>
          <a:prstGeom prst="roundRect">
            <a:avLst>
              <a:gd name="adj" fmla="val 4286"/>
            </a:avLst>
          </a:prstGeom>
          <a:solidFill>
            <a:srgbClr val="FFFFFF"/>
          </a:solidFill>
          <a:ln w="15240">
            <a:solidFill>
              <a:srgbClr val="D9E2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5" name="Shape 26"/>
          <p:cNvSpPr/>
          <p:nvPr/>
        </p:nvSpPr>
        <p:spPr>
          <a:xfrm>
            <a:off x="8229600" y="3886200"/>
            <a:ext cx="72720" cy="1279800"/>
          </a:xfrm>
          <a:prstGeom prst="rect">
            <a:avLst/>
          </a:prstGeom>
          <a:solidFill>
            <a:srgbClr val="2E7D32"/>
          </a:solidFill>
          <a:ln w="12700">
            <a:solidFill>
              <a:srgbClr val="2E7D3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56" name="Text 27"/>
          <p:cNvSpPr/>
          <p:nvPr/>
        </p:nvSpPr>
        <p:spPr>
          <a:xfrm>
            <a:off x="8412480" y="4032360"/>
            <a:ext cx="28159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6324F"/>
                </a:solidFill>
                <a:effectLst/>
                <a:uFillTx/>
                <a:latin typeface="Arial"/>
              </a:rPr>
              <a:t>Consumer Group</a:t>
            </a:r>
            <a:endParaRPr lang="en-US" sz="1600" b="0" u="none" strike="noStrike">
              <a:solidFill>
                <a:srgbClr val="000000"/>
              </a:solidFill>
              <a:effectLst/>
              <a:uFillTx/>
              <a:latin typeface="Arial"/>
            </a:endParaRPr>
          </a:p>
        </p:txBody>
      </p:sp>
      <p:sp>
        <p:nvSpPr>
          <p:cNvPr id="257" name="Text 28"/>
          <p:cNvSpPr/>
          <p:nvPr/>
        </p:nvSpPr>
        <p:spPr>
          <a:xfrm>
            <a:off x="8412480" y="4416480"/>
            <a:ext cx="2797560" cy="6213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160" b="0" u="none" strike="noStrike">
                <a:solidFill>
                  <a:srgbClr val="1F2937"/>
                </a:solidFill>
                <a:effectLst/>
                <a:uFillTx/>
                <a:latin typeface="Arial"/>
              </a:rPr>
              <a:t>Nhiều consumer cùng nhóm chia nhau đọc các partition.</a:t>
            </a:r>
            <a:endParaRPr lang="en-US" sz="1160" b="0" u="none" strike="noStrike">
              <a:solidFill>
                <a:srgbClr val="000000"/>
              </a:solidFill>
              <a:effectLst/>
              <a:uFillTx/>
              <a:latin typeface="Arial"/>
            </a:endParaRPr>
          </a:p>
        </p:txBody>
      </p:sp>
      <p:sp>
        <p:nvSpPr>
          <p:cNvPr id="258" name="Shape 29"/>
          <p:cNvSpPr/>
          <p:nvPr/>
        </p:nvSpPr>
        <p:spPr>
          <a:xfrm>
            <a:off x="567000" y="5330880"/>
            <a:ext cx="11018160" cy="566640"/>
          </a:xfrm>
          <a:prstGeom prst="roundRect">
            <a:avLst>
              <a:gd name="adj" fmla="val 9677"/>
            </a:avLst>
          </a:prstGeom>
          <a:solidFill>
            <a:srgbClr val="FFF7E6"/>
          </a:solidFill>
          <a:ln w="12700">
            <a:solidFill>
              <a:srgbClr val="F4C66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9" name="Text 30"/>
          <p:cNvSpPr/>
          <p:nvPr/>
        </p:nvSpPr>
        <p:spPr>
          <a:xfrm>
            <a:off x="749880" y="5486400"/>
            <a:ext cx="8226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a:solidFill>
                  <a:srgbClr val="A15C00"/>
                </a:solidFill>
                <a:effectLst/>
                <a:uFillTx/>
                <a:latin typeface="Arial"/>
              </a:rPr>
              <a:t>Giải thích</a:t>
            </a:r>
            <a:endParaRPr lang="en-US" sz="1100" b="0" u="none" strike="noStrike">
              <a:solidFill>
                <a:srgbClr val="000000"/>
              </a:solidFill>
              <a:effectLst/>
              <a:uFillTx/>
              <a:latin typeface="Arial"/>
            </a:endParaRPr>
          </a:p>
        </p:txBody>
      </p:sp>
      <p:sp>
        <p:nvSpPr>
          <p:cNvPr id="260" name="Text 31"/>
          <p:cNvSpPr/>
          <p:nvPr/>
        </p:nvSpPr>
        <p:spPr>
          <a:xfrm>
            <a:off x="1609200" y="5449680"/>
            <a:ext cx="97106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defTabSz="914400">
              <a:lnSpc>
                <a:spcPct val="100000"/>
              </a:lnSpc>
              <a:tabLst>
                <a:tab pos="0" algn="l"/>
              </a:tabLst>
            </a:pPr>
            <a:r>
              <a:rPr lang="en-US" sz="1120" b="0" u="none" strike="noStrike">
                <a:solidFill>
                  <a:srgbClr val="6B4D1D"/>
                </a:solidFill>
                <a:effectLst/>
                <a:uFillTx/>
                <a:latin typeface="Arial"/>
              </a:rPr>
              <a:t>Khác Flume, Kafka còn lưu event như một distributed log và cho nhiều nhóm consumer đọc độc lập. Vì vậy Kafka thường là “xương sống” của pipeline realtime.</a:t>
            </a:r>
            <a:endParaRPr lang="en-US" sz="1120" b="0" u="none" strike="noStrike">
              <a:solidFill>
                <a:srgbClr val="000000"/>
              </a:solidFill>
              <a:effectLst/>
              <a:uFillTx/>
              <a:latin typeface="Arial"/>
            </a:endParaRPr>
          </a:p>
        </p:txBody>
      </p:sp>
      <p:sp>
        <p:nvSpPr>
          <p:cNvPr id="261" name="Text 32"/>
          <p:cNvSpPr/>
          <p:nvPr/>
        </p:nvSpPr>
        <p:spPr>
          <a:xfrm>
            <a:off x="585360" y="6364080"/>
            <a:ext cx="80463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i="1" u="none" strike="noStrike">
                <a:solidFill>
                  <a:srgbClr val="8793A1"/>
                </a:solidFill>
                <a:effectLst/>
                <a:uFillTx/>
                <a:latin typeface="Arial"/>
              </a:rPr>
              <a:t>Nguồn bổ sung: Apache Kafka Introduction (official).</a:t>
            </a:r>
            <a:endParaRPr lang="en-US" sz="720" b="0" u="none" strike="noStrike">
              <a:solidFill>
                <a:srgbClr val="000000"/>
              </a:solidFill>
              <a:effectLst/>
              <a:uFillTx/>
              <a:latin typeface="Arial"/>
            </a:endParaRPr>
          </a:p>
        </p:txBody>
      </p:sp>
      <p:sp>
        <p:nvSpPr>
          <p:cNvPr id="262" name="PlaceHolder 1"/>
          <p:cNvSpPr>
            <a:spLocks noGrp="1"/>
          </p:cNvSpPr>
          <p:nvPr>
            <p:ph type="sldNum" idx="12"/>
          </p:nvPr>
        </p:nvSpPr>
        <p:spPr>
          <a:xfrm>
            <a:off x="11631240" y="6510600"/>
            <a:ext cx="255600" cy="200880"/>
          </a:xfrm>
          <a:prstGeom prst="rect">
            <a:avLst/>
          </a:prstGeom>
          <a:noFill/>
          <a:ln w="0">
            <a:noFill/>
          </a:ln>
        </p:spPr>
        <p:txBody>
          <a:bodyPr lIns="90000" tIns="45000" rIns="90000" bIns="45000" anchor="t">
            <a:noAutofit/>
          </a:bodyPr>
          <a:lstStyle>
            <a:lvl1pPr indent="0" algn="r" defTabSz="914400">
              <a:lnSpc>
                <a:spcPct val="100000"/>
              </a:lnSpc>
              <a:buNone/>
              <a:defRPr lang="en-US" sz="800" b="0" u="none" strike="noStrike">
                <a:solidFill>
                  <a:srgbClr val="7A8797"/>
                </a:solidFill>
                <a:effectLst/>
                <a:uFillTx/>
                <a:latin typeface="Arial"/>
                <a:ea typeface="Arial"/>
              </a:defRPr>
            </a:lvl1pPr>
          </a:lstStyle>
          <a:p>
            <a:pPr indent="0" algn="r" defTabSz="914400">
              <a:lnSpc>
                <a:spcPct val="100000"/>
              </a:lnSpc>
              <a:buNone/>
            </a:pPr>
            <a:fld id="{89D5F138-0EF2-4EFE-813C-471B9036F147}" type="slidenum">
              <a:rPr lang="en-US" sz="800" b="0" u="none" strike="noStrike">
                <a:solidFill>
                  <a:srgbClr val="7A8797"/>
                </a:solidFill>
                <a:effectLst/>
                <a:uFillTx/>
                <a:latin typeface="Arial"/>
                <a:ea typeface="Arial"/>
              </a:rPr>
              <a:t>8</a:t>
            </a:fld>
            <a:endParaRPr lang="en-US" sz="800" b="0" u="none" strike="noStrike">
              <a:solidFill>
                <a:srgbClr val="000000"/>
              </a:solidFill>
              <a:effectLst/>
              <a:uFillTx/>
              <a:latin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Text 0"/>
          <p:cNvSpPr/>
          <p:nvPr/>
        </p:nvSpPr>
        <p:spPr>
          <a:xfrm>
            <a:off x="548640" y="329040"/>
            <a:ext cx="1106388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700" b="1" u="none" strike="noStrike">
                <a:solidFill>
                  <a:srgbClr val="16324F"/>
                </a:solidFill>
                <a:effectLst/>
                <a:uFillTx/>
                <a:latin typeface="Arial"/>
                <a:ea typeface="Arial"/>
              </a:rPr>
              <a:t>8. Khi nào dùng Sqoop, Flume hay Kafka?</a:t>
            </a:r>
            <a:endParaRPr lang="en-US" sz="2700" b="0" u="none" strike="noStrike">
              <a:solidFill>
                <a:srgbClr val="000000"/>
              </a:solidFill>
              <a:effectLst/>
              <a:uFillTx/>
              <a:latin typeface="Arial"/>
            </a:endParaRPr>
          </a:p>
        </p:txBody>
      </p:sp>
      <p:sp>
        <p:nvSpPr>
          <p:cNvPr id="264" name="Text 1"/>
          <p:cNvSpPr/>
          <p:nvPr/>
        </p:nvSpPr>
        <p:spPr>
          <a:xfrm>
            <a:off x="567000" y="841320"/>
            <a:ext cx="109724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0" u="none" strike="noStrike">
                <a:solidFill>
                  <a:srgbClr val="5F6B7A"/>
                </a:solidFill>
                <a:effectLst/>
                <a:uFillTx/>
                <a:latin typeface="Arial"/>
                <a:ea typeface="Arial"/>
              </a:rPr>
              <a:t>Không có công cụ “tốt nhất” cho mọi trường hợp — hãy chọn theo loại nguồn và yêu cầu độ trễ.</a:t>
            </a:r>
            <a:endParaRPr lang="en-US" sz="1250" b="0" u="none" strike="noStrike">
              <a:solidFill>
                <a:srgbClr val="000000"/>
              </a:solidFill>
              <a:effectLst/>
              <a:uFillTx/>
              <a:latin typeface="Arial"/>
            </a:endParaRPr>
          </a:p>
        </p:txBody>
      </p:sp>
      <p:sp>
        <p:nvSpPr>
          <p:cNvPr id="265" name="Shape 2"/>
          <p:cNvSpPr/>
          <p:nvPr/>
        </p:nvSpPr>
        <p:spPr>
          <a:xfrm>
            <a:off x="594360" y="1508760"/>
            <a:ext cx="1416960" cy="502560"/>
          </a:xfrm>
          <a:prstGeom prst="rect">
            <a:avLst/>
          </a:prstGeom>
          <a:solidFill>
            <a:srgbClr val="16324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66" name="Text 3"/>
          <p:cNvSpPr/>
          <p:nvPr/>
        </p:nvSpPr>
        <p:spPr>
          <a:xfrm>
            <a:off x="649080" y="1664280"/>
            <a:ext cx="13071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20" b="1" u="none" strike="noStrike">
                <a:solidFill>
                  <a:srgbClr val="FFFFFF"/>
                </a:solidFill>
                <a:effectLst/>
                <a:uFillTx/>
                <a:latin typeface="Arial"/>
              </a:rPr>
              <a:t>Công cụ</a:t>
            </a:r>
            <a:endParaRPr lang="en-US" sz="1120" b="0" u="none" strike="noStrike">
              <a:solidFill>
                <a:srgbClr val="000000"/>
              </a:solidFill>
              <a:effectLst/>
              <a:uFillTx/>
              <a:latin typeface="Arial"/>
            </a:endParaRPr>
          </a:p>
        </p:txBody>
      </p:sp>
      <p:sp>
        <p:nvSpPr>
          <p:cNvPr id="267" name="Shape 4"/>
          <p:cNvSpPr/>
          <p:nvPr/>
        </p:nvSpPr>
        <p:spPr>
          <a:xfrm>
            <a:off x="2057400" y="1508760"/>
            <a:ext cx="2377080" cy="502560"/>
          </a:xfrm>
          <a:prstGeom prst="rect">
            <a:avLst/>
          </a:prstGeom>
          <a:solidFill>
            <a:srgbClr val="16324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68" name="Text 5"/>
          <p:cNvSpPr/>
          <p:nvPr/>
        </p:nvSpPr>
        <p:spPr>
          <a:xfrm>
            <a:off x="2112120" y="1664280"/>
            <a:ext cx="22672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20" b="1" u="none" strike="noStrike">
                <a:solidFill>
                  <a:srgbClr val="FFFFFF"/>
                </a:solidFill>
                <a:effectLst/>
                <a:uFillTx/>
                <a:latin typeface="Arial"/>
              </a:rPr>
              <a:t>Nguồn phù hợp</a:t>
            </a:r>
            <a:endParaRPr lang="en-US" sz="1120" b="0" u="none" strike="noStrike">
              <a:solidFill>
                <a:srgbClr val="000000"/>
              </a:solidFill>
              <a:effectLst/>
              <a:uFillTx/>
              <a:latin typeface="Arial"/>
            </a:endParaRPr>
          </a:p>
        </p:txBody>
      </p:sp>
      <p:sp>
        <p:nvSpPr>
          <p:cNvPr id="269" name="Shape 6"/>
          <p:cNvSpPr/>
          <p:nvPr/>
        </p:nvSpPr>
        <p:spPr>
          <a:xfrm>
            <a:off x="4526280" y="1508760"/>
            <a:ext cx="1782720" cy="502560"/>
          </a:xfrm>
          <a:prstGeom prst="rect">
            <a:avLst/>
          </a:prstGeom>
          <a:solidFill>
            <a:srgbClr val="16324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70" name="Text 7"/>
          <p:cNvSpPr/>
          <p:nvPr/>
        </p:nvSpPr>
        <p:spPr>
          <a:xfrm>
            <a:off x="4581000" y="1664280"/>
            <a:ext cx="16729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20" b="1" u="none" strike="noStrike">
                <a:solidFill>
                  <a:srgbClr val="FFFFFF"/>
                </a:solidFill>
                <a:effectLst/>
                <a:uFillTx/>
                <a:latin typeface="Arial"/>
              </a:rPr>
              <a:t>Kiểu ingest</a:t>
            </a:r>
            <a:endParaRPr lang="en-US" sz="1120" b="0" u="none" strike="noStrike">
              <a:solidFill>
                <a:srgbClr val="000000"/>
              </a:solidFill>
              <a:effectLst/>
              <a:uFillTx/>
              <a:latin typeface="Arial"/>
            </a:endParaRPr>
          </a:p>
        </p:txBody>
      </p:sp>
      <p:sp>
        <p:nvSpPr>
          <p:cNvPr id="271" name="Shape 8"/>
          <p:cNvSpPr/>
          <p:nvPr/>
        </p:nvSpPr>
        <p:spPr>
          <a:xfrm>
            <a:off x="6400800" y="1508760"/>
            <a:ext cx="2239920" cy="502560"/>
          </a:xfrm>
          <a:prstGeom prst="rect">
            <a:avLst/>
          </a:prstGeom>
          <a:solidFill>
            <a:srgbClr val="16324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72" name="Text 9"/>
          <p:cNvSpPr/>
          <p:nvPr/>
        </p:nvSpPr>
        <p:spPr>
          <a:xfrm>
            <a:off x="6455520" y="1664280"/>
            <a:ext cx="21301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20" b="1" u="none" strike="noStrike">
                <a:solidFill>
                  <a:srgbClr val="FFFFFF"/>
                </a:solidFill>
                <a:effectLst/>
                <a:uFillTx/>
                <a:latin typeface="Arial"/>
              </a:rPr>
              <a:t>Điểm mạnh</a:t>
            </a:r>
            <a:endParaRPr lang="en-US" sz="1120" b="0" u="none" strike="noStrike">
              <a:solidFill>
                <a:srgbClr val="000000"/>
              </a:solidFill>
              <a:effectLst/>
              <a:uFillTx/>
              <a:latin typeface="Arial"/>
            </a:endParaRPr>
          </a:p>
        </p:txBody>
      </p:sp>
      <p:sp>
        <p:nvSpPr>
          <p:cNvPr id="273" name="Shape 10"/>
          <p:cNvSpPr/>
          <p:nvPr/>
        </p:nvSpPr>
        <p:spPr>
          <a:xfrm>
            <a:off x="8732520" y="1508760"/>
            <a:ext cx="2880000" cy="502560"/>
          </a:xfrm>
          <a:prstGeom prst="rect">
            <a:avLst/>
          </a:prstGeom>
          <a:solidFill>
            <a:srgbClr val="16324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74" name="Text 11"/>
          <p:cNvSpPr/>
          <p:nvPr/>
        </p:nvSpPr>
        <p:spPr>
          <a:xfrm>
            <a:off x="8787240" y="1664280"/>
            <a:ext cx="27702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20" b="1" u="none" strike="noStrike">
                <a:solidFill>
                  <a:srgbClr val="FFFFFF"/>
                </a:solidFill>
                <a:effectLst/>
                <a:uFillTx/>
                <a:latin typeface="Arial"/>
              </a:rPr>
              <a:t>Lưu ý</a:t>
            </a:r>
            <a:endParaRPr lang="en-US" sz="1120" b="0" u="none" strike="noStrike">
              <a:solidFill>
                <a:srgbClr val="000000"/>
              </a:solidFill>
              <a:effectLst/>
              <a:uFillTx/>
              <a:latin typeface="Arial"/>
            </a:endParaRPr>
          </a:p>
        </p:txBody>
      </p:sp>
      <p:sp>
        <p:nvSpPr>
          <p:cNvPr id="275" name="Shape 12"/>
          <p:cNvSpPr/>
          <p:nvPr/>
        </p:nvSpPr>
        <p:spPr>
          <a:xfrm>
            <a:off x="594360" y="2011680"/>
            <a:ext cx="1416960" cy="950760"/>
          </a:xfrm>
          <a:prstGeom prst="rect">
            <a:avLst/>
          </a:prstGeom>
          <a:solidFill>
            <a:srgbClr val="EAF2FB"/>
          </a:solidFill>
          <a:ln w="12700">
            <a:solidFill>
              <a:srgbClr val="DCE4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6" name="Text 13"/>
          <p:cNvSpPr/>
          <p:nvPr/>
        </p:nvSpPr>
        <p:spPr>
          <a:xfrm>
            <a:off x="667440" y="2240280"/>
            <a:ext cx="127080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30" b="1" u="none" strike="noStrike">
                <a:solidFill>
                  <a:srgbClr val="16324F"/>
                </a:solidFill>
                <a:effectLst/>
                <a:uFillTx/>
                <a:latin typeface="Arial"/>
              </a:rPr>
              <a:t>Sqoop</a:t>
            </a:r>
            <a:endParaRPr lang="en-US" sz="1130" b="0" u="none" strike="noStrike">
              <a:solidFill>
                <a:srgbClr val="000000"/>
              </a:solidFill>
              <a:effectLst/>
              <a:uFillTx/>
              <a:latin typeface="Arial"/>
            </a:endParaRPr>
          </a:p>
        </p:txBody>
      </p:sp>
      <p:sp>
        <p:nvSpPr>
          <p:cNvPr id="277" name="Shape 14"/>
          <p:cNvSpPr/>
          <p:nvPr/>
        </p:nvSpPr>
        <p:spPr>
          <a:xfrm>
            <a:off x="2057400" y="2011680"/>
            <a:ext cx="2377080" cy="950760"/>
          </a:xfrm>
          <a:prstGeom prst="rect">
            <a:avLst/>
          </a:prstGeom>
          <a:solidFill>
            <a:srgbClr val="EAF2FB"/>
          </a:solidFill>
          <a:ln w="12700">
            <a:solidFill>
              <a:srgbClr val="DCE4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8" name="Text 15"/>
          <p:cNvSpPr/>
          <p:nvPr/>
        </p:nvSpPr>
        <p:spPr>
          <a:xfrm>
            <a:off x="2130480" y="2240280"/>
            <a:ext cx="223092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30" b="0" u="none" strike="noStrike">
                <a:solidFill>
                  <a:srgbClr val="1F2937"/>
                </a:solidFill>
                <a:effectLst/>
                <a:uFillTx/>
                <a:latin typeface="Arial"/>
              </a:rPr>
              <a:t>RDBMS</a:t>
            </a:r>
            <a:endParaRPr lang="en-US" sz="1130" b="0" u="none" strike="noStrike">
              <a:solidFill>
                <a:srgbClr val="000000"/>
              </a:solidFill>
              <a:effectLst/>
              <a:uFillTx/>
              <a:latin typeface="Arial"/>
            </a:endParaRPr>
          </a:p>
        </p:txBody>
      </p:sp>
      <p:sp>
        <p:nvSpPr>
          <p:cNvPr id="279" name="Shape 16"/>
          <p:cNvSpPr/>
          <p:nvPr/>
        </p:nvSpPr>
        <p:spPr>
          <a:xfrm>
            <a:off x="4526280" y="2011680"/>
            <a:ext cx="1782720" cy="950760"/>
          </a:xfrm>
          <a:prstGeom prst="rect">
            <a:avLst/>
          </a:prstGeom>
          <a:solidFill>
            <a:srgbClr val="EAF2FB"/>
          </a:solidFill>
          <a:ln w="12700">
            <a:solidFill>
              <a:srgbClr val="DCE4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0" name="Text 17"/>
          <p:cNvSpPr/>
          <p:nvPr/>
        </p:nvSpPr>
        <p:spPr>
          <a:xfrm>
            <a:off x="4599360" y="2240280"/>
            <a:ext cx="16365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30" b="0" u="none" strike="noStrike">
                <a:solidFill>
                  <a:srgbClr val="1F2937"/>
                </a:solidFill>
                <a:effectLst/>
                <a:uFillTx/>
                <a:latin typeface="Arial"/>
              </a:rPr>
              <a:t>Batch</a:t>
            </a:r>
            <a:endParaRPr lang="en-US" sz="1130" b="0" u="none" strike="noStrike">
              <a:solidFill>
                <a:srgbClr val="000000"/>
              </a:solidFill>
              <a:effectLst/>
              <a:uFillTx/>
              <a:latin typeface="Arial"/>
            </a:endParaRPr>
          </a:p>
        </p:txBody>
      </p:sp>
      <p:sp>
        <p:nvSpPr>
          <p:cNvPr id="281" name="Shape 18"/>
          <p:cNvSpPr/>
          <p:nvPr/>
        </p:nvSpPr>
        <p:spPr>
          <a:xfrm>
            <a:off x="6400800" y="2011680"/>
            <a:ext cx="2239920" cy="950760"/>
          </a:xfrm>
          <a:prstGeom prst="rect">
            <a:avLst/>
          </a:prstGeom>
          <a:solidFill>
            <a:srgbClr val="EAF2FB"/>
          </a:solidFill>
          <a:ln w="12700">
            <a:solidFill>
              <a:srgbClr val="DCE4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2" name="Text 19"/>
          <p:cNvSpPr/>
          <p:nvPr/>
        </p:nvSpPr>
        <p:spPr>
          <a:xfrm>
            <a:off x="6473880" y="2240280"/>
            <a:ext cx="2093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30" b="0" u="none" strike="noStrike">
                <a:solidFill>
                  <a:srgbClr val="1F2937"/>
                </a:solidFill>
                <a:effectLst/>
                <a:uFillTx/>
                <a:latin typeface="Arial"/>
              </a:rPr>
              <a:t>Import/export bảng lớn</a:t>
            </a:r>
            <a:endParaRPr lang="en-US" sz="1130" b="0" u="none" strike="noStrike">
              <a:solidFill>
                <a:srgbClr val="000000"/>
              </a:solidFill>
              <a:effectLst/>
              <a:uFillTx/>
              <a:latin typeface="Arial"/>
            </a:endParaRPr>
          </a:p>
        </p:txBody>
      </p:sp>
      <p:sp>
        <p:nvSpPr>
          <p:cNvPr id="283" name="Shape 20"/>
          <p:cNvSpPr/>
          <p:nvPr/>
        </p:nvSpPr>
        <p:spPr>
          <a:xfrm>
            <a:off x="8732520" y="2011680"/>
            <a:ext cx="2880000" cy="950760"/>
          </a:xfrm>
          <a:prstGeom prst="rect">
            <a:avLst/>
          </a:prstGeom>
          <a:solidFill>
            <a:srgbClr val="EAF2FB"/>
          </a:solidFill>
          <a:ln w="12700">
            <a:solidFill>
              <a:srgbClr val="DCE4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4" name="Text 21"/>
          <p:cNvSpPr/>
          <p:nvPr/>
        </p:nvSpPr>
        <p:spPr>
          <a:xfrm>
            <a:off x="8805600" y="2240280"/>
            <a:ext cx="273384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30" b="0" u="none" strike="noStrike">
                <a:solidFill>
                  <a:srgbClr val="1F2937"/>
                </a:solidFill>
                <a:effectLst/>
                <a:uFillTx/>
                <a:latin typeface="Arial"/>
              </a:rPr>
              <a:t>Legacy/retired; học để hiểu mô hình</a:t>
            </a:r>
            <a:endParaRPr lang="en-US" sz="1130" b="0" u="none" strike="noStrike">
              <a:solidFill>
                <a:srgbClr val="000000"/>
              </a:solidFill>
              <a:effectLst/>
              <a:uFillTx/>
              <a:latin typeface="Arial"/>
            </a:endParaRPr>
          </a:p>
        </p:txBody>
      </p:sp>
      <p:sp>
        <p:nvSpPr>
          <p:cNvPr id="285" name="Shape 22"/>
          <p:cNvSpPr/>
          <p:nvPr/>
        </p:nvSpPr>
        <p:spPr>
          <a:xfrm>
            <a:off x="594360" y="2962800"/>
            <a:ext cx="1416960" cy="950760"/>
          </a:xfrm>
          <a:prstGeom prst="rect">
            <a:avLst/>
          </a:prstGeom>
          <a:solidFill>
            <a:srgbClr val="EAF7F6"/>
          </a:solidFill>
          <a:ln w="12700">
            <a:solidFill>
              <a:srgbClr val="DCE4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6" name="Text 23"/>
          <p:cNvSpPr/>
          <p:nvPr/>
        </p:nvSpPr>
        <p:spPr>
          <a:xfrm>
            <a:off x="667440" y="3191400"/>
            <a:ext cx="127080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30" b="1" u="none" strike="noStrike">
                <a:solidFill>
                  <a:srgbClr val="16324F"/>
                </a:solidFill>
                <a:effectLst/>
                <a:uFillTx/>
                <a:latin typeface="Arial"/>
              </a:rPr>
              <a:t>Flume</a:t>
            </a:r>
            <a:endParaRPr lang="en-US" sz="1130" b="0" u="none" strike="noStrike">
              <a:solidFill>
                <a:srgbClr val="000000"/>
              </a:solidFill>
              <a:effectLst/>
              <a:uFillTx/>
              <a:latin typeface="Arial"/>
            </a:endParaRPr>
          </a:p>
        </p:txBody>
      </p:sp>
      <p:sp>
        <p:nvSpPr>
          <p:cNvPr id="287" name="Shape 24"/>
          <p:cNvSpPr/>
          <p:nvPr/>
        </p:nvSpPr>
        <p:spPr>
          <a:xfrm>
            <a:off x="2057400" y="2962800"/>
            <a:ext cx="2377080" cy="950760"/>
          </a:xfrm>
          <a:prstGeom prst="rect">
            <a:avLst/>
          </a:prstGeom>
          <a:solidFill>
            <a:srgbClr val="EAF7F6"/>
          </a:solidFill>
          <a:ln w="12700">
            <a:solidFill>
              <a:srgbClr val="DCE4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88" name="Text 25"/>
          <p:cNvSpPr/>
          <p:nvPr/>
        </p:nvSpPr>
        <p:spPr>
          <a:xfrm>
            <a:off x="2130480" y="3191400"/>
            <a:ext cx="223092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30" b="0" u="none" strike="noStrike">
                <a:solidFill>
                  <a:srgbClr val="1F2937"/>
                </a:solidFill>
                <a:effectLst/>
                <a:uFillTx/>
                <a:latin typeface="Arial"/>
              </a:rPr>
              <a:t>Logs / events</a:t>
            </a:r>
            <a:endParaRPr lang="en-US" sz="1130" b="0" u="none" strike="noStrike">
              <a:solidFill>
                <a:srgbClr val="000000"/>
              </a:solidFill>
              <a:effectLst/>
              <a:uFillTx/>
              <a:latin typeface="Arial"/>
            </a:endParaRPr>
          </a:p>
        </p:txBody>
      </p:sp>
      <p:sp>
        <p:nvSpPr>
          <p:cNvPr id="289" name="Shape 26"/>
          <p:cNvSpPr/>
          <p:nvPr/>
        </p:nvSpPr>
        <p:spPr>
          <a:xfrm>
            <a:off x="4526280" y="2962800"/>
            <a:ext cx="1782720" cy="950760"/>
          </a:xfrm>
          <a:prstGeom prst="rect">
            <a:avLst/>
          </a:prstGeom>
          <a:solidFill>
            <a:srgbClr val="EAF7F6"/>
          </a:solidFill>
          <a:ln w="12700">
            <a:solidFill>
              <a:srgbClr val="DCE4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0" name="Text 27"/>
          <p:cNvSpPr/>
          <p:nvPr/>
        </p:nvSpPr>
        <p:spPr>
          <a:xfrm>
            <a:off x="4599360" y="3191400"/>
            <a:ext cx="16365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30" b="0" u="none" strike="noStrike">
                <a:solidFill>
                  <a:srgbClr val="1F2937"/>
                </a:solidFill>
                <a:effectLst/>
                <a:uFillTx/>
                <a:latin typeface="Arial"/>
              </a:rPr>
              <a:t>Streaming</a:t>
            </a:r>
            <a:endParaRPr lang="en-US" sz="1130" b="0" u="none" strike="noStrike">
              <a:solidFill>
                <a:srgbClr val="000000"/>
              </a:solidFill>
              <a:effectLst/>
              <a:uFillTx/>
              <a:latin typeface="Arial"/>
            </a:endParaRPr>
          </a:p>
        </p:txBody>
      </p:sp>
      <p:sp>
        <p:nvSpPr>
          <p:cNvPr id="291" name="Shape 28"/>
          <p:cNvSpPr/>
          <p:nvPr/>
        </p:nvSpPr>
        <p:spPr>
          <a:xfrm>
            <a:off x="6400800" y="2962800"/>
            <a:ext cx="2239920" cy="950760"/>
          </a:xfrm>
          <a:prstGeom prst="rect">
            <a:avLst/>
          </a:prstGeom>
          <a:solidFill>
            <a:srgbClr val="EAF7F6"/>
          </a:solidFill>
          <a:ln w="12700">
            <a:solidFill>
              <a:srgbClr val="DCE4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2" name="Text 29"/>
          <p:cNvSpPr/>
          <p:nvPr/>
        </p:nvSpPr>
        <p:spPr>
          <a:xfrm>
            <a:off x="6473880" y="3191400"/>
            <a:ext cx="2093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30" b="0" u="none" strike="noStrike">
                <a:solidFill>
                  <a:srgbClr val="1F2937"/>
                </a:solidFill>
                <a:effectLst/>
                <a:uFillTx/>
                <a:latin typeface="Arial"/>
              </a:rPr>
              <a:t>Source–Channel–Sink; HDFS</a:t>
            </a:r>
            <a:endParaRPr lang="en-US" sz="1130" b="0" u="none" strike="noStrike">
              <a:solidFill>
                <a:srgbClr val="000000"/>
              </a:solidFill>
              <a:effectLst/>
              <a:uFillTx/>
              <a:latin typeface="Arial"/>
            </a:endParaRPr>
          </a:p>
        </p:txBody>
      </p:sp>
      <p:sp>
        <p:nvSpPr>
          <p:cNvPr id="293" name="Shape 30"/>
          <p:cNvSpPr/>
          <p:nvPr/>
        </p:nvSpPr>
        <p:spPr>
          <a:xfrm>
            <a:off x="8732520" y="2962800"/>
            <a:ext cx="2880000" cy="950760"/>
          </a:xfrm>
          <a:prstGeom prst="rect">
            <a:avLst/>
          </a:prstGeom>
          <a:solidFill>
            <a:srgbClr val="EAF7F6"/>
          </a:solidFill>
          <a:ln w="12700">
            <a:solidFill>
              <a:srgbClr val="DCE4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4" name="Text 31"/>
          <p:cNvSpPr/>
          <p:nvPr/>
        </p:nvSpPr>
        <p:spPr>
          <a:xfrm>
            <a:off x="8805600" y="3191400"/>
            <a:ext cx="273384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30" b="0" u="none" strike="noStrike">
                <a:solidFill>
                  <a:srgbClr val="1F2937"/>
                </a:solidFill>
                <a:effectLst/>
                <a:uFillTx/>
                <a:latin typeface="Arial"/>
              </a:rPr>
              <a:t>Tập trung vào log ingestion</a:t>
            </a:r>
            <a:endParaRPr lang="en-US" sz="1130" b="0" u="none" strike="noStrike">
              <a:solidFill>
                <a:srgbClr val="000000"/>
              </a:solidFill>
              <a:effectLst/>
              <a:uFillTx/>
              <a:latin typeface="Arial"/>
            </a:endParaRPr>
          </a:p>
        </p:txBody>
      </p:sp>
      <p:sp>
        <p:nvSpPr>
          <p:cNvPr id="295" name="Shape 32"/>
          <p:cNvSpPr/>
          <p:nvPr/>
        </p:nvSpPr>
        <p:spPr>
          <a:xfrm>
            <a:off x="594360" y="3913560"/>
            <a:ext cx="1416960" cy="950760"/>
          </a:xfrm>
          <a:prstGeom prst="rect">
            <a:avLst/>
          </a:prstGeom>
          <a:solidFill>
            <a:srgbClr val="F2F0FF"/>
          </a:solidFill>
          <a:ln w="12700">
            <a:solidFill>
              <a:srgbClr val="DCE4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6" name="Text 33"/>
          <p:cNvSpPr/>
          <p:nvPr/>
        </p:nvSpPr>
        <p:spPr>
          <a:xfrm>
            <a:off x="667440" y="4142160"/>
            <a:ext cx="127080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30" b="1" u="none" strike="noStrike">
                <a:solidFill>
                  <a:srgbClr val="16324F"/>
                </a:solidFill>
                <a:effectLst/>
                <a:uFillTx/>
                <a:latin typeface="Arial"/>
              </a:rPr>
              <a:t>Kafka</a:t>
            </a:r>
            <a:endParaRPr lang="en-US" sz="1130" b="0" u="none" strike="noStrike">
              <a:solidFill>
                <a:srgbClr val="000000"/>
              </a:solidFill>
              <a:effectLst/>
              <a:uFillTx/>
              <a:latin typeface="Arial"/>
            </a:endParaRPr>
          </a:p>
        </p:txBody>
      </p:sp>
      <p:sp>
        <p:nvSpPr>
          <p:cNvPr id="297" name="Shape 34"/>
          <p:cNvSpPr/>
          <p:nvPr/>
        </p:nvSpPr>
        <p:spPr>
          <a:xfrm>
            <a:off x="2057400" y="3913560"/>
            <a:ext cx="2377080" cy="950760"/>
          </a:xfrm>
          <a:prstGeom prst="rect">
            <a:avLst/>
          </a:prstGeom>
          <a:solidFill>
            <a:srgbClr val="F2F0FF"/>
          </a:solidFill>
          <a:ln w="12700">
            <a:solidFill>
              <a:srgbClr val="DCE4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8" name="Text 35"/>
          <p:cNvSpPr/>
          <p:nvPr/>
        </p:nvSpPr>
        <p:spPr>
          <a:xfrm>
            <a:off x="2130480" y="4142160"/>
            <a:ext cx="223092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30" b="0" u="none" strike="noStrike">
                <a:solidFill>
                  <a:srgbClr val="1F2937"/>
                </a:solidFill>
                <a:effectLst/>
                <a:uFillTx/>
                <a:latin typeface="Arial"/>
              </a:rPr>
              <a:t>Event streams</a:t>
            </a:r>
            <a:endParaRPr lang="en-US" sz="1130" b="0" u="none" strike="noStrike">
              <a:solidFill>
                <a:srgbClr val="000000"/>
              </a:solidFill>
              <a:effectLst/>
              <a:uFillTx/>
              <a:latin typeface="Arial"/>
            </a:endParaRPr>
          </a:p>
        </p:txBody>
      </p:sp>
      <p:sp>
        <p:nvSpPr>
          <p:cNvPr id="299" name="Shape 36"/>
          <p:cNvSpPr/>
          <p:nvPr/>
        </p:nvSpPr>
        <p:spPr>
          <a:xfrm>
            <a:off x="4526280" y="3913560"/>
            <a:ext cx="1782720" cy="950760"/>
          </a:xfrm>
          <a:prstGeom prst="rect">
            <a:avLst/>
          </a:prstGeom>
          <a:solidFill>
            <a:srgbClr val="F2F0FF"/>
          </a:solidFill>
          <a:ln w="12700">
            <a:solidFill>
              <a:srgbClr val="DCE4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0" name="Text 37"/>
          <p:cNvSpPr/>
          <p:nvPr/>
        </p:nvSpPr>
        <p:spPr>
          <a:xfrm>
            <a:off x="4599360" y="4142160"/>
            <a:ext cx="16365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30" b="0" u="none" strike="noStrike">
                <a:solidFill>
                  <a:srgbClr val="1F2937"/>
                </a:solidFill>
                <a:effectLst/>
                <a:uFillTx/>
                <a:latin typeface="Arial"/>
              </a:rPr>
              <a:t>Streaming</a:t>
            </a:r>
            <a:endParaRPr lang="en-US" sz="1130" b="0" u="none" strike="noStrike">
              <a:solidFill>
                <a:srgbClr val="000000"/>
              </a:solidFill>
              <a:effectLst/>
              <a:uFillTx/>
              <a:latin typeface="Arial"/>
            </a:endParaRPr>
          </a:p>
        </p:txBody>
      </p:sp>
      <p:sp>
        <p:nvSpPr>
          <p:cNvPr id="301" name="Shape 38"/>
          <p:cNvSpPr/>
          <p:nvPr/>
        </p:nvSpPr>
        <p:spPr>
          <a:xfrm>
            <a:off x="6400800" y="3913560"/>
            <a:ext cx="2239920" cy="950760"/>
          </a:xfrm>
          <a:prstGeom prst="rect">
            <a:avLst/>
          </a:prstGeom>
          <a:solidFill>
            <a:srgbClr val="F2F0FF"/>
          </a:solidFill>
          <a:ln w="12700">
            <a:solidFill>
              <a:srgbClr val="DCE4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2" name="Text 39"/>
          <p:cNvSpPr/>
          <p:nvPr/>
        </p:nvSpPr>
        <p:spPr>
          <a:xfrm>
            <a:off x="6473880" y="4142160"/>
            <a:ext cx="209376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30" b="0" u="none" strike="noStrike">
                <a:solidFill>
                  <a:srgbClr val="1F2937"/>
                </a:solidFill>
                <a:effectLst/>
                <a:uFillTx/>
                <a:latin typeface="Arial"/>
              </a:rPr>
              <a:t>Distributed log; nhiều consumers</a:t>
            </a:r>
            <a:endParaRPr lang="en-US" sz="1130" b="0" u="none" strike="noStrike">
              <a:solidFill>
                <a:srgbClr val="000000"/>
              </a:solidFill>
              <a:effectLst/>
              <a:uFillTx/>
              <a:latin typeface="Arial"/>
            </a:endParaRPr>
          </a:p>
        </p:txBody>
      </p:sp>
      <p:sp>
        <p:nvSpPr>
          <p:cNvPr id="303" name="Shape 40"/>
          <p:cNvSpPr/>
          <p:nvPr/>
        </p:nvSpPr>
        <p:spPr>
          <a:xfrm>
            <a:off x="8732520" y="3913560"/>
            <a:ext cx="2880000" cy="950760"/>
          </a:xfrm>
          <a:prstGeom prst="rect">
            <a:avLst/>
          </a:prstGeom>
          <a:solidFill>
            <a:srgbClr val="F2F0FF"/>
          </a:solidFill>
          <a:ln w="12700">
            <a:solidFill>
              <a:srgbClr val="DCE4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4" name="Text 41"/>
          <p:cNvSpPr/>
          <p:nvPr/>
        </p:nvSpPr>
        <p:spPr>
          <a:xfrm>
            <a:off x="8805600" y="4142160"/>
            <a:ext cx="273384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30" b="0" u="none" strike="noStrike">
                <a:solidFill>
                  <a:srgbClr val="1F2937"/>
                </a:solidFill>
                <a:effectLst/>
                <a:uFillTx/>
                <a:latin typeface="Arial"/>
              </a:rPr>
              <a:t>Cần vận hành cluster và thiết kế partition</a:t>
            </a:r>
            <a:endParaRPr lang="en-US" sz="1130" b="0" u="none" strike="noStrike">
              <a:solidFill>
                <a:srgbClr val="000000"/>
              </a:solidFill>
              <a:effectLst/>
              <a:uFillTx/>
              <a:latin typeface="Arial"/>
            </a:endParaRPr>
          </a:p>
        </p:txBody>
      </p:sp>
      <p:sp>
        <p:nvSpPr>
          <p:cNvPr id="305" name="Shape 42"/>
          <p:cNvSpPr/>
          <p:nvPr/>
        </p:nvSpPr>
        <p:spPr>
          <a:xfrm>
            <a:off x="567000" y="5148000"/>
            <a:ext cx="11018160" cy="566640"/>
          </a:xfrm>
          <a:prstGeom prst="roundRect">
            <a:avLst>
              <a:gd name="adj" fmla="val 9677"/>
            </a:avLst>
          </a:prstGeom>
          <a:solidFill>
            <a:srgbClr val="FFF7E6"/>
          </a:solidFill>
          <a:ln w="12700">
            <a:solidFill>
              <a:srgbClr val="F4C66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6" name="Text 43"/>
          <p:cNvSpPr/>
          <p:nvPr/>
        </p:nvSpPr>
        <p:spPr>
          <a:xfrm>
            <a:off x="749880" y="5303520"/>
            <a:ext cx="8226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a:solidFill>
                  <a:srgbClr val="A15C00"/>
                </a:solidFill>
                <a:effectLst/>
                <a:uFillTx/>
                <a:latin typeface="Arial"/>
              </a:rPr>
              <a:t>Giải thích</a:t>
            </a:r>
            <a:endParaRPr lang="en-US" sz="1100" b="0" u="none" strike="noStrike">
              <a:solidFill>
                <a:srgbClr val="000000"/>
              </a:solidFill>
              <a:effectLst/>
              <a:uFillTx/>
              <a:latin typeface="Arial"/>
            </a:endParaRPr>
          </a:p>
        </p:txBody>
      </p:sp>
      <p:sp>
        <p:nvSpPr>
          <p:cNvPr id="307" name="Text 44"/>
          <p:cNvSpPr/>
          <p:nvPr/>
        </p:nvSpPr>
        <p:spPr>
          <a:xfrm>
            <a:off x="1609200" y="5266800"/>
            <a:ext cx="97106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defTabSz="914400">
              <a:lnSpc>
                <a:spcPct val="100000"/>
              </a:lnSpc>
              <a:tabLst>
                <a:tab pos="0" algn="l"/>
              </a:tabLst>
            </a:pPr>
            <a:r>
              <a:rPr lang="en-US" sz="1120" b="0" u="none" strike="noStrike">
                <a:solidFill>
                  <a:srgbClr val="6B4D1D"/>
                </a:solidFill>
                <a:effectLst/>
                <a:uFillTx/>
                <a:latin typeface="Arial"/>
              </a:rPr>
              <a:t>Ví dụ lựa chọn: bảng giao dịch MySQL chạy ETL mỗi đêm → batch; log click website → Kafka/Flume; CDC từ DB theo thời gian thực → thường dùng Kafka Connect/Debezium hơn Sqoop.</a:t>
            </a:r>
            <a:endParaRPr lang="en-US" sz="1120" b="0" u="none" strike="noStrike">
              <a:solidFill>
                <a:srgbClr val="000000"/>
              </a:solidFill>
              <a:effectLst/>
              <a:uFillTx/>
              <a:latin typeface="Arial"/>
            </a:endParaRPr>
          </a:p>
        </p:txBody>
      </p:sp>
      <p:sp>
        <p:nvSpPr>
          <p:cNvPr id="308" name="PlaceHolder 1"/>
          <p:cNvSpPr>
            <a:spLocks noGrp="1"/>
          </p:cNvSpPr>
          <p:nvPr>
            <p:ph type="sldNum" idx="13"/>
          </p:nvPr>
        </p:nvSpPr>
        <p:spPr>
          <a:xfrm>
            <a:off x="11631240" y="6510600"/>
            <a:ext cx="255600" cy="200880"/>
          </a:xfrm>
          <a:prstGeom prst="rect">
            <a:avLst/>
          </a:prstGeom>
          <a:noFill/>
          <a:ln w="0">
            <a:noFill/>
          </a:ln>
        </p:spPr>
        <p:txBody>
          <a:bodyPr lIns="90000" tIns="45000" rIns="90000" bIns="45000" anchor="t">
            <a:noAutofit/>
          </a:bodyPr>
          <a:lstStyle>
            <a:lvl1pPr indent="0" algn="r" defTabSz="914400">
              <a:lnSpc>
                <a:spcPct val="100000"/>
              </a:lnSpc>
              <a:buNone/>
              <a:defRPr lang="en-US" sz="800" b="0" u="none" strike="noStrike">
                <a:solidFill>
                  <a:srgbClr val="7A8797"/>
                </a:solidFill>
                <a:effectLst/>
                <a:uFillTx/>
                <a:latin typeface="Arial"/>
                <a:ea typeface="Arial"/>
              </a:defRPr>
            </a:lvl1pPr>
          </a:lstStyle>
          <a:p>
            <a:pPr indent="0" algn="r" defTabSz="914400">
              <a:lnSpc>
                <a:spcPct val="100000"/>
              </a:lnSpc>
              <a:buNone/>
            </a:pPr>
            <a:fld id="{F44CA182-B66E-4644-AD77-BBDEE64E76DC}" type="slidenum">
              <a:rPr lang="en-US" sz="800" b="0" u="none" strike="noStrike">
                <a:solidFill>
                  <a:srgbClr val="7A8797"/>
                </a:solidFill>
                <a:effectLst/>
                <a:uFillTx/>
                <a:latin typeface="Arial"/>
                <a:ea typeface="Arial"/>
              </a:rPr>
              <a:t>9</a:t>
            </a:fld>
            <a:endParaRPr lang="en-US" sz="800" b="0" u="none" strike="noStrike">
              <a:solidFill>
                <a:srgbClr val="000000"/>
              </a:solidFill>
              <a:effectLst/>
              <a:uFillTx/>
              <a:latin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 name="Text 0"/>
          <p:cNvSpPr/>
          <p:nvPr/>
        </p:nvSpPr>
        <p:spPr>
          <a:xfrm>
            <a:off x="548640" y="329040"/>
            <a:ext cx="1106388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700" b="1" u="none" strike="noStrike">
                <a:solidFill>
                  <a:srgbClr val="16324F"/>
                </a:solidFill>
                <a:effectLst/>
                <a:uFillTx/>
                <a:latin typeface="Arial"/>
                <a:ea typeface="Arial"/>
              </a:rPr>
              <a:t>9. Big Data Pipeline với Hadoop/Spark</a:t>
            </a:r>
            <a:endParaRPr lang="en-US" sz="2700" b="0" u="none" strike="noStrike">
              <a:solidFill>
                <a:srgbClr val="000000"/>
              </a:solidFill>
              <a:effectLst/>
              <a:uFillTx/>
              <a:latin typeface="Arial"/>
            </a:endParaRPr>
          </a:p>
        </p:txBody>
      </p:sp>
      <p:sp>
        <p:nvSpPr>
          <p:cNvPr id="310" name="Text 1"/>
          <p:cNvSpPr/>
          <p:nvPr/>
        </p:nvSpPr>
        <p:spPr>
          <a:xfrm>
            <a:off x="567000" y="841320"/>
            <a:ext cx="109724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0" u="none" strike="noStrike">
                <a:solidFill>
                  <a:srgbClr val="5F6B7A"/>
                </a:solidFill>
                <a:effectLst/>
                <a:uFillTx/>
                <a:latin typeface="Arial"/>
                <a:ea typeface="Arial"/>
              </a:rPr>
              <a:t>Một pipeline hoàn chỉnh thường gồm ingestion → storage → processing → serving/analytics.</a:t>
            </a:r>
            <a:endParaRPr lang="en-US" sz="1250" b="0" u="none" strike="noStrike">
              <a:solidFill>
                <a:srgbClr val="000000"/>
              </a:solidFill>
              <a:effectLst/>
              <a:uFillTx/>
              <a:latin typeface="Arial"/>
            </a:endParaRPr>
          </a:p>
        </p:txBody>
      </p:sp>
      <p:sp>
        <p:nvSpPr>
          <p:cNvPr id="311" name="Shape 2"/>
          <p:cNvSpPr/>
          <p:nvPr/>
        </p:nvSpPr>
        <p:spPr>
          <a:xfrm>
            <a:off x="502920" y="1828800"/>
            <a:ext cx="1919880" cy="1142640"/>
          </a:xfrm>
          <a:prstGeom prst="roundRect">
            <a:avLst>
              <a:gd name="adj" fmla="val 16667"/>
            </a:avLst>
          </a:prstGeom>
          <a:solidFill>
            <a:srgbClr val="00A6A6"/>
          </a:solidFill>
          <a:ln w="12700">
            <a:solidFill>
              <a:srgbClr val="00A6A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12" name="Text 3"/>
          <p:cNvSpPr/>
          <p:nvPr/>
        </p:nvSpPr>
        <p:spPr>
          <a:xfrm>
            <a:off x="576000" y="2057400"/>
            <a:ext cx="17737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rial"/>
              </a:rPr>
              <a:t>SOURCES</a:t>
            </a:r>
            <a:endParaRPr lang="en-US" sz="1400" b="0" u="none" strike="noStrike">
              <a:solidFill>
                <a:srgbClr val="000000"/>
              </a:solidFill>
              <a:effectLst/>
              <a:uFillTx/>
              <a:latin typeface="Arial"/>
            </a:endParaRPr>
          </a:p>
        </p:txBody>
      </p:sp>
      <p:sp>
        <p:nvSpPr>
          <p:cNvPr id="313" name="Text 4"/>
          <p:cNvSpPr/>
          <p:nvPr/>
        </p:nvSpPr>
        <p:spPr>
          <a:xfrm>
            <a:off x="612720" y="2468880"/>
            <a:ext cx="17002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30" b="0" u="none" strike="noStrike">
                <a:solidFill>
                  <a:srgbClr val="EDF3FA"/>
                </a:solidFill>
                <a:effectLst/>
                <a:uFillTx/>
                <a:latin typeface="Arial"/>
              </a:rPr>
              <a:t>DB • files • logs • IoT</a:t>
            </a:r>
            <a:endParaRPr lang="en-US" sz="930" b="0" u="none" strike="noStrike">
              <a:solidFill>
                <a:srgbClr val="000000"/>
              </a:solidFill>
              <a:effectLst/>
              <a:uFillTx/>
              <a:latin typeface="Arial"/>
            </a:endParaRPr>
          </a:p>
        </p:txBody>
      </p:sp>
      <p:sp>
        <p:nvSpPr>
          <p:cNvPr id="314" name="Shape 5"/>
          <p:cNvSpPr/>
          <p:nvPr/>
        </p:nvSpPr>
        <p:spPr>
          <a:xfrm>
            <a:off x="2423160" y="2395440"/>
            <a:ext cx="27432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15" name="Shape 6"/>
          <p:cNvSpPr/>
          <p:nvPr/>
        </p:nvSpPr>
        <p:spPr>
          <a:xfrm>
            <a:off x="2697480" y="1828800"/>
            <a:ext cx="1919880" cy="1142640"/>
          </a:xfrm>
          <a:prstGeom prst="roundRect">
            <a:avLst>
              <a:gd name="adj" fmla="val 16667"/>
            </a:avLst>
          </a:prstGeom>
          <a:solidFill>
            <a:srgbClr val="1E88E5"/>
          </a:solidFill>
          <a:ln w="12700">
            <a:solidFill>
              <a:srgbClr val="1E88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16" name="Text 7"/>
          <p:cNvSpPr/>
          <p:nvPr/>
        </p:nvSpPr>
        <p:spPr>
          <a:xfrm>
            <a:off x="2770560" y="2057400"/>
            <a:ext cx="17737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rial"/>
              </a:rPr>
              <a:t>INGESTION</a:t>
            </a:r>
            <a:endParaRPr lang="en-US" sz="1400" b="0" u="none" strike="noStrike">
              <a:solidFill>
                <a:srgbClr val="000000"/>
              </a:solidFill>
              <a:effectLst/>
              <a:uFillTx/>
              <a:latin typeface="Arial"/>
            </a:endParaRPr>
          </a:p>
        </p:txBody>
      </p:sp>
      <p:sp>
        <p:nvSpPr>
          <p:cNvPr id="317" name="Text 8"/>
          <p:cNvSpPr/>
          <p:nvPr/>
        </p:nvSpPr>
        <p:spPr>
          <a:xfrm>
            <a:off x="2807280" y="2468880"/>
            <a:ext cx="17002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30" b="0" u="none" strike="noStrike">
                <a:solidFill>
                  <a:srgbClr val="EDF3FA"/>
                </a:solidFill>
                <a:effectLst/>
                <a:uFillTx/>
                <a:latin typeface="Arial"/>
              </a:rPr>
              <a:t>Kafka • Flume • NiFi</a:t>
            </a:r>
            <a:endParaRPr lang="en-US" sz="930" b="0" u="none" strike="noStrike">
              <a:solidFill>
                <a:srgbClr val="000000"/>
              </a:solidFill>
              <a:effectLst/>
              <a:uFillTx/>
              <a:latin typeface="Arial"/>
            </a:endParaRPr>
          </a:p>
        </p:txBody>
      </p:sp>
      <p:sp>
        <p:nvSpPr>
          <p:cNvPr id="318" name="Shape 9"/>
          <p:cNvSpPr/>
          <p:nvPr/>
        </p:nvSpPr>
        <p:spPr>
          <a:xfrm>
            <a:off x="4617720" y="2395440"/>
            <a:ext cx="27432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19" name="Shape 10"/>
          <p:cNvSpPr/>
          <p:nvPr/>
        </p:nvSpPr>
        <p:spPr>
          <a:xfrm>
            <a:off x="4892040" y="1828800"/>
            <a:ext cx="1919880" cy="1142640"/>
          </a:xfrm>
          <a:prstGeom prst="roundRect">
            <a:avLst>
              <a:gd name="adj" fmla="val 16667"/>
            </a:avLst>
          </a:prstGeom>
          <a:solidFill>
            <a:srgbClr val="16324F"/>
          </a:solidFill>
          <a:ln w="12700">
            <a:solidFill>
              <a:srgbClr val="16324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20" name="Text 11"/>
          <p:cNvSpPr/>
          <p:nvPr/>
        </p:nvSpPr>
        <p:spPr>
          <a:xfrm>
            <a:off x="4965120" y="2057400"/>
            <a:ext cx="17737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rial"/>
              </a:rPr>
              <a:t>STORAGE</a:t>
            </a:r>
            <a:endParaRPr lang="en-US" sz="1400" b="0" u="none" strike="noStrike">
              <a:solidFill>
                <a:srgbClr val="000000"/>
              </a:solidFill>
              <a:effectLst/>
              <a:uFillTx/>
              <a:latin typeface="Arial"/>
            </a:endParaRPr>
          </a:p>
        </p:txBody>
      </p:sp>
      <p:sp>
        <p:nvSpPr>
          <p:cNvPr id="321" name="Text 12"/>
          <p:cNvSpPr/>
          <p:nvPr/>
        </p:nvSpPr>
        <p:spPr>
          <a:xfrm>
            <a:off x="5001840" y="2468880"/>
            <a:ext cx="17002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30" b="0" u="none" strike="noStrike">
                <a:solidFill>
                  <a:srgbClr val="EDF3FA"/>
                </a:solidFill>
                <a:effectLst/>
                <a:uFillTx/>
                <a:latin typeface="Arial"/>
              </a:rPr>
              <a:t>HDFS • HBase • Object Store</a:t>
            </a:r>
            <a:endParaRPr lang="en-US" sz="930" b="0" u="none" strike="noStrike">
              <a:solidFill>
                <a:srgbClr val="000000"/>
              </a:solidFill>
              <a:effectLst/>
              <a:uFillTx/>
              <a:latin typeface="Arial"/>
            </a:endParaRPr>
          </a:p>
        </p:txBody>
      </p:sp>
      <p:sp>
        <p:nvSpPr>
          <p:cNvPr id="322" name="Shape 13"/>
          <p:cNvSpPr/>
          <p:nvPr/>
        </p:nvSpPr>
        <p:spPr>
          <a:xfrm>
            <a:off x="6812280" y="2395440"/>
            <a:ext cx="27432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23" name="Shape 14"/>
          <p:cNvSpPr/>
          <p:nvPr/>
        </p:nvSpPr>
        <p:spPr>
          <a:xfrm>
            <a:off x="7086600" y="1828800"/>
            <a:ext cx="1919880" cy="1142640"/>
          </a:xfrm>
          <a:prstGeom prst="roundRect">
            <a:avLst>
              <a:gd name="adj" fmla="val 16667"/>
            </a:avLst>
          </a:prstGeom>
          <a:solidFill>
            <a:srgbClr val="6C5CE7"/>
          </a:solidFill>
          <a:ln w="12700">
            <a:solidFill>
              <a:srgbClr val="6C5CE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24" name="Text 15"/>
          <p:cNvSpPr/>
          <p:nvPr/>
        </p:nvSpPr>
        <p:spPr>
          <a:xfrm>
            <a:off x="7159680" y="2057400"/>
            <a:ext cx="17737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rial"/>
              </a:rPr>
              <a:t>PROCESS</a:t>
            </a:r>
            <a:endParaRPr lang="en-US" sz="1400" b="0" u="none" strike="noStrike">
              <a:solidFill>
                <a:srgbClr val="000000"/>
              </a:solidFill>
              <a:effectLst/>
              <a:uFillTx/>
              <a:latin typeface="Arial"/>
            </a:endParaRPr>
          </a:p>
        </p:txBody>
      </p:sp>
      <p:sp>
        <p:nvSpPr>
          <p:cNvPr id="325" name="Text 16"/>
          <p:cNvSpPr/>
          <p:nvPr/>
        </p:nvSpPr>
        <p:spPr>
          <a:xfrm>
            <a:off x="7196400" y="2468880"/>
            <a:ext cx="17002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30" b="0" u="none" strike="noStrike">
                <a:solidFill>
                  <a:srgbClr val="EDF3FA"/>
                </a:solidFill>
                <a:effectLst/>
                <a:uFillTx/>
                <a:latin typeface="Arial"/>
              </a:rPr>
              <a:t>Spark Batch / Streaming</a:t>
            </a:r>
            <a:endParaRPr lang="en-US" sz="930" b="0" u="none" strike="noStrike">
              <a:solidFill>
                <a:srgbClr val="000000"/>
              </a:solidFill>
              <a:effectLst/>
              <a:uFillTx/>
              <a:latin typeface="Arial"/>
            </a:endParaRPr>
          </a:p>
        </p:txBody>
      </p:sp>
      <p:sp>
        <p:nvSpPr>
          <p:cNvPr id="326" name="Shape 17"/>
          <p:cNvSpPr/>
          <p:nvPr/>
        </p:nvSpPr>
        <p:spPr>
          <a:xfrm>
            <a:off x="9006840" y="2395440"/>
            <a:ext cx="27432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327" name="Shape 18"/>
          <p:cNvSpPr/>
          <p:nvPr/>
        </p:nvSpPr>
        <p:spPr>
          <a:xfrm>
            <a:off x="9281160" y="1828800"/>
            <a:ext cx="1919880" cy="1142640"/>
          </a:xfrm>
          <a:prstGeom prst="roundRect">
            <a:avLst>
              <a:gd name="adj" fmla="val 16667"/>
            </a:avLst>
          </a:prstGeom>
          <a:solidFill>
            <a:srgbClr val="2E7D32"/>
          </a:solidFill>
          <a:ln w="12700">
            <a:solidFill>
              <a:srgbClr val="2E7D3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28" name="Text 19"/>
          <p:cNvSpPr/>
          <p:nvPr/>
        </p:nvSpPr>
        <p:spPr>
          <a:xfrm>
            <a:off x="9354240" y="2057400"/>
            <a:ext cx="17737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rial"/>
              </a:rPr>
              <a:t>SERVING</a:t>
            </a:r>
            <a:endParaRPr lang="en-US" sz="1400" b="0" u="none" strike="noStrike">
              <a:solidFill>
                <a:srgbClr val="000000"/>
              </a:solidFill>
              <a:effectLst/>
              <a:uFillTx/>
              <a:latin typeface="Arial"/>
            </a:endParaRPr>
          </a:p>
        </p:txBody>
      </p:sp>
      <p:sp>
        <p:nvSpPr>
          <p:cNvPr id="329" name="Text 20"/>
          <p:cNvSpPr/>
          <p:nvPr/>
        </p:nvSpPr>
        <p:spPr>
          <a:xfrm>
            <a:off x="9390960" y="2468880"/>
            <a:ext cx="17002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30" b="0" u="none" strike="noStrike">
                <a:solidFill>
                  <a:srgbClr val="EDF3FA"/>
                </a:solidFill>
                <a:effectLst/>
                <a:uFillTx/>
                <a:latin typeface="Arial"/>
              </a:rPr>
              <a:t>Hive/SQL • BI • ML</a:t>
            </a:r>
            <a:endParaRPr lang="en-US" sz="930" b="0" u="none" strike="noStrike">
              <a:solidFill>
                <a:srgbClr val="000000"/>
              </a:solidFill>
              <a:effectLst/>
              <a:uFillTx/>
              <a:latin typeface="Arial"/>
            </a:endParaRPr>
          </a:p>
        </p:txBody>
      </p:sp>
      <p:sp>
        <p:nvSpPr>
          <p:cNvPr id="330" name="Shape 21"/>
          <p:cNvSpPr/>
          <p:nvPr/>
        </p:nvSpPr>
        <p:spPr>
          <a:xfrm>
            <a:off x="1051560" y="3703320"/>
            <a:ext cx="10058040" cy="776880"/>
          </a:xfrm>
          <a:prstGeom prst="roundRect">
            <a:avLst>
              <a:gd name="adj" fmla="val 16667"/>
            </a:avLst>
          </a:prstGeom>
          <a:solidFill>
            <a:srgbClr val="FFF6E1"/>
          </a:solidFill>
          <a:ln w="13970">
            <a:solidFill>
              <a:srgbClr val="F4C66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31" name="Text 22"/>
          <p:cNvSpPr/>
          <p:nvPr/>
        </p:nvSpPr>
        <p:spPr>
          <a:xfrm>
            <a:off x="3749040" y="3931920"/>
            <a:ext cx="43887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u="none" strike="noStrike">
                <a:solidFill>
                  <a:srgbClr val="A15C00"/>
                </a:solidFill>
                <a:effectLst/>
                <a:uFillTx/>
                <a:latin typeface="Arial"/>
              </a:rPr>
              <a:t>ORCHESTRATION — AIRFLOW</a:t>
            </a:r>
            <a:endParaRPr lang="en-US" sz="1600" b="0" u="none" strike="noStrike">
              <a:solidFill>
                <a:srgbClr val="000000"/>
              </a:solidFill>
              <a:effectLst/>
              <a:uFillTx/>
              <a:latin typeface="Arial"/>
            </a:endParaRPr>
          </a:p>
        </p:txBody>
      </p:sp>
      <p:sp>
        <p:nvSpPr>
          <p:cNvPr id="332" name="Text 23"/>
          <p:cNvSpPr/>
          <p:nvPr/>
        </p:nvSpPr>
        <p:spPr>
          <a:xfrm>
            <a:off x="3154680" y="4224600"/>
            <a:ext cx="55774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0" u="none" strike="noStrike">
                <a:solidFill>
                  <a:srgbClr val="6B4D1D"/>
                </a:solidFill>
                <a:effectLst/>
                <a:uFillTx/>
                <a:latin typeface="Arial"/>
              </a:rPr>
              <a:t>Lên lịch • phụ thuộc task • retry • logging • giám sát</a:t>
            </a:r>
            <a:endParaRPr lang="en-US" sz="1050" b="0" u="none" strike="noStrike">
              <a:solidFill>
                <a:srgbClr val="000000"/>
              </a:solidFill>
              <a:effectLst/>
              <a:uFillTx/>
              <a:latin typeface="Arial"/>
            </a:endParaRPr>
          </a:p>
        </p:txBody>
      </p:sp>
      <p:sp>
        <p:nvSpPr>
          <p:cNvPr id="333" name="Shape 24"/>
          <p:cNvSpPr/>
          <p:nvPr/>
        </p:nvSpPr>
        <p:spPr>
          <a:xfrm>
            <a:off x="1188720" y="4892040"/>
            <a:ext cx="2834280" cy="822600"/>
          </a:xfrm>
          <a:prstGeom prst="roundRect">
            <a:avLst>
              <a:gd name="adj" fmla="val 6667"/>
            </a:avLst>
          </a:prstGeom>
          <a:solidFill>
            <a:srgbClr val="FFFFFF"/>
          </a:solidFill>
          <a:ln w="15240">
            <a:solidFill>
              <a:srgbClr val="D9E2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34" name="Shape 25"/>
          <p:cNvSpPr/>
          <p:nvPr/>
        </p:nvSpPr>
        <p:spPr>
          <a:xfrm>
            <a:off x="1188720" y="4892040"/>
            <a:ext cx="72720" cy="822600"/>
          </a:xfrm>
          <a:prstGeom prst="rect">
            <a:avLst/>
          </a:prstGeom>
          <a:solidFill>
            <a:srgbClr val="1E88E5"/>
          </a:solidFill>
          <a:ln w="12700">
            <a:solidFill>
              <a:srgbClr val="1E88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35" name="Text 26"/>
          <p:cNvSpPr/>
          <p:nvPr/>
        </p:nvSpPr>
        <p:spPr>
          <a:xfrm>
            <a:off x="1371600" y="5038200"/>
            <a:ext cx="2541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6324F"/>
                </a:solidFill>
                <a:effectLst/>
                <a:uFillTx/>
                <a:latin typeface="Arial"/>
              </a:rPr>
              <a:t>Batch path</a:t>
            </a:r>
            <a:endParaRPr lang="en-US" sz="1600" b="0" u="none" strike="noStrike">
              <a:solidFill>
                <a:srgbClr val="000000"/>
              </a:solidFill>
              <a:effectLst/>
              <a:uFillTx/>
              <a:latin typeface="Arial"/>
            </a:endParaRPr>
          </a:p>
        </p:txBody>
      </p:sp>
      <p:sp>
        <p:nvSpPr>
          <p:cNvPr id="336" name="Text 27"/>
          <p:cNvSpPr/>
          <p:nvPr/>
        </p:nvSpPr>
        <p:spPr>
          <a:xfrm>
            <a:off x="1371600" y="5422320"/>
            <a:ext cx="252324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lnSpcReduction="9999"/>
          </a:bodyPr>
          <a:lstStyle/>
          <a:p>
            <a:pPr defTabSz="914400">
              <a:lnSpc>
                <a:spcPct val="100000"/>
              </a:lnSpc>
              <a:tabLst>
                <a:tab pos="0" algn="l"/>
              </a:tabLst>
            </a:pPr>
            <a:r>
              <a:rPr lang="en-US" sz="1080" b="0" u="none" strike="noStrike">
                <a:solidFill>
                  <a:srgbClr val="1F2937"/>
                </a:solidFill>
                <a:effectLst/>
                <a:uFillTx/>
                <a:latin typeface="Arial"/>
              </a:rPr>
              <a:t>DB → HDFS → Spark → BI</a:t>
            </a:r>
            <a:endParaRPr lang="en-US" sz="1080" b="0" u="none" strike="noStrike">
              <a:solidFill>
                <a:srgbClr val="000000"/>
              </a:solidFill>
              <a:effectLst/>
              <a:uFillTx/>
              <a:latin typeface="Arial"/>
            </a:endParaRPr>
          </a:p>
        </p:txBody>
      </p:sp>
      <p:sp>
        <p:nvSpPr>
          <p:cNvPr id="337" name="Shape 28"/>
          <p:cNvSpPr/>
          <p:nvPr/>
        </p:nvSpPr>
        <p:spPr>
          <a:xfrm>
            <a:off x="4663440" y="4892040"/>
            <a:ext cx="2834280" cy="822600"/>
          </a:xfrm>
          <a:prstGeom prst="roundRect">
            <a:avLst>
              <a:gd name="adj" fmla="val 6667"/>
            </a:avLst>
          </a:prstGeom>
          <a:solidFill>
            <a:srgbClr val="FFFFFF"/>
          </a:solidFill>
          <a:ln w="15240">
            <a:solidFill>
              <a:srgbClr val="D9E2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38" name="Shape 29"/>
          <p:cNvSpPr/>
          <p:nvPr/>
        </p:nvSpPr>
        <p:spPr>
          <a:xfrm>
            <a:off x="4663440" y="4892040"/>
            <a:ext cx="72720" cy="822600"/>
          </a:xfrm>
          <a:prstGeom prst="rect">
            <a:avLst/>
          </a:prstGeom>
          <a:solidFill>
            <a:srgbClr val="00A6A6"/>
          </a:solidFill>
          <a:ln w="12700">
            <a:solidFill>
              <a:srgbClr val="00A6A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39" name="Text 30"/>
          <p:cNvSpPr/>
          <p:nvPr/>
        </p:nvSpPr>
        <p:spPr>
          <a:xfrm>
            <a:off x="4846320" y="5038200"/>
            <a:ext cx="2541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6324F"/>
                </a:solidFill>
                <a:effectLst/>
                <a:uFillTx/>
                <a:latin typeface="Arial"/>
              </a:rPr>
              <a:t>Streaming path</a:t>
            </a:r>
            <a:endParaRPr lang="en-US" sz="1600" b="0" u="none" strike="noStrike">
              <a:solidFill>
                <a:srgbClr val="000000"/>
              </a:solidFill>
              <a:effectLst/>
              <a:uFillTx/>
              <a:latin typeface="Arial"/>
            </a:endParaRPr>
          </a:p>
        </p:txBody>
      </p:sp>
      <p:sp>
        <p:nvSpPr>
          <p:cNvPr id="340" name="Text 31"/>
          <p:cNvSpPr/>
          <p:nvPr/>
        </p:nvSpPr>
        <p:spPr>
          <a:xfrm>
            <a:off x="4846320" y="5422320"/>
            <a:ext cx="252324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lnSpcReduction="9999"/>
          </a:bodyPr>
          <a:lstStyle/>
          <a:p>
            <a:pPr defTabSz="914400">
              <a:lnSpc>
                <a:spcPct val="100000"/>
              </a:lnSpc>
              <a:tabLst>
                <a:tab pos="0" algn="l"/>
              </a:tabLst>
            </a:pPr>
            <a:r>
              <a:rPr lang="en-US" sz="1080" b="0" u="none" strike="noStrike">
                <a:solidFill>
                  <a:srgbClr val="1F2937"/>
                </a:solidFill>
                <a:effectLst/>
                <a:uFillTx/>
                <a:latin typeface="Arial"/>
              </a:rPr>
              <a:t>App → Kafka → Spark Streaming</a:t>
            </a:r>
            <a:endParaRPr lang="en-US" sz="1080" b="0" u="none" strike="noStrike">
              <a:solidFill>
                <a:srgbClr val="000000"/>
              </a:solidFill>
              <a:effectLst/>
              <a:uFillTx/>
              <a:latin typeface="Arial"/>
            </a:endParaRPr>
          </a:p>
        </p:txBody>
      </p:sp>
      <p:sp>
        <p:nvSpPr>
          <p:cNvPr id="341" name="Shape 32"/>
          <p:cNvSpPr/>
          <p:nvPr/>
        </p:nvSpPr>
        <p:spPr>
          <a:xfrm>
            <a:off x="8138160" y="4892040"/>
            <a:ext cx="2834280" cy="822600"/>
          </a:xfrm>
          <a:prstGeom prst="roundRect">
            <a:avLst>
              <a:gd name="adj" fmla="val 6667"/>
            </a:avLst>
          </a:prstGeom>
          <a:solidFill>
            <a:srgbClr val="FFFFFF"/>
          </a:solidFill>
          <a:ln w="15240">
            <a:solidFill>
              <a:srgbClr val="D9E2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42" name="Shape 33"/>
          <p:cNvSpPr/>
          <p:nvPr/>
        </p:nvSpPr>
        <p:spPr>
          <a:xfrm>
            <a:off x="8138160" y="4892040"/>
            <a:ext cx="72720" cy="822600"/>
          </a:xfrm>
          <a:prstGeom prst="rect">
            <a:avLst/>
          </a:prstGeom>
          <a:solidFill>
            <a:srgbClr val="F59E0B"/>
          </a:solidFill>
          <a:ln w="12700">
            <a:solidFill>
              <a:srgbClr val="F59E0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43" name="Text 34"/>
          <p:cNvSpPr/>
          <p:nvPr/>
        </p:nvSpPr>
        <p:spPr>
          <a:xfrm>
            <a:off x="8321040" y="5038200"/>
            <a:ext cx="254160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6324F"/>
                </a:solidFill>
                <a:effectLst/>
                <a:uFillTx/>
                <a:latin typeface="Arial"/>
              </a:rPr>
              <a:t>Airflow</a:t>
            </a:r>
            <a:endParaRPr lang="en-US" sz="1600" b="0" u="none" strike="noStrike">
              <a:solidFill>
                <a:srgbClr val="000000"/>
              </a:solidFill>
              <a:effectLst/>
              <a:uFillTx/>
              <a:latin typeface="Arial"/>
            </a:endParaRPr>
          </a:p>
        </p:txBody>
      </p:sp>
      <p:sp>
        <p:nvSpPr>
          <p:cNvPr id="344" name="Text 35"/>
          <p:cNvSpPr/>
          <p:nvPr/>
        </p:nvSpPr>
        <p:spPr>
          <a:xfrm>
            <a:off x="8321040" y="5422320"/>
            <a:ext cx="252324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lnSpcReduction="9999"/>
          </a:bodyPr>
          <a:lstStyle/>
          <a:p>
            <a:pPr defTabSz="914400">
              <a:lnSpc>
                <a:spcPct val="100000"/>
              </a:lnSpc>
              <a:tabLst>
                <a:tab pos="0" algn="l"/>
              </a:tabLst>
            </a:pPr>
            <a:r>
              <a:rPr lang="en-US" sz="1080" b="0" u="none" strike="noStrike">
                <a:solidFill>
                  <a:srgbClr val="1F2937"/>
                </a:solidFill>
                <a:effectLst/>
                <a:uFillTx/>
                <a:latin typeface="Arial"/>
              </a:rPr>
              <a:t>Điều phối job, không thay Kafka/Spark</a:t>
            </a:r>
            <a:endParaRPr lang="en-US" sz="1080" b="0" u="none" strike="noStrike">
              <a:solidFill>
                <a:srgbClr val="000000"/>
              </a:solidFill>
              <a:effectLst/>
              <a:uFillTx/>
              <a:latin typeface="Arial"/>
            </a:endParaRPr>
          </a:p>
        </p:txBody>
      </p:sp>
      <p:sp>
        <p:nvSpPr>
          <p:cNvPr id="345" name="Text 36"/>
          <p:cNvSpPr/>
          <p:nvPr/>
        </p:nvSpPr>
        <p:spPr>
          <a:xfrm>
            <a:off x="585360" y="6364080"/>
            <a:ext cx="80463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i="1" u="none" strike="noStrike">
                <a:solidFill>
                  <a:srgbClr val="8793A1"/>
                </a:solidFill>
                <a:effectLst/>
                <a:uFillTx/>
                <a:latin typeface="Arial"/>
              </a:rPr>
              <a:t>Sơ đồ revise từ slide 7 của tài liệu gốc.</a:t>
            </a:r>
            <a:endParaRPr lang="en-US" sz="720" b="0" u="none" strike="noStrike">
              <a:solidFill>
                <a:srgbClr val="000000"/>
              </a:solidFill>
              <a:effectLst/>
              <a:uFillTx/>
              <a:latin typeface="Arial"/>
            </a:endParaRPr>
          </a:p>
        </p:txBody>
      </p:sp>
      <p:sp>
        <p:nvSpPr>
          <p:cNvPr id="346" name="PlaceHolder 1"/>
          <p:cNvSpPr>
            <a:spLocks noGrp="1"/>
          </p:cNvSpPr>
          <p:nvPr>
            <p:ph type="sldNum" idx="14"/>
          </p:nvPr>
        </p:nvSpPr>
        <p:spPr>
          <a:xfrm>
            <a:off x="11631240" y="6510600"/>
            <a:ext cx="255600" cy="200880"/>
          </a:xfrm>
          <a:prstGeom prst="rect">
            <a:avLst/>
          </a:prstGeom>
          <a:noFill/>
          <a:ln w="0">
            <a:noFill/>
          </a:ln>
        </p:spPr>
        <p:txBody>
          <a:bodyPr lIns="90000" tIns="45000" rIns="90000" bIns="45000" anchor="t">
            <a:noAutofit/>
          </a:bodyPr>
          <a:lstStyle>
            <a:lvl1pPr indent="0" algn="r" defTabSz="914400">
              <a:lnSpc>
                <a:spcPct val="100000"/>
              </a:lnSpc>
              <a:buNone/>
              <a:defRPr lang="en-US" sz="800" b="0" u="none" strike="noStrike">
                <a:solidFill>
                  <a:srgbClr val="7A8797"/>
                </a:solidFill>
                <a:effectLst/>
                <a:uFillTx/>
                <a:latin typeface="Arial"/>
                <a:ea typeface="Arial"/>
              </a:defRPr>
            </a:lvl1pPr>
          </a:lstStyle>
          <a:p>
            <a:pPr indent="0" algn="r" defTabSz="914400">
              <a:lnSpc>
                <a:spcPct val="100000"/>
              </a:lnSpc>
              <a:buNone/>
            </a:pPr>
            <a:fld id="{A289D3E9-DFBF-4445-92F5-F755A04AF76E}" type="slidenum">
              <a:rPr lang="en-US" sz="800" b="0" u="none" strike="noStrike">
                <a:solidFill>
                  <a:srgbClr val="7A8797"/>
                </a:solidFill>
                <a:effectLst/>
                <a:uFillTx/>
                <a:latin typeface="Arial"/>
                <a:ea typeface="Arial"/>
              </a:rPr>
              <a:t>10</a:t>
            </a:fld>
            <a:endParaRPr lang="en-US" sz="800" b="0" u="none" strike="noStrike">
              <a:solidFill>
                <a:srgbClr val="000000"/>
              </a:solidFill>
              <a:effectLst/>
              <a:uFillTx/>
              <a:latin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 name="Text 0"/>
          <p:cNvSpPr/>
          <p:nvPr/>
        </p:nvSpPr>
        <p:spPr>
          <a:xfrm>
            <a:off x="548640" y="329040"/>
            <a:ext cx="1106388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700" b="1" u="none" strike="noStrike">
                <a:solidFill>
                  <a:srgbClr val="16324F"/>
                </a:solidFill>
                <a:effectLst/>
                <a:uFillTx/>
                <a:latin typeface="Arial"/>
                <a:ea typeface="Arial"/>
              </a:rPr>
              <a:t>10. Bản đồ công nghệ theo từng lớp pipeline</a:t>
            </a:r>
            <a:endParaRPr lang="en-US" sz="2700" b="0" u="none" strike="noStrike">
              <a:solidFill>
                <a:srgbClr val="000000"/>
              </a:solidFill>
              <a:effectLst/>
              <a:uFillTx/>
              <a:latin typeface="Arial"/>
            </a:endParaRPr>
          </a:p>
        </p:txBody>
      </p:sp>
      <p:sp>
        <p:nvSpPr>
          <p:cNvPr id="348" name="Text 1"/>
          <p:cNvSpPr/>
          <p:nvPr/>
        </p:nvSpPr>
        <p:spPr>
          <a:xfrm>
            <a:off x="567000" y="841320"/>
            <a:ext cx="109724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0" u="none" strike="noStrike">
                <a:solidFill>
                  <a:srgbClr val="5F6B7A"/>
                </a:solidFill>
                <a:effectLst/>
                <a:uFillTx/>
                <a:latin typeface="Arial"/>
                <a:ea typeface="Arial"/>
              </a:rPr>
              <a:t>Đặt công nghệ đúng lớp giúp tránh thiết kế “một công cụ làm tất cả”.</a:t>
            </a:r>
            <a:endParaRPr lang="en-US" sz="1250" b="0" u="none" strike="noStrike">
              <a:solidFill>
                <a:srgbClr val="000000"/>
              </a:solidFill>
              <a:effectLst/>
              <a:uFillTx/>
              <a:latin typeface="Arial"/>
            </a:endParaRPr>
          </a:p>
        </p:txBody>
      </p:sp>
      <p:sp>
        <p:nvSpPr>
          <p:cNvPr id="349" name="Shape 2"/>
          <p:cNvSpPr/>
          <p:nvPr/>
        </p:nvSpPr>
        <p:spPr>
          <a:xfrm>
            <a:off x="685800" y="1325880"/>
            <a:ext cx="1919880" cy="529920"/>
          </a:xfrm>
          <a:prstGeom prst="roundRect">
            <a:avLst>
              <a:gd name="adj" fmla="val 16667"/>
            </a:avLst>
          </a:prstGeom>
          <a:solidFill>
            <a:srgbClr val="1E88E5"/>
          </a:solidFill>
          <a:ln w="12700">
            <a:solidFill>
              <a:srgbClr val="1E88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50" name="Text 3"/>
          <p:cNvSpPr/>
          <p:nvPr/>
        </p:nvSpPr>
        <p:spPr>
          <a:xfrm>
            <a:off x="795600" y="1481400"/>
            <a:ext cx="17002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20" b="1" u="none" strike="noStrike">
                <a:solidFill>
                  <a:srgbClr val="FFFFFF"/>
                </a:solidFill>
                <a:effectLst/>
                <a:uFillTx/>
                <a:latin typeface="Arial"/>
              </a:rPr>
              <a:t>Ingestion</a:t>
            </a:r>
            <a:endParaRPr lang="en-US" sz="1220" b="0" u="none" strike="noStrike">
              <a:solidFill>
                <a:srgbClr val="000000"/>
              </a:solidFill>
              <a:effectLst/>
              <a:uFillTx/>
              <a:latin typeface="Arial"/>
            </a:endParaRPr>
          </a:p>
        </p:txBody>
      </p:sp>
      <p:sp>
        <p:nvSpPr>
          <p:cNvPr id="351" name="Text 4"/>
          <p:cNvSpPr/>
          <p:nvPr/>
        </p:nvSpPr>
        <p:spPr>
          <a:xfrm>
            <a:off x="2880360" y="1398960"/>
            <a:ext cx="39315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40" b="1" u="none" strike="noStrike">
                <a:solidFill>
                  <a:srgbClr val="16324F"/>
                </a:solidFill>
                <a:effectLst/>
                <a:uFillTx/>
                <a:latin typeface="Arial"/>
              </a:rPr>
              <a:t>Kafka • Flume • NiFi • Spark JDBC</a:t>
            </a:r>
            <a:endParaRPr lang="en-US" sz="1140" b="0" u="none" strike="noStrike">
              <a:solidFill>
                <a:srgbClr val="000000"/>
              </a:solidFill>
              <a:effectLst/>
              <a:uFillTx/>
              <a:latin typeface="Arial"/>
            </a:endParaRPr>
          </a:p>
        </p:txBody>
      </p:sp>
      <p:sp>
        <p:nvSpPr>
          <p:cNvPr id="352" name="Text 5"/>
          <p:cNvSpPr/>
          <p:nvPr/>
        </p:nvSpPr>
        <p:spPr>
          <a:xfrm>
            <a:off x="6903720" y="1398960"/>
            <a:ext cx="41601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80" b="0" u="none" strike="noStrike">
                <a:solidFill>
                  <a:srgbClr val="5F6B7A"/>
                </a:solidFill>
                <a:effectLst/>
                <a:uFillTx/>
                <a:latin typeface="Arial"/>
              </a:rPr>
              <a:t>Thu nhận dữ liệu từ nguồn</a:t>
            </a:r>
            <a:endParaRPr lang="en-US" sz="1080" b="0" u="none" strike="noStrike">
              <a:solidFill>
                <a:srgbClr val="000000"/>
              </a:solidFill>
              <a:effectLst/>
              <a:uFillTx/>
              <a:latin typeface="Arial"/>
            </a:endParaRPr>
          </a:p>
        </p:txBody>
      </p:sp>
      <p:sp>
        <p:nvSpPr>
          <p:cNvPr id="353" name="Shape 6"/>
          <p:cNvSpPr/>
          <p:nvPr/>
        </p:nvSpPr>
        <p:spPr>
          <a:xfrm>
            <a:off x="685800" y="2075760"/>
            <a:ext cx="1919880" cy="529920"/>
          </a:xfrm>
          <a:prstGeom prst="roundRect">
            <a:avLst>
              <a:gd name="adj" fmla="val 16667"/>
            </a:avLst>
          </a:prstGeom>
          <a:solidFill>
            <a:srgbClr val="16324F"/>
          </a:solidFill>
          <a:ln w="12700">
            <a:solidFill>
              <a:srgbClr val="16324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54" name="Text 7"/>
          <p:cNvSpPr/>
          <p:nvPr/>
        </p:nvSpPr>
        <p:spPr>
          <a:xfrm>
            <a:off x="795600" y="2231280"/>
            <a:ext cx="17002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20" b="1" u="none" strike="noStrike">
                <a:solidFill>
                  <a:srgbClr val="FFFFFF"/>
                </a:solidFill>
                <a:effectLst/>
                <a:uFillTx/>
                <a:latin typeface="Arial"/>
              </a:rPr>
              <a:t>Storage</a:t>
            </a:r>
            <a:endParaRPr lang="en-US" sz="1220" b="0" u="none" strike="noStrike">
              <a:solidFill>
                <a:srgbClr val="000000"/>
              </a:solidFill>
              <a:effectLst/>
              <a:uFillTx/>
              <a:latin typeface="Arial"/>
            </a:endParaRPr>
          </a:p>
        </p:txBody>
      </p:sp>
      <p:sp>
        <p:nvSpPr>
          <p:cNvPr id="355" name="Text 8"/>
          <p:cNvSpPr/>
          <p:nvPr/>
        </p:nvSpPr>
        <p:spPr>
          <a:xfrm>
            <a:off x="2880360" y="2148840"/>
            <a:ext cx="39315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40" b="1" u="none" strike="noStrike">
                <a:solidFill>
                  <a:srgbClr val="16324F"/>
                </a:solidFill>
                <a:effectLst/>
                <a:uFillTx/>
                <a:latin typeface="Arial"/>
              </a:rPr>
              <a:t>HDFS • HBase • Object Storage • Kafka retention</a:t>
            </a:r>
            <a:endParaRPr lang="en-US" sz="1140" b="0" u="none" strike="noStrike">
              <a:solidFill>
                <a:srgbClr val="000000"/>
              </a:solidFill>
              <a:effectLst/>
              <a:uFillTx/>
              <a:latin typeface="Arial"/>
            </a:endParaRPr>
          </a:p>
        </p:txBody>
      </p:sp>
      <p:sp>
        <p:nvSpPr>
          <p:cNvPr id="356" name="Text 9"/>
          <p:cNvSpPr/>
          <p:nvPr/>
        </p:nvSpPr>
        <p:spPr>
          <a:xfrm>
            <a:off x="6903720" y="2148840"/>
            <a:ext cx="41601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80" b="0" u="none" strike="noStrike">
                <a:solidFill>
                  <a:srgbClr val="5F6B7A"/>
                </a:solidFill>
                <a:effectLst/>
                <a:uFillTx/>
                <a:latin typeface="Arial"/>
              </a:rPr>
              <a:t>Lưu raw/curated/event log</a:t>
            </a:r>
            <a:endParaRPr lang="en-US" sz="1080" b="0" u="none" strike="noStrike">
              <a:solidFill>
                <a:srgbClr val="000000"/>
              </a:solidFill>
              <a:effectLst/>
              <a:uFillTx/>
              <a:latin typeface="Arial"/>
            </a:endParaRPr>
          </a:p>
        </p:txBody>
      </p:sp>
      <p:sp>
        <p:nvSpPr>
          <p:cNvPr id="357" name="Shape 10"/>
          <p:cNvSpPr/>
          <p:nvPr/>
        </p:nvSpPr>
        <p:spPr>
          <a:xfrm>
            <a:off x="685800" y="2825640"/>
            <a:ext cx="1919880" cy="529920"/>
          </a:xfrm>
          <a:prstGeom prst="roundRect">
            <a:avLst>
              <a:gd name="adj" fmla="val 16667"/>
            </a:avLst>
          </a:prstGeom>
          <a:solidFill>
            <a:srgbClr val="6C5CE7"/>
          </a:solidFill>
          <a:ln w="12700">
            <a:solidFill>
              <a:srgbClr val="6C5CE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58" name="Text 11"/>
          <p:cNvSpPr/>
          <p:nvPr/>
        </p:nvSpPr>
        <p:spPr>
          <a:xfrm>
            <a:off x="795600" y="2980800"/>
            <a:ext cx="17002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20" b="1" u="none" strike="noStrike">
                <a:solidFill>
                  <a:srgbClr val="FFFFFF"/>
                </a:solidFill>
                <a:effectLst/>
                <a:uFillTx/>
                <a:latin typeface="Arial"/>
              </a:rPr>
              <a:t>Processing</a:t>
            </a:r>
            <a:endParaRPr lang="en-US" sz="1220" b="0" u="none" strike="noStrike">
              <a:solidFill>
                <a:srgbClr val="000000"/>
              </a:solidFill>
              <a:effectLst/>
              <a:uFillTx/>
              <a:latin typeface="Arial"/>
            </a:endParaRPr>
          </a:p>
        </p:txBody>
      </p:sp>
      <p:sp>
        <p:nvSpPr>
          <p:cNvPr id="359" name="Text 12"/>
          <p:cNvSpPr/>
          <p:nvPr/>
        </p:nvSpPr>
        <p:spPr>
          <a:xfrm>
            <a:off x="2880360" y="2898720"/>
            <a:ext cx="39315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40" b="1" u="none" strike="noStrike">
                <a:solidFill>
                  <a:srgbClr val="16324F"/>
                </a:solidFill>
                <a:effectLst/>
                <a:uFillTx/>
                <a:latin typeface="Arial"/>
              </a:rPr>
              <a:t>Spark • Flink</a:t>
            </a:r>
            <a:endParaRPr lang="en-US" sz="1140" b="0" u="none" strike="noStrike">
              <a:solidFill>
                <a:srgbClr val="000000"/>
              </a:solidFill>
              <a:effectLst/>
              <a:uFillTx/>
              <a:latin typeface="Arial"/>
            </a:endParaRPr>
          </a:p>
        </p:txBody>
      </p:sp>
      <p:sp>
        <p:nvSpPr>
          <p:cNvPr id="360" name="Text 13"/>
          <p:cNvSpPr/>
          <p:nvPr/>
        </p:nvSpPr>
        <p:spPr>
          <a:xfrm>
            <a:off x="6903720" y="2898720"/>
            <a:ext cx="41601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80" b="0" u="none" strike="noStrike">
                <a:solidFill>
                  <a:srgbClr val="5F6B7A"/>
                </a:solidFill>
                <a:effectLst/>
                <a:uFillTx/>
                <a:latin typeface="Arial"/>
              </a:rPr>
              <a:t>ETL, aggregation, streaming</a:t>
            </a:r>
            <a:endParaRPr lang="en-US" sz="1080" b="0" u="none" strike="noStrike">
              <a:solidFill>
                <a:srgbClr val="000000"/>
              </a:solidFill>
              <a:effectLst/>
              <a:uFillTx/>
              <a:latin typeface="Arial"/>
            </a:endParaRPr>
          </a:p>
        </p:txBody>
      </p:sp>
      <p:sp>
        <p:nvSpPr>
          <p:cNvPr id="361" name="Shape 14"/>
          <p:cNvSpPr/>
          <p:nvPr/>
        </p:nvSpPr>
        <p:spPr>
          <a:xfrm>
            <a:off x="685800" y="3575160"/>
            <a:ext cx="1919880" cy="529920"/>
          </a:xfrm>
          <a:prstGeom prst="roundRect">
            <a:avLst>
              <a:gd name="adj" fmla="val 16667"/>
            </a:avLst>
          </a:prstGeom>
          <a:solidFill>
            <a:srgbClr val="00A6A6"/>
          </a:solidFill>
          <a:ln w="12700">
            <a:solidFill>
              <a:srgbClr val="00A6A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62" name="Text 15"/>
          <p:cNvSpPr/>
          <p:nvPr/>
        </p:nvSpPr>
        <p:spPr>
          <a:xfrm>
            <a:off x="795600" y="3730680"/>
            <a:ext cx="17002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20" b="1" u="none" strike="noStrike">
                <a:solidFill>
                  <a:srgbClr val="FFFFFF"/>
                </a:solidFill>
                <a:effectLst/>
                <a:uFillTx/>
                <a:latin typeface="Arial"/>
              </a:rPr>
              <a:t>Query / Serving</a:t>
            </a:r>
            <a:endParaRPr lang="en-US" sz="1220" b="0" u="none" strike="noStrike">
              <a:solidFill>
                <a:srgbClr val="000000"/>
              </a:solidFill>
              <a:effectLst/>
              <a:uFillTx/>
              <a:latin typeface="Arial"/>
            </a:endParaRPr>
          </a:p>
        </p:txBody>
      </p:sp>
      <p:sp>
        <p:nvSpPr>
          <p:cNvPr id="363" name="Text 16"/>
          <p:cNvSpPr/>
          <p:nvPr/>
        </p:nvSpPr>
        <p:spPr>
          <a:xfrm>
            <a:off x="2880360" y="3648600"/>
            <a:ext cx="39315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40" b="1" u="none" strike="noStrike">
                <a:solidFill>
                  <a:srgbClr val="16324F"/>
                </a:solidFill>
                <a:effectLst/>
                <a:uFillTx/>
                <a:latin typeface="Arial"/>
              </a:rPr>
              <a:t>Hive • Trino/Presto • Spark SQL</a:t>
            </a:r>
            <a:endParaRPr lang="en-US" sz="1140" b="0" u="none" strike="noStrike">
              <a:solidFill>
                <a:srgbClr val="000000"/>
              </a:solidFill>
              <a:effectLst/>
              <a:uFillTx/>
              <a:latin typeface="Arial"/>
            </a:endParaRPr>
          </a:p>
        </p:txBody>
      </p:sp>
      <p:sp>
        <p:nvSpPr>
          <p:cNvPr id="364" name="Text 17"/>
          <p:cNvSpPr/>
          <p:nvPr/>
        </p:nvSpPr>
        <p:spPr>
          <a:xfrm>
            <a:off x="6903720" y="3648600"/>
            <a:ext cx="41601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80" b="0" u="none" strike="noStrike">
                <a:solidFill>
                  <a:srgbClr val="5F6B7A"/>
                </a:solidFill>
                <a:effectLst/>
                <a:uFillTx/>
                <a:latin typeface="Arial"/>
              </a:rPr>
              <a:t>Truy vấn và phục vụ dữ liệu</a:t>
            </a:r>
            <a:endParaRPr lang="en-US" sz="1080" b="0" u="none" strike="noStrike">
              <a:solidFill>
                <a:srgbClr val="000000"/>
              </a:solidFill>
              <a:effectLst/>
              <a:uFillTx/>
              <a:latin typeface="Arial"/>
            </a:endParaRPr>
          </a:p>
        </p:txBody>
      </p:sp>
      <p:sp>
        <p:nvSpPr>
          <p:cNvPr id="365" name="Shape 18"/>
          <p:cNvSpPr/>
          <p:nvPr/>
        </p:nvSpPr>
        <p:spPr>
          <a:xfrm>
            <a:off x="685800" y="4325040"/>
            <a:ext cx="1919880" cy="529920"/>
          </a:xfrm>
          <a:prstGeom prst="roundRect">
            <a:avLst>
              <a:gd name="adj" fmla="val 16667"/>
            </a:avLst>
          </a:prstGeom>
          <a:solidFill>
            <a:srgbClr val="2E7D32"/>
          </a:solidFill>
          <a:ln w="12700">
            <a:solidFill>
              <a:srgbClr val="2E7D3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66" name="Text 19"/>
          <p:cNvSpPr/>
          <p:nvPr/>
        </p:nvSpPr>
        <p:spPr>
          <a:xfrm>
            <a:off x="795600" y="4480560"/>
            <a:ext cx="17002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20" b="1" u="none" strike="noStrike">
                <a:solidFill>
                  <a:srgbClr val="FFFFFF"/>
                </a:solidFill>
                <a:effectLst/>
                <a:uFillTx/>
                <a:latin typeface="Arial"/>
              </a:rPr>
              <a:t>BI / ML</a:t>
            </a:r>
            <a:endParaRPr lang="en-US" sz="1220" b="0" u="none" strike="noStrike">
              <a:solidFill>
                <a:srgbClr val="000000"/>
              </a:solidFill>
              <a:effectLst/>
              <a:uFillTx/>
              <a:latin typeface="Arial"/>
            </a:endParaRPr>
          </a:p>
        </p:txBody>
      </p:sp>
      <p:sp>
        <p:nvSpPr>
          <p:cNvPr id="367" name="Text 20"/>
          <p:cNvSpPr/>
          <p:nvPr/>
        </p:nvSpPr>
        <p:spPr>
          <a:xfrm>
            <a:off x="2880360" y="4398120"/>
            <a:ext cx="39315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40" b="1" u="none" strike="noStrike">
                <a:solidFill>
                  <a:srgbClr val="16324F"/>
                </a:solidFill>
                <a:effectLst/>
                <a:uFillTx/>
                <a:latin typeface="Arial"/>
              </a:rPr>
              <a:t>Power BI • Tableau • Spark ML • Python</a:t>
            </a:r>
            <a:endParaRPr lang="en-US" sz="1140" b="0" u="none" strike="noStrike">
              <a:solidFill>
                <a:srgbClr val="000000"/>
              </a:solidFill>
              <a:effectLst/>
              <a:uFillTx/>
              <a:latin typeface="Arial"/>
            </a:endParaRPr>
          </a:p>
        </p:txBody>
      </p:sp>
      <p:sp>
        <p:nvSpPr>
          <p:cNvPr id="368" name="Text 21"/>
          <p:cNvSpPr/>
          <p:nvPr/>
        </p:nvSpPr>
        <p:spPr>
          <a:xfrm>
            <a:off x="6903720" y="4398120"/>
            <a:ext cx="41601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80" b="0" u="none" strike="noStrike">
                <a:solidFill>
                  <a:srgbClr val="5F6B7A"/>
                </a:solidFill>
                <a:effectLst/>
                <a:uFillTx/>
                <a:latin typeface="Arial"/>
              </a:rPr>
              <a:t>Báo cáo, dự báo, mô hình</a:t>
            </a:r>
            <a:endParaRPr lang="en-US" sz="1080" b="0" u="none" strike="noStrike">
              <a:solidFill>
                <a:srgbClr val="000000"/>
              </a:solidFill>
              <a:effectLst/>
              <a:uFillTx/>
              <a:latin typeface="Arial"/>
            </a:endParaRPr>
          </a:p>
        </p:txBody>
      </p:sp>
      <p:sp>
        <p:nvSpPr>
          <p:cNvPr id="369" name="Shape 22"/>
          <p:cNvSpPr/>
          <p:nvPr/>
        </p:nvSpPr>
        <p:spPr>
          <a:xfrm>
            <a:off x="685800" y="5074920"/>
            <a:ext cx="1919880" cy="529920"/>
          </a:xfrm>
          <a:prstGeom prst="roundRect">
            <a:avLst>
              <a:gd name="adj" fmla="val 16667"/>
            </a:avLst>
          </a:prstGeom>
          <a:solidFill>
            <a:srgbClr val="F59E0B"/>
          </a:solidFill>
          <a:ln w="12700">
            <a:solidFill>
              <a:srgbClr val="F59E0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70" name="Text 23"/>
          <p:cNvSpPr/>
          <p:nvPr/>
        </p:nvSpPr>
        <p:spPr>
          <a:xfrm>
            <a:off x="795600" y="5230440"/>
            <a:ext cx="17002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20" b="1" u="none" strike="noStrike">
                <a:solidFill>
                  <a:srgbClr val="FFFFFF"/>
                </a:solidFill>
                <a:effectLst/>
                <a:uFillTx/>
                <a:latin typeface="Arial"/>
              </a:rPr>
              <a:t>Orchestration</a:t>
            </a:r>
            <a:endParaRPr lang="en-US" sz="1220" b="0" u="none" strike="noStrike">
              <a:solidFill>
                <a:srgbClr val="000000"/>
              </a:solidFill>
              <a:effectLst/>
              <a:uFillTx/>
              <a:latin typeface="Arial"/>
            </a:endParaRPr>
          </a:p>
        </p:txBody>
      </p:sp>
      <p:sp>
        <p:nvSpPr>
          <p:cNvPr id="371" name="Text 24"/>
          <p:cNvSpPr/>
          <p:nvPr/>
        </p:nvSpPr>
        <p:spPr>
          <a:xfrm>
            <a:off x="2880360" y="5148000"/>
            <a:ext cx="39315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40" b="1" u="none" strike="noStrike">
                <a:solidFill>
                  <a:srgbClr val="16324F"/>
                </a:solidFill>
                <a:effectLst/>
                <a:uFillTx/>
                <a:latin typeface="Arial"/>
              </a:rPr>
              <a:t>Airflow</a:t>
            </a:r>
            <a:endParaRPr lang="en-US" sz="1140" b="0" u="none" strike="noStrike">
              <a:solidFill>
                <a:srgbClr val="000000"/>
              </a:solidFill>
              <a:effectLst/>
              <a:uFillTx/>
              <a:latin typeface="Arial"/>
            </a:endParaRPr>
          </a:p>
        </p:txBody>
      </p:sp>
      <p:sp>
        <p:nvSpPr>
          <p:cNvPr id="372" name="Text 25"/>
          <p:cNvSpPr/>
          <p:nvPr/>
        </p:nvSpPr>
        <p:spPr>
          <a:xfrm>
            <a:off x="6903720" y="5148000"/>
            <a:ext cx="41601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80" b="0" u="none" strike="noStrike">
                <a:solidFill>
                  <a:srgbClr val="5F6B7A"/>
                </a:solidFill>
                <a:effectLst/>
                <a:uFillTx/>
                <a:latin typeface="Arial"/>
              </a:rPr>
              <a:t>Lịch chạy, dependencies, retry, monitoring</a:t>
            </a:r>
            <a:endParaRPr lang="en-US" sz="1080" b="0" u="none" strike="noStrike">
              <a:solidFill>
                <a:srgbClr val="000000"/>
              </a:solidFill>
              <a:effectLst/>
              <a:uFillTx/>
              <a:latin typeface="Arial"/>
            </a:endParaRPr>
          </a:p>
        </p:txBody>
      </p:sp>
      <p:sp>
        <p:nvSpPr>
          <p:cNvPr id="373" name="Shape 26"/>
          <p:cNvSpPr/>
          <p:nvPr/>
        </p:nvSpPr>
        <p:spPr>
          <a:xfrm>
            <a:off x="567000" y="5824800"/>
            <a:ext cx="11018160" cy="566640"/>
          </a:xfrm>
          <a:prstGeom prst="roundRect">
            <a:avLst>
              <a:gd name="adj" fmla="val 9677"/>
            </a:avLst>
          </a:prstGeom>
          <a:solidFill>
            <a:srgbClr val="FFF7E6"/>
          </a:solidFill>
          <a:ln w="12700">
            <a:solidFill>
              <a:srgbClr val="F4C66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74" name="Text 27"/>
          <p:cNvSpPr/>
          <p:nvPr/>
        </p:nvSpPr>
        <p:spPr>
          <a:xfrm>
            <a:off x="749880" y="5980320"/>
            <a:ext cx="8226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a:solidFill>
                  <a:srgbClr val="A15C00"/>
                </a:solidFill>
                <a:effectLst/>
                <a:uFillTx/>
                <a:latin typeface="Arial"/>
              </a:rPr>
              <a:t>Giải thích</a:t>
            </a:r>
            <a:endParaRPr lang="en-US" sz="1100" b="0" u="none" strike="noStrike">
              <a:solidFill>
                <a:srgbClr val="000000"/>
              </a:solidFill>
              <a:effectLst/>
              <a:uFillTx/>
              <a:latin typeface="Arial"/>
            </a:endParaRPr>
          </a:p>
        </p:txBody>
      </p:sp>
      <p:sp>
        <p:nvSpPr>
          <p:cNvPr id="375" name="Text 28"/>
          <p:cNvSpPr/>
          <p:nvPr/>
        </p:nvSpPr>
        <p:spPr>
          <a:xfrm>
            <a:off x="1609200" y="5943600"/>
            <a:ext cx="97106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defTabSz="914400">
              <a:lnSpc>
                <a:spcPct val="100000"/>
              </a:lnSpc>
              <a:tabLst>
                <a:tab pos="0" algn="l"/>
              </a:tabLst>
            </a:pPr>
            <a:r>
              <a:rPr lang="en-US" sz="1120" b="0" u="none" strike="noStrike">
                <a:solidFill>
                  <a:srgbClr val="6B4D1D"/>
                </a:solidFill>
                <a:effectLst/>
                <a:uFillTx/>
                <a:latin typeface="Arial"/>
              </a:rPr>
              <a:t>Một công nghệ có thể xuất hiện ở nhiều lớp (ví dụ Kafka vừa ingest vừa lưu event theo retention), nhưng nên xác định “vai trò chính” của nó trong kiến trúc cụ thể.</a:t>
            </a:r>
            <a:endParaRPr lang="en-US" sz="1120" b="0" u="none" strike="noStrike">
              <a:solidFill>
                <a:srgbClr val="000000"/>
              </a:solidFill>
              <a:effectLst/>
              <a:uFillTx/>
              <a:latin typeface="Arial"/>
            </a:endParaRPr>
          </a:p>
        </p:txBody>
      </p:sp>
      <p:sp>
        <p:nvSpPr>
          <p:cNvPr id="376" name="PlaceHolder 1"/>
          <p:cNvSpPr>
            <a:spLocks noGrp="1"/>
          </p:cNvSpPr>
          <p:nvPr>
            <p:ph type="sldNum" idx="15"/>
          </p:nvPr>
        </p:nvSpPr>
        <p:spPr>
          <a:xfrm>
            <a:off x="11631240" y="6510600"/>
            <a:ext cx="255600" cy="200880"/>
          </a:xfrm>
          <a:prstGeom prst="rect">
            <a:avLst/>
          </a:prstGeom>
          <a:noFill/>
          <a:ln w="0">
            <a:noFill/>
          </a:ln>
        </p:spPr>
        <p:txBody>
          <a:bodyPr lIns="90000" tIns="45000" rIns="90000" bIns="45000" anchor="t">
            <a:noAutofit/>
          </a:bodyPr>
          <a:lstStyle>
            <a:lvl1pPr indent="0" algn="r" defTabSz="914400">
              <a:lnSpc>
                <a:spcPct val="100000"/>
              </a:lnSpc>
              <a:buNone/>
              <a:defRPr lang="en-US" sz="800" b="0" u="none" strike="noStrike">
                <a:solidFill>
                  <a:srgbClr val="7A8797"/>
                </a:solidFill>
                <a:effectLst/>
                <a:uFillTx/>
                <a:latin typeface="Arial"/>
                <a:ea typeface="Arial"/>
              </a:defRPr>
            </a:lvl1pPr>
          </a:lstStyle>
          <a:p>
            <a:pPr indent="0" algn="r" defTabSz="914400">
              <a:lnSpc>
                <a:spcPct val="100000"/>
              </a:lnSpc>
              <a:buNone/>
            </a:pPr>
            <a:fld id="{ECE0CEE2-B931-4641-9685-D4E37F9ECF3B}" type="slidenum">
              <a:rPr lang="en-US" sz="800" b="0" u="none" strike="noStrike">
                <a:solidFill>
                  <a:srgbClr val="7A8797"/>
                </a:solidFill>
                <a:effectLst/>
                <a:uFillTx/>
                <a:latin typeface="Arial"/>
                <a:ea typeface="Arial"/>
              </a:rPr>
              <a:t>11</a:t>
            </a:fld>
            <a:endParaRPr lang="en-US" sz="800" b="0" u="none" strike="noStrike">
              <a:solidFill>
                <a:srgbClr val="000000"/>
              </a:solidFill>
              <a:effectLst/>
              <a:uFillTx/>
              <a:latin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 name="Text 0"/>
          <p:cNvSpPr/>
          <p:nvPr/>
        </p:nvSpPr>
        <p:spPr>
          <a:xfrm>
            <a:off x="548640" y="329040"/>
            <a:ext cx="1106388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700" b="1" u="none" strike="noStrike">
                <a:solidFill>
                  <a:srgbClr val="16324F"/>
                </a:solidFill>
                <a:effectLst/>
                <a:uFillTx/>
                <a:latin typeface="Arial"/>
                <a:ea typeface="Arial"/>
              </a:rPr>
              <a:t>11. Ingestion, Processing và Orchestration</a:t>
            </a:r>
            <a:endParaRPr lang="en-US" sz="2700" b="0" u="none" strike="noStrike">
              <a:solidFill>
                <a:srgbClr val="000000"/>
              </a:solidFill>
              <a:effectLst/>
              <a:uFillTx/>
              <a:latin typeface="Arial"/>
            </a:endParaRPr>
          </a:p>
        </p:txBody>
      </p:sp>
      <p:sp>
        <p:nvSpPr>
          <p:cNvPr id="378" name="Shape 2"/>
          <p:cNvSpPr/>
          <p:nvPr/>
        </p:nvSpPr>
        <p:spPr>
          <a:xfrm>
            <a:off x="731520" y="1554480"/>
            <a:ext cx="3337200" cy="3154320"/>
          </a:xfrm>
          <a:prstGeom prst="roundRect">
            <a:avLst>
              <a:gd name="adj" fmla="val 1739"/>
            </a:avLst>
          </a:prstGeom>
          <a:solidFill>
            <a:srgbClr val="FFFFFF"/>
          </a:solidFill>
          <a:ln w="15240">
            <a:solidFill>
              <a:srgbClr val="D9E2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79" name="Shape 3"/>
          <p:cNvSpPr/>
          <p:nvPr/>
        </p:nvSpPr>
        <p:spPr>
          <a:xfrm>
            <a:off x="731520" y="1554480"/>
            <a:ext cx="72720" cy="3154320"/>
          </a:xfrm>
          <a:prstGeom prst="rect">
            <a:avLst/>
          </a:prstGeom>
          <a:solidFill>
            <a:srgbClr val="1E88E5"/>
          </a:solidFill>
          <a:ln w="12700">
            <a:solidFill>
              <a:srgbClr val="1E88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80" name="Text 4"/>
          <p:cNvSpPr/>
          <p:nvPr/>
        </p:nvSpPr>
        <p:spPr>
          <a:xfrm>
            <a:off x="914400" y="1700640"/>
            <a:ext cx="30445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6324F"/>
                </a:solidFill>
                <a:effectLst/>
                <a:uFillTx/>
                <a:latin typeface="Arial"/>
              </a:rPr>
              <a:t>INGESTION</a:t>
            </a:r>
            <a:endParaRPr lang="en-US" sz="1600" b="0" u="none" strike="noStrike">
              <a:solidFill>
                <a:srgbClr val="000000"/>
              </a:solidFill>
              <a:effectLst/>
              <a:uFillTx/>
              <a:latin typeface="Arial"/>
            </a:endParaRPr>
          </a:p>
        </p:txBody>
      </p:sp>
      <p:sp>
        <p:nvSpPr>
          <p:cNvPr id="381" name="Text 5"/>
          <p:cNvSpPr/>
          <p:nvPr/>
        </p:nvSpPr>
        <p:spPr>
          <a:xfrm>
            <a:off x="914400" y="2084760"/>
            <a:ext cx="3026160" cy="2495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300" b="0" u="none" strike="noStrike">
                <a:solidFill>
                  <a:srgbClr val="1F2937"/>
                </a:solidFill>
                <a:effectLst/>
                <a:uFillTx/>
                <a:latin typeface="Arial"/>
              </a:rPr>
              <a:t>Câu hỏi: “Làm sao đưa dữ liệu vào?”</a:t>
            </a:r>
            <a:endParaRPr lang="en-US" sz="1300" b="0" u="none" strike="noStrike">
              <a:solidFill>
                <a:srgbClr val="000000"/>
              </a:solidFill>
              <a:effectLst/>
              <a:uFillTx/>
              <a:latin typeface="Arial"/>
            </a:endParaRPr>
          </a:p>
          <a:p>
            <a:pPr defTabSz="914400">
              <a:lnSpc>
                <a:spcPct val="100000"/>
              </a:lnSpc>
              <a:tabLst>
                <a:tab pos="0" algn="l"/>
              </a:tabLst>
            </a:pP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1F2937"/>
                </a:solidFill>
                <a:effectLst/>
                <a:uFillTx/>
                <a:latin typeface="Arial"/>
              </a:rPr>
              <a:t>• Kafka/Flume nhận event</a:t>
            </a: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1F2937"/>
                </a:solidFill>
                <a:effectLst/>
                <a:uFillTx/>
                <a:latin typeface="Arial"/>
              </a:rPr>
              <a:t>• JDBC/Sqoop đọc bảng DB</a:t>
            </a: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1F2937"/>
                </a:solidFill>
                <a:effectLst/>
                <a:uFillTx/>
                <a:latin typeface="Arial"/>
              </a:rPr>
              <a:t>• Có thể batch hoặc streaming</a:t>
            </a:r>
            <a:endParaRPr lang="en-US" sz="1300" b="0" u="none" strike="noStrike">
              <a:solidFill>
                <a:srgbClr val="000000"/>
              </a:solidFill>
              <a:effectLst/>
              <a:uFillTx/>
              <a:latin typeface="Arial"/>
            </a:endParaRPr>
          </a:p>
        </p:txBody>
      </p:sp>
      <p:sp>
        <p:nvSpPr>
          <p:cNvPr id="382" name="Shape 6"/>
          <p:cNvSpPr/>
          <p:nvPr/>
        </p:nvSpPr>
        <p:spPr>
          <a:xfrm>
            <a:off x="4434840" y="1554480"/>
            <a:ext cx="3337200" cy="3154320"/>
          </a:xfrm>
          <a:prstGeom prst="roundRect">
            <a:avLst>
              <a:gd name="adj" fmla="val 1739"/>
            </a:avLst>
          </a:prstGeom>
          <a:solidFill>
            <a:srgbClr val="FFFFFF"/>
          </a:solidFill>
          <a:ln w="15240">
            <a:solidFill>
              <a:srgbClr val="D9E2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83" name="Shape 7"/>
          <p:cNvSpPr/>
          <p:nvPr/>
        </p:nvSpPr>
        <p:spPr>
          <a:xfrm>
            <a:off x="4434840" y="1554480"/>
            <a:ext cx="72720" cy="3154320"/>
          </a:xfrm>
          <a:prstGeom prst="rect">
            <a:avLst/>
          </a:prstGeom>
          <a:solidFill>
            <a:srgbClr val="6C5CE7"/>
          </a:solidFill>
          <a:ln w="12700">
            <a:solidFill>
              <a:srgbClr val="6C5CE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84" name="Text 8"/>
          <p:cNvSpPr/>
          <p:nvPr/>
        </p:nvSpPr>
        <p:spPr>
          <a:xfrm>
            <a:off x="4617720" y="1700640"/>
            <a:ext cx="30445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6324F"/>
                </a:solidFill>
                <a:effectLst/>
                <a:uFillTx/>
                <a:latin typeface="Arial"/>
              </a:rPr>
              <a:t>PROCESSING</a:t>
            </a:r>
            <a:endParaRPr lang="en-US" sz="1600" b="0" u="none" strike="noStrike">
              <a:solidFill>
                <a:srgbClr val="000000"/>
              </a:solidFill>
              <a:effectLst/>
              <a:uFillTx/>
              <a:latin typeface="Arial"/>
            </a:endParaRPr>
          </a:p>
        </p:txBody>
      </p:sp>
      <p:sp>
        <p:nvSpPr>
          <p:cNvPr id="385" name="Text 9"/>
          <p:cNvSpPr/>
          <p:nvPr/>
        </p:nvSpPr>
        <p:spPr>
          <a:xfrm>
            <a:off x="4617720" y="2084760"/>
            <a:ext cx="3026160" cy="2495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300" b="0" u="none" strike="noStrike">
                <a:solidFill>
                  <a:srgbClr val="1F2937"/>
                </a:solidFill>
                <a:effectLst/>
                <a:uFillTx/>
                <a:latin typeface="Arial"/>
              </a:rPr>
              <a:t>Câu hỏi: “Làm gì với dữ liệu?”</a:t>
            </a:r>
            <a:endParaRPr lang="en-US" sz="1300" b="0" u="none" strike="noStrike">
              <a:solidFill>
                <a:srgbClr val="000000"/>
              </a:solidFill>
              <a:effectLst/>
              <a:uFillTx/>
              <a:latin typeface="Arial"/>
            </a:endParaRPr>
          </a:p>
          <a:p>
            <a:pPr defTabSz="914400">
              <a:lnSpc>
                <a:spcPct val="100000"/>
              </a:lnSpc>
              <a:tabLst>
                <a:tab pos="0" algn="l"/>
              </a:tabLst>
            </a:pP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1F2937"/>
                </a:solidFill>
                <a:effectLst/>
                <a:uFillTx/>
                <a:latin typeface="Arial"/>
              </a:rPr>
              <a:t>• Spark/Flink transform</a:t>
            </a: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1F2937"/>
                </a:solidFill>
                <a:effectLst/>
                <a:uFillTx/>
                <a:latin typeface="Arial"/>
              </a:rPr>
              <a:t>• Join, aggregate, window</a:t>
            </a: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1F2937"/>
                </a:solidFill>
                <a:effectLst/>
                <a:uFillTx/>
                <a:latin typeface="Arial"/>
              </a:rPr>
              <a:t>• ML / feature engineering</a:t>
            </a:r>
            <a:endParaRPr lang="en-US" sz="1300" b="0" u="none" strike="noStrike">
              <a:solidFill>
                <a:srgbClr val="000000"/>
              </a:solidFill>
              <a:effectLst/>
              <a:uFillTx/>
              <a:latin typeface="Arial"/>
            </a:endParaRPr>
          </a:p>
        </p:txBody>
      </p:sp>
      <p:sp>
        <p:nvSpPr>
          <p:cNvPr id="386" name="Shape 10"/>
          <p:cNvSpPr/>
          <p:nvPr/>
        </p:nvSpPr>
        <p:spPr>
          <a:xfrm>
            <a:off x="8138160" y="1554480"/>
            <a:ext cx="3337200" cy="3154320"/>
          </a:xfrm>
          <a:prstGeom prst="roundRect">
            <a:avLst>
              <a:gd name="adj" fmla="val 1739"/>
            </a:avLst>
          </a:prstGeom>
          <a:solidFill>
            <a:srgbClr val="FFFFFF"/>
          </a:solidFill>
          <a:ln w="15240">
            <a:solidFill>
              <a:srgbClr val="D9E2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87" name="Shape 11"/>
          <p:cNvSpPr/>
          <p:nvPr/>
        </p:nvSpPr>
        <p:spPr>
          <a:xfrm>
            <a:off x="8138160" y="1554480"/>
            <a:ext cx="72720" cy="3154320"/>
          </a:xfrm>
          <a:prstGeom prst="rect">
            <a:avLst/>
          </a:prstGeom>
          <a:solidFill>
            <a:srgbClr val="F59E0B"/>
          </a:solidFill>
          <a:ln w="12700">
            <a:solidFill>
              <a:srgbClr val="F59E0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88" name="Text 12"/>
          <p:cNvSpPr/>
          <p:nvPr/>
        </p:nvSpPr>
        <p:spPr>
          <a:xfrm>
            <a:off x="8321040" y="1700640"/>
            <a:ext cx="30445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6324F"/>
                </a:solidFill>
                <a:effectLst/>
                <a:uFillTx/>
                <a:latin typeface="Arial"/>
              </a:rPr>
              <a:t>ORCHESTRATION</a:t>
            </a:r>
            <a:endParaRPr lang="en-US" sz="1600" b="0" u="none" strike="noStrike">
              <a:solidFill>
                <a:srgbClr val="000000"/>
              </a:solidFill>
              <a:effectLst/>
              <a:uFillTx/>
              <a:latin typeface="Arial"/>
            </a:endParaRPr>
          </a:p>
        </p:txBody>
      </p:sp>
      <p:sp>
        <p:nvSpPr>
          <p:cNvPr id="389" name="Text 13"/>
          <p:cNvSpPr/>
          <p:nvPr/>
        </p:nvSpPr>
        <p:spPr>
          <a:xfrm>
            <a:off x="8321040" y="2084760"/>
            <a:ext cx="3026160" cy="2495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300" b="0" u="none" strike="noStrike">
                <a:solidFill>
                  <a:srgbClr val="1F2937"/>
                </a:solidFill>
                <a:effectLst/>
                <a:uFillTx/>
                <a:latin typeface="Arial"/>
              </a:rPr>
              <a:t>Câu hỏi: “Khi nào và theo thứ tự nào?”</a:t>
            </a:r>
            <a:endParaRPr lang="en-US" sz="1300" b="0" u="none" strike="noStrike">
              <a:solidFill>
                <a:srgbClr val="000000"/>
              </a:solidFill>
              <a:effectLst/>
              <a:uFillTx/>
              <a:latin typeface="Arial"/>
            </a:endParaRPr>
          </a:p>
          <a:p>
            <a:pPr defTabSz="914400">
              <a:lnSpc>
                <a:spcPct val="100000"/>
              </a:lnSpc>
              <a:tabLst>
                <a:tab pos="0" algn="l"/>
              </a:tabLst>
            </a:pP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1F2937"/>
                </a:solidFill>
                <a:effectLst/>
                <a:uFillTx/>
                <a:latin typeface="Arial"/>
              </a:rPr>
              <a:t>• Airflow chạy theo lịch</a:t>
            </a: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1F2937"/>
                </a:solidFill>
                <a:effectLst/>
                <a:uFillTx/>
                <a:latin typeface="Arial"/>
              </a:rPr>
              <a:t>• Dependency / retry</a:t>
            </a:r>
            <a:endParaRPr lang="en-US" sz="1300" b="0" u="none" strike="noStrike">
              <a:solidFill>
                <a:srgbClr val="000000"/>
              </a:solidFill>
              <a:effectLst/>
              <a:uFillTx/>
              <a:latin typeface="Arial"/>
            </a:endParaRPr>
          </a:p>
          <a:p>
            <a:pPr defTabSz="914400">
              <a:lnSpc>
                <a:spcPct val="100000"/>
              </a:lnSpc>
              <a:tabLst>
                <a:tab pos="0" algn="l"/>
              </a:tabLst>
            </a:pPr>
            <a:r>
              <a:rPr lang="en-US" sz="1300" b="0" u="none" strike="noStrike">
                <a:solidFill>
                  <a:srgbClr val="1F2937"/>
                </a:solidFill>
                <a:effectLst/>
                <a:uFillTx/>
                <a:latin typeface="Arial"/>
              </a:rPr>
              <a:t>• Monitoring / alerting</a:t>
            </a:r>
            <a:endParaRPr lang="en-US" sz="1300" b="0" u="none" strike="noStrike">
              <a:solidFill>
                <a:srgbClr val="000000"/>
              </a:solidFill>
              <a:effectLst/>
              <a:uFillTx/>
              <a:latin typeface="Arial"/>
            </a:endParaRPr>
          </a:p>
        </p:txBody>
      </p:sp>
      <p:sp>
        <p:nvSpPr>
          <p:cNvPr id="390" name="Shape 14"/>
          <p:cNvSpPr/>
          <p:nvPr/>
        </p:nvSpPr>
        <p:spPr>
          <a:xfrm>
            <a:off x="567000" y="5166360"/>
            <a:ext cx="11018160" cy="566640"/>
          </a:xfrm>
          <a:prstGeom prst="roundRect">
            <a:avLst>
              <a:gd name="adj" fmla="val 9677"/>
            </a:avLst>
          </a:prstGeom>
          <a:solidFill>
            <a:srgbClr val="FFF7E6"/>
          </a:solidFill>
          <a:ln w="12700">
            <a:solidFill>
              <a:srgbClr val="F4C66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91" name="Text 15"/>
          <p:cNvSpPr/>
          <p:nvPr/>
        </p:nvSpPr>
        <p:spPr>
          <a:xfrm>
            <a:off x="749880" y="5321880"/>
            <a:ext cx="8226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a:solidFill>
                  <a:srgbClr val="A15C00"/>
                </a:solidFill>
                <a:effectLst/>
                <a:uFillTx/>
                <a:latin typeface="Arial"/>
              </a:rPr>
              <a:t>Giải thích</a:t>
            </a:r>
            <a:endParaRPr lang="en-US" sz="1100" b="0" u="none" strike="noStrike">
              <a:solidFill>
                <a:srgbClr val="000000"/>
              </a:solidFill>
              <a:effectLst/>
              <a:uFillTx/>
              <a:latin typeface="Arial"/>
            </a:endParaRPr>
          </a:p>
        </p:txBody>
      </p:sp>
      <p:sp>
        <p:nvSpPr>
          <p:cNvPr id="392" name="Text 16"/>
          <p:cNvSpPr/>
          <p:nvPr/>
        </p:nvSpPr>
        <p:spPr>
          <a:xfrm>
            <a:off x="1609200" y="5285160"/>
            <a:ext cx="97106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20" b="0" u="none" strike="noStrike">
                <a:solidFill>
                  <a:srgbClr val="6B4D1D"/>
                </a:solidFill>
                <a:effectLst/>
                <a:uFillTx/>
                <a:latin typeface="Arial"/>
              </a:rPr>
              <a:t>Ví dụ: Kafka nhận đơn hàng → Spark tính doanh thu → Airflow chạy job tổng hợp lúc 1:00 AM và kiểm tra task nào phải hoàn tất trước.</a:t>
            </a:r>
            <a:endParaRPr lang="en-US" sz="1120" b="0" u="none" strike="noStrike">
              <a:solidFill>
                <a:srgbClr val="000000"/>
              </a:solidFill>
              <a:effectLst/>
              <a:uFillTx/>
              <a:latin typeface="Arial"/>
            </a:endParaRPr>
          </a:p>
        </p:txBody>
      </p:sp>
      <p:sp>
        <p:nvSpPr>
          <p:cNvPr id="393" name="PlaceHolder 1"/>
          <p:cNvSpPr>
            <a:spLocks noGrp="1"/>
          </p:cNvSpPr>
          <p:nvPr>
            <p:ph type="sldNum" idx="16"/>
          </p:nvPr>
        </p:nvSpPr>
        <p:spPr>
          <a:xfrm>
            <a:off x="11631240" y="6510600"/>
            <a:ext cx="255600" cy="200880"/>
          </a:xfrm>
          <a:prstGeom prst="rect">
            <a:avLst/>
          </a:prstGeom>
          <a:noFill/>
          <a:ln w="0">
            <a:noFill/>
          </a:ln>
        </p:spPr>
        <p:txBody>
          <a:bodyPr lIns="90000" tIns="45000" rIns="90000" bIns="45000" anchor="t">
            <a:noAutofit/>
          </a:bodyPr>
          <a:lstStyle>
            <a:lvl1pPr indent="0" algn="r" defTabSz="914400">
              <a:lnSpc>
                <a:spcPct val="100000"/>
              </a:lnSpc>
              <a:buNone/>
              <a:defRPr lang="en-US" sz="800" b="0" u="none" strike="noStrike">
                <a:solidFill>
                  <a:srgbClr val="7A8797"/>
                </a:solidFill>
                <a:effectLst/>
                <a:uFillTx/>
                <a:latin typeface="Arial"/>
                <a:ea typeface="Arial"/>
              </a:defRPr>
            </a:lvl1pPr>
          </a:lstStyle>
          <a:p>
            <a:pPr indent="0" algn="r" defTabSz="914400">
              <a:lnSpc>
                <a:spcPct val="100000"/>
              </a:lnSpc>
              <a:buNone/>
            </a:pPr>
            <a:fld id="{BBDC8D36-590B-4508-B761-CA75A00B2737}" type="slidenum">
              <a:rPr lang="en-US" sz="800" b="0" u="none" strike="noStrike">
                <a:solidFill>
                  <a:srgbClr val="7A8797"/>
                </a:solidFill>
                <a:effectLst/>
                <a:uFillTx/>
                <a:latin typeface="Arial"/>
                <a:ea typeface="Arial"/>
              </a:rPr>
              <a:t>12</a:t>
            </a:fld>
            <a:endParaRPr lang="en-US" sz="800" b="0" u="none" strike="noStrike">
              <a:solidFill>
                <a:srgbClr val="000000"/>
              </a:solidFill>
              <a:effectLst/>
              <a:uFillTx/>
              <a:latin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Text 0"/>
          <p:cNvSpPr/>
          <p:nvPr/>
        </p:nvSpPr>
        <p:spPr>
          <a:xfrm>
            <a:off x="548640" y="329040"/>
            <a:ext cx="1106388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700" b="1" u="none" strike="noStrike">
                <a:solidFill>
                  <a:srgbClr val="16324F"/>
                </a:solidFill>
                <a:effectLst/>
                <a:uFillTx/>
                <a:latin typeface="Arial"/>
                <a:ea typeface="Arial"/>
              </a:rPr>
              <a:t>12. Apache Airflow — kiến trúc và vai trò</a:t>
            </a:r>
            <a:endParaRPr lang="en-US" sz="2700" b="0" u="none" strike="noStrike">
              <a:solidFill>
                <a:srgbClr val="000000"/>
              </a:solidFill>
              <a:effectLst/>
              <a:uFillTx/>
              <a:latin typeface="Arial"/>
            </a:endParaRPr>
          </a:p>
        </p:txBody>
      </p:sp>
      <p:sp>
        <p:nvSpPr>
          <p:cNvPr id="395" name="Text 1"/>
          <p:cNvSpPr/>
          <p:nvPr/>
        </p:nvSpPr>
        <p:spPr>
          <a:xfrm>
            <a:off x="567000" y="841320"/>
            <a:ext cx="109724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0" u="none" strike="noStrike">
                <a:solidFill>
                  <a:srgbClr val="5F6B7A"/>
                </a:solidFill>
                <a:effectLst/>
                <a:uFillTx/>
                <a:latin typeface="Arial"/>
                <a:ea typeface="Arial"/>
              </a:rPr>
              <a:t>Airflow biểu diễn workflow dưới dạng DAG: các task và quan hệ phụ thuộc giữa chúng.</a:t>
            </a:r>
            <a:endParaRPr lang="en-US" sz="1250" b="0" u="none" strike="noStrike">
              <a:solidFill>
                <a:srgbClr val="000000"/>
              </a:solidFill>
              <a:effectLst/>
              <a:uFillTx/>
              <a:latin typeface="Arial"/>
            </a:endParaRPr>
          </a:p>
        </p:txBody>
      </p:sp>
      <p:sp>
        <p:nvSpPr>
          <p:cNvPr id="396" name="Shape 2"/>
          <p:cNvSpPr/>
          <p:nvPr/>
        </p:nvSpPr>
        <p:spPr>
          <a:xfrm>
            <a:off x="777240" y="1828800"/>
            <a:ext cx="2239920" cy="959760"/>
          </a:xfrm>
          <a:prstGeom prst="roundRect">
            <a:avLst>
              <a:gd name="adj" fmla="val 16667"/>
            </a:avLst>
          </a:prstGeom>
          <a:solidFill>
            <a:srgbClr val="1E88E5"/>
          </a:solidFill>
          <a:ln w="12700">
            <a:solidFill>
              <a:srgbClr val="1E88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97" name="Text 3"/>
          <p:cNvSpPr/>
          <p:nvPr/>
        </p:nvSpPr>
        <p:spPr>
          <a:xfrm>
            <a:off x="850320" y="1993320"/>
            <a:ext cx="20937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50" b="1" u="none" strike="noStrike">
                <a:solidFill>
                  <a:srgbClr val="FFFFFF"/>
                </a:solidFill>
                <a:effectLst/>
                <a:uFillTx/>
                <a:latin typeface="Arial"/>
              </a:rPr>
              <a:t>DAG Files</a:t>
            </a:r>
            <a:endParaRPr lang="en-US" sz="1350" b="0" u="none" strike="noStrike">
              <a:solidFill>
                <a:srgbClr val="000000"/>
              </a:solidFill>
              <a:effectLst/>
              <a:uFillTx/>
              <a:latin typeface="Arial"/>
            </a:endParaRPr>
          </a:p>
        </p:txBody>
      </p:sp>
      <p:sp>
        <p:nvSpPr>
          <p:cNvPr id="398" name="Text 4"/>
          <p:cNvSpPr/>
          <p:nvPr/>
        </p:nvSpPr>
        <p:spPr>
          <a:xfrm>
            <a:off x="887040" y="2340720"/>
            <a:ext cx="20113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50" b="0" u="none" strike="noStrike">
                <a:solidFill>
                  <a:srgbClr val="EEF3F8"/>
                </a:solidFill>
                <a:effectLst/>
                <a:uFillTx/>
                <a:latin typeface="Arial"/>
              </a:rPr>
              <a:t>Định nghĩa workflow bằng Python</a:t>
            </a:r>
            <a:endParaRPr lang="en-US" sz="950" b="0" u="none" strike="noStrike">
              <a:solidFill>
                <a:srgbClr val="000000"/>
              </a:solidFill>
              <a:effectLst/>
              <a:uFillTx/>
              <a:latin typeface="Arial"/>
            </a:endParaRPr>
          </a:p>
        </p:txBody>
      </p:sp>
      <p:sp>
        <p:nvSpPr>
          <p:cNvPr id="399" name="Shape 5"/>
          <p:cNvSpPr/>
          <p:nvPr/>
        </p:nvSpPr>
        <p:spPr>
          <a:xfrm>
            <a:off x="3794760" y="1325880"/>
            <a:ext cx="2239920" cy="959760"/>
          </a:xfrm>
          <a:prstGeom prst="roundRect">
            <a:avLst>
              <a:gd name="adj" fmla="val 16667"/>
            </a:avLst>
          </a:prstGeom>
          <a:solidFill>
            <a:srgbClr val="F59E0B"/>
          </a:solidFill>
          <a:ln w="12700">
            <a:solidFill>
              <a:srgbClr val="F59E0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00" name="Text 6"/>
          <p:cNvSpPr/>
          <p:nvPr/>
        </p:nvSpPr>
        <p:spPr>
          <a:xfrm>
            <a:off x="3867840" y="1490400"/>
            <a:ext cx="20937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50" b="1" u="none" strike="noStrike">
                <a:solidFill>
                  <a:srgbClr val="FFFFFF"/>
                </a:solidFill>
                <a:effectLst/>
                <a:uFillTx/>
                <a:latin typeface="Arial"/>
              </a:rPr>
              <a:t>Scheduler</a:t>
            </a:r>
            <a:endParaRPr lang="en-US" sz="1350" b="0" u="none" strike="noStrike">
              <a:solidFill>
                <a:srgbClr val="000000"/>
              </a:solidFill>
              <a:effectLst/>
              <a:uFillTx/>
              <a:latin typeface="Arial"/>
            </a:endParaRPr>
          </a:p>
        </p:txBody>
      </p:sp>
      <p:sp>
        <p:nvSpPr>
          <p:cNvPr id="401" name="Text 7"/>
          <p:cNvSpPr/>
          <p:nvPr/>
        </p:nvSpPr>
        <p:spPr>
          <a:xfrm>
            <a:off x="3904560" y="1837800"/>
            <a:ext cx="20113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50" b="0" u="none" strike="noStrike">
                <a:solidFill>
                  <a:srgbClr val="EEF3F8"/>
                </a:solidFill>
                <a:effectLst/>
                <a:uFillTx/>
                <a:latin typeface="Arial"/>
              </a:rPr>
              <a:t>Xác định task nào sẵn sàng chạy</a:t>
            </a:r>
            <a:endParaRPr lang="en-US" sz="950" b="0" u="none" strike="noStrike">
              <a:solidFill>
                <a:srgbClr val="000000"/>
              </a:solidFill>
              <a:effectLst/>
              <a:uFillTx/>
              <a:latin typeface="Arial"/>
            </a:endParaRPr>
          </a:p>
        </p:txBody>
      </p:sp>
      <p:sp>
        <p:nvSpPr>
          <p:cNvPr id="402" name="Shape 8"/>
          <p:cNvSpPr/>
          <p:nvPr/>
        </p:nvSpPr>
        <p:spPr>
          <a:xfrm>
            <a:off x="6858000" y="1325880"/>
            <a:ext cx="2239920" cy="959760"/>
          </a:xfrm>
          <a:prstGeom prst="roundRect">
            <a:avLst>
              <a:gd name="adj" fmla="val 16667"/>
            </a:avLst>
          </a:prstGeom>
          <a:solidFill>
            <a:srgbClr val="6C5CE7"/>
          </a:solidFill>
          <a:ln w="12700">
            <a:solidFill>
              <a:srgbClr val="6C5CE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03" name="Text 9"/>
          <p:cNvSpPr/>
          <p:nvPr/>
        </p:nvSpPr>
        <p:spPr>
          <a:xfrm>
            <a:off x="6931080" y="1490400"/>
            <a:ext cx="20937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50" b="1" u="none" strike="noStrike">
                <a:solidFill>
                  <a:srgbClr val="FFFFFF"/>
                </a:solidFill>
                <a:effectLst/>
                <a:uFillTx/>
                <a:latin typeface="Arial"/>
              </a:rPr>
              <a:t>Executor / Workers</a:t>
            </a:r>
            <a:endParaRPr lang="en-US" sz="1350" b="0" u="none" strike="noStrike">
              <a:solidFill>
                <a:srgbClr val="000000"/>
              </a:solidFill>
              <a:effectLst/>
              <a:uFillTx/>
              <a:latin typeface="Arial"/>
            </a:endParaRPr>
          </a:p>
        </p:txBody>
      </p:sp>
      <p:sp>
        <p:nvSpPr>
          <p:cNvPr id="404" name="Text 10"/>
          <p:cNvSpPr/>
          <p:nvPr/>
        </p:nvSpPr>
        <p:spPr>
          <a:xfrm>
            <a:off x="6967800" y="1837800"/>
            <a:ext cx="20113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50" b="0" u="none" strike="noStrike">
                <a:solidFill>
                  <a:srgbClr val="EEF3F8"/>
                </a:solidFill>
                <a:effectLst/>
                <a:uFillTx/>
                <a:latin typeface="Arial"/>
              </a:rPr>
              <a:t>Thực thi task</a:t>
            </a:r>
            <a:endParaRPr lang="en-US" sz="950" b="0" u="none" strike="noStrike">
              <a:solidFill>
                <a:srgbClr val="000000"/>
              </a:solidFill>
              <a:effectLst/>
              <a:uFillTx/>
              <a:latin typeface="Arial"/>
            </a:endParaRPr>
          </a:p>
        </p:txBody>
      </p:sp>
      <p:sp>
        <p:nvSpPr>
          <p:cNvPr id="405" name="Shape 11"/>
          <p:cNvSpPr/>
          <p:nvPr/>
        </p:nvSpPr>
        <p:spPr>
          <a:xfrm>
            <a:off x="3794760" y="3108960"/>
            <a:ext cx="2239920" cy="959760"/>
          </a:xfrm>
          <a:prstGeom prst="roundRect">
            <a:avLst>
              <a:gd name="adj" fmla="val 16667"/>
            </a:avLst>
          </a:prstGeom>
          <a:solidFill>
            <a:srgbClr val="16324F"/>
          </a:solidFill>
          <a:ln w="12700">
            <a:solidFill>
              <a:srgbClr val="16324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06" name="Text 12"/>
          <p:cNvSpPr/>
          <p:nvPr/>
        </p:nvSpPr>
        <p:spPr>
          <a:xfrm>
            <a:off x="3867840" y="3273480"/>
            <a:ext cx="20937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50" b="1" u="none" strike="noStrike">
                <a:solidFill>
                  <a:srgbClr val="FFFFFF"/>
                </a:solidFill>
                <a:effectLst/>
                <a:uFillTx/>
                <a:latin typeface="Arial"/>
              </a:rPr>
              <a:t>Metadata DB</a:t>
            </a:r>
            <a:endParaRPr lang="en-US" sz="1350" b="0" u="none" strike="noStrike">
              <a:solidFill>
                <a:srgbClr val="000000"/>
              </a:solidFill>
              <a:effectLst/>
              <a:uFillTx/>
              <a:latin typeface="Arial"/>
            </a:endParaRPr>
          </a:p>
        </p:txBody>
      </p:sp>
      <p:sp>
        <p:nvSpPr>
          <p:cNvPr id="407" name="Text 13"/>
          <p:cNvSpPr/>
          <p:nvPr/>
        </p:nvSpPr>
        <p:spPr>
          <a:xfrm>
            <a:off x="3904560" y="3620880"/>
            <a:ext cx="20113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50" b="0" u="none" strike="noStrike">
                <a:solidFill>
                  <a:srgbClr val="EEF3F8"/>
                </a:solidFill>
                <a:effectLst/>
                <a:uFillTx/>
                <a:latin typeface="Arial"/>
              </a:rPr>
              <a:t>Lưu trạng thái DAG/task</a:t>
            </a:r>
            <a:endParaRPr lang="en-US" sz="950" b="0" u="none" strike="noStrike">
              <a:solidFill>
                <a:srgbClr val="000000"/>
              </a:solidFill>
              <a:effectLst/>
              <a:uFillTx/>
              <a:latin typeface="Arial"/>
            </a:endParaRPr>
          </a:p>
        </p:txBody>
      </p:sp>
      <p:sp>
        <p:nvSpPr>
          <p:cNvPr id="408" name="Shape 14"/>
          <p:cNvSpPr/>
          <p:nvPr/>
        </p:nvSpPr>
        <p:spPr>
          <a:xfrm>
            <a:off x="777240" y="3108960"/>
            <a:ext cx="2239920" cy="959760"/>
          </a:xfrm>
          <a:prstGeom prst="roundRect">
            <a:avLst>
              <a:gd name="adj" fmla="val 16667"/>
            </a:avLst>
          </a:prstGeom>
          <a:solidFill>
            <a:srgbClr val="00A6A6"/>
          </a:solidFill>
          <a:ln w="12700">
            <a:solidFill>
              <a:srgbClr val="00A6A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09" name="Text 15"/>
          <p:cNvSpPr/>
          <p:nvPr/>
        </p:nvSpPr>
        <p:spPr>
          <a:xfrm>
            <a:off x="850320" y="3273480"/>
            <a:ext cx="20937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50" b="1" u="none" strike="noStrike">
                <a:solidFill>
                  <a:srgbClr val="FFFFFF"/>
                </a:solidFill>
                <a:effectLst/>
                <a:uFillTx/>
                <a:latin typeface="Arial"/>
              </a:rPr>
              <a:t>Web UI / API</a:t>
            </a:r>
            <a:endParaRPr lang="en-US" sz="1350" b="0" u="none" strike="noStrike">
              <a:solidFill>
                <a:srgbClr val="000000"/>
              </a:solidFill>
              <a:effectLst/>
              <a:uFillTx/>
              <a:latin typeface="Arial"/>
            </a:endParaRPr>
          </a:p>
        </p:txBody>
      </p:sp>
      <p:sp>
        <p:nvSpPr>
          <p:cNvPr id="410" name="Text 16"/>
          <p:cNvSpPr/>
          <p:nvPr/>
        </p:nvSpPr>
        <p:spPr>
          <a:xfrm>
            <a:off x="887040" y="3620880"/>
            <a:ext cx="201132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50" b="0" u="none" strike="noStrike">
                <a:solidFill>
                  <a:srgbClr val="EEF3F8"/>
                </a:solidFill>
                <a:effectLst/>
                <a:uFillTx/>
                <a:latin typeface="Arial"/>
              </a:rPr>
              <a:t>Quan sát, trigger, kiểm tra logs</a:t>
            </a:r>
            <a:endParaRPr lang="en-US" sz="950" b="0" u="none" strike="noStrike">
              <a:solidFill>
                <a:srgbClr val="000000"/>
              </a:solidFill>
              <a:effectLst/>
              <a:uFillTx/>
              <a:latin typeface="Arial"/>
            </a:endParaRPr>
          </a:p>
        </p:txBody>
      </p:sp>
      <p:sp>
        <p:nvSpPr>
          <p:cNvPr id="411" name="Shape 17"/>
          <p:cNvSpPr/>
          <p:nvPr/>
        </p:nvSpPr>
        <p:spPr>
          <a:xfrm flipV="1">
            <a:off x="3017520" y="1874520"/>
            <a:ext cx="777240" cy="43884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12" name="Shape 18"/>
          <p:cNvSpPr/>
          <p:nvPr/>
        </p:nvSpPr>
        <p:spPr>
          <a:xfrm>
            <a:off x="6035040" y="1828800"/>
            <a:ext cx="82296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13" name="Shape 19"/>
          <p:cNvSpPr/>
          <p:nvPr/>
        </p:nvSpPr>
        <p:spPr>
          <a:xfrm>
            <a:off x="4910040" y="2286000"/>
            <a:ext cx="360" cy="8229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14" name="Shape 20"/>
          <p:cNvSpPr/>
          <p:nvPr/>
        </p:nvSpPr>
        <p:spPr>
          <a:xfrm>
            <a:off x="3017520" y="3584160"/>
            <a:ext cx="77724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15" name="Shape 21"/>
          <p:cNvSpPr/>
          <p:nvPr/>
        </p:nvSpPr>
        <p:spPr>
          <a:xfrm>
            <a:off x="9464040" y="1325880"/>
            <a:ext cx="2423160" cy="2742840"/>
          </a:xfrm>
          <a:prstGeom prst="roundRect">
            <a:avLst>
              <a:gd name="adj" fmla="val 2857"/>
            </a:avLst>
          </a:prstGeom>
          <a:solidFill>
            <a:srgbClr val="FFF3F3"/>
          </a:solidFill>
          <a:ln w="15240">
            <a:solidFill>
              <a:srgbClr val="F2C7C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16" name="Shape 22"/>
          <p:cNvSpPr/>
          <p:nvPr/>
        </p:nvSpPr>
        <p:spPr>
          <a:xfrm>
            <a:off x="9464040" y="1325880"/>
            <a:ext cx="72720" cy="2742840"/>
          </a:xfrm>
          <a:prstGeom prst="rect">
            <a:avLst/>
          </a:prstGeom>
          <a:solidFill>
            <a:srgbClr val="D64545"/>
          </a:solidFill>
          <a:ln w="12700">
            <a:solidFill>
              <a:srgbClr val="D6454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17" name="Text 23"/>
          <p:cNvSpPr/>
          <p:nvPr/>
        </p:nvSpPr>
        <p:spPr>
          <a:xfrm>
            <a:off x="9646920" y="1472040"/>
            <a:ext cx="178308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77500" lnSpcReduction="19999"/>
          </a:bodyPr>
          <a:lstStyle/>
          <a:p>
            <a:pPr defTabSz="914400">
              <a:lnSpc>
                <a:spcPct val="100000"/>
              </a:lnSpc>
              <a:tabLst>
                <a:tab pos="0" algn="l"/>
              </a:tabLst>
            </a:pPr>
            <a:r>
              <a:rPr lang="en-US" sz="1600" b="1" u="none" strike="noStrike">
                <a:solidFill>
                  <a:srgbClr val="16324F"/>
                </a:solidFill>
                <a:effectLst/>
                <a:uFillTx/>
                <a:latin typeface="Arial"/>
              </a:rPr>
              <a:t>Điều Airflow không làm</a:t>
            </a:r>
            <a:endParaRPr lang="en-US" sz="1600" b="0" u="none" strike="noStrike">
              <a:solidFill>
                <a:srgbClr val="000000"/>
              </a:solidFill>
              <a:effectLst/>
              <a:uFillTx/>
              <a:latin typeface="Arial"/>
            </a:endParaRPr>
          </a:p>
        </p:txBody>
      </p:sp>
      <p:sp>
        <p:nvSpPr>
          <p:cNvPr id="418" name="Text 24"/>
          <p:cNvSpPr/>
          <p:nvPr/>
        </p:nvSpPr>
        <p:spPr>
          <a:xfrm>
            <a:off x="9646920" y="1856160"/>
            <a:ext cx="2240280" cy="20844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120" b="0" u="none" strike="noStrike">
                <a:solidFill>
                  <a:srgbClr val="1F2937"/>
                </a:solidFill>
                <a:effectLst/>
                <a:uFillTx/>
                <a:latin typeface="Arial"/>
              </a:rPr>
              <a:t>• Không phải message broker</a:t>
            </a: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1F2937"/>
                </a:solidFill>
                <a:effectLst/>
                <a:uFillTx/>
                <a:latin typeface="Arial"/>
              </a:rPr>
              <a:t>• Không phải engine xử lý dữ liệu</a:t>
            </a: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1F2937"/>
                </a:solidFill>
                <a:effectLst/>
                <a:uFillTx/>
                <a:latin typeface="Arial"/>
              </a:rPr>
              <a:t>• Không thay Kafka/Spark</a:t>
            </a:r>
            <a:endParaRPr lang="en-US" sz="1120" b="0" u="none" strike="noStrike">
              <a:solidFill>
                <a:srgbClr val="000000"/>
              </a:solidFill>
              <a:effectLst/>
              <a:uFillTx/>
              <a:latin typeface="Arial"/>
            </a:endParaRPr>
          </a:p>
          <a:p>
            <a:pPr defTabSz="914400">
              <a:lnSpc>
                <a:spcPct val="100000"/>
              </a:lnSpc>
              <a:tabLst>
                <a:tab pos="0" algn="l"/>
              </a:tabLst>
            </a:pPr>
            <a:endParaRPr lang="en-US" sz="1120" b="0" u="none" strike="noStrike">
              <a:solidFill>
                <a:srgbClr val="000000"/>
              </a:solidFill>
              <a:effectLst/>
              <a:uFillTx/>
              <a:latin typeface="Arial"/>
            </a:endParaRPr>
          </a:p>
          <a:p>
            <a:pPr defTabSz="914400">
              <a:lnSpc>
                <a:spcPct val="100000"/>
              </a:lnSpc>
              <a:tabLst>
                <a:tab pos="0" algn="l"/>
              </a:tabLst>
            </a:pPr>
            <a:r>
              <a:rPr lang="en-US" sz="1120" b="0" u="none" strike="noStrike">
                <a:solidFill>
                  <a:srgbClr val="1F2937"/>
                </a:solidFill>
                <a:effectLst/>
                <a:uFillTx/>
                <a:latin typeface="Arial"/>
              </a:rPr>
              <a:t>Airflow “điều khiển” các hệ thống đó thông qua task/operator.</a:t>
            </a:r>
            <a:endParaRPr lang="en-US" sz="1120" b="0" u="none" strike="noStrike">
              <a:solidFill>
                <a:srgbClr val="000000"/>
              </a:solidFill>
              <a:effectLst/>
              <a:uFillTx/>
              <a:latin typeface="Arial"/>
            </a:endParaRPr>
          </a:p>
        </p:txBody>
      </p:sp>
      <p:sp>
        <p:nvSpPr>
          <p:cNvPr id="419" name="Shape 25"/>
          <p:cNvSpPr/>
          <p:nvPr/>
        </p:nvSpPr>
        <p:spPr>
          <a:xfrm>
            <a:off x="567000" y="5230440"/>
            <a:ext cx="11018160" cy="566640"/>
          </a:xfrm>
          <a:prstGeom prst="roundRect">
            <a:avLst>
              <a:gd name="adj" fmla="val 9677"/>
            </a:avLst>
          </a:prstGeom>
          <a:solidFill>
            <a:srgbClr val="FFF7E6"/>
          </a:solidFill>
          <a:ln w="12700">
            <a:solidFill>
              <a:srgbClr val="F4C66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20" name="Text 26"/>
          <p:cNvSpPr/>
          <p:nvPr/>
        </p:nvSpPr>
        <p:spPr>
          <a:xfrm>
            <a:off x="749880" y="5385960"/>
            <a:ext cx="8226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a:solidFill>
                  <a:srgbClr val="A15C00"/>
                </a:solidFill>
                <a:effectLst/>
                <a:uFillTx/>
                <a:latin typeface="Arial"/>
              </a:rPr>
              <a:t>Giải thích</a:t>
            </a:r>
            <a:endParaRPr lang="en-US" sz="1100" b="0" u="none" strike="noStrike">
              <a:solidFill>
                <a:srgbClr val="000000"/>
              </a:solidFill>
              <a:effectLst/>
              <a:uFillTx/>
              <a:latin typeface="Arial"/>
            </a:endParaRPr>
          </a:p>
        </p:txBody>
      </p:sp>
      <p:sp>
        <p:nvSpPr>
          <p:cNvPr id="421" name="Text 27"/>
          <p:cNvSpPr/>
          <p:nvPr/>
        </p:nvSpPr>
        <p:spPr>
          <a:xfrm>
            <a:off x="1609200" y="5349240"/>
            <a:ext cx="97106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defTabSz="914400">
              <a:lnSpc>
                <a:spcPct val="100000"/>
              </a:lnSpc>
              <a:tabLst>
                <a:tab pos="0" algn="l"/>
              </a:tabLst>
            </a:pPr>
            <a:r>
              <a:rPr lang="en-US" sz="1120" b="0" u="none" strike="noStrike">
                <a:solidFill>
                  <a:srgbClr val="6B4D1D"/>
                </a:solidFill>
                <a:effectLst/>
                <a:uFillTx/>
                <a:latin typeface="Arial"/>
              </a:rPr>
              <a:t>Trong production, Airflow có thêm nhiều thành phần/kiểu executor tùy quy mô. Ở mức nhập môn, hãy nhớ 4 ý: DAG, Scheduler, Executor/Worker, Metadata DB.</a:t>
            </a:r>
            <a:endParaRPr lang="en-US" sz="1120" b="0" u="none" strike="noStrike">
              <a:solidFill>
                <a:srgbClr val="000000"/>
              </a:solidFill>
              <a:effectLst/>
              <a:uFillTx/>
              <a:latin typeface="Arial"/>
            </a:endParaRPr>
          </a:p>
        </p:txBody>
      </p:sp>
      <p:sp>
        <p:nvSpPr>
          <p:cNvPr id="422" name="Text 28"/>
          <p:cNvSpPr/>
          <p:nvPr/>
        </p:nvSpPr>
        <p:spPr>
          <a:xfrm>
            <a:off x="585360" y="6364080"/>
            <a:ext cx="80463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i="1" u="none" strike="noStrike">
                <a:solidFill>
                  <a:srgbClr val="8793A1"/>
                </a:solidFill>
                <a:effectLst/>
                <a:uFillTx/>
                <a:latin typeface="Arial"/>
              </a:rPr>
              <a:t>Nguồn bổ sung: Apache Airflow 3.3.x Architecture Overview (official).</a:t>
            </a:r>
            <a:endParaRPr lang="en-US" sz="720" b="0" u="none" strike="noStrike">
              <a:solidFill>
                <a:srgbClr val="000000"/>
              </a:solidFill>
              <a:effectLst/>
              <a:uFillTx/>
              <a:latin typeface="Arial"/>
            </a:endParaRPr>
          </a:p>
        </p:txBody>
      </p:sp>
      <p:sp>
        <p:nvSpPr>
          <p:cNvPr id="423" name="PlaceHolder 1"/>
          <p:cNvSpPr>
            <a:spLocks noGrp="1"/>
          </p:cNvSpPr>
          <p:nvPr>
            <p:ph type="sldNum" idx="17"/>
          </p:nvPr>
        </p:nvSpPr>
        <p:spPr>
          <a:xfrm>
            <a:off x="11631240" y="6510600"/>
            <a:ext cx="255600" cy="200880"/>
          </a:xfrm>
          <a:prstGeom prst="rect">
            <a:avLst/>
          </a:prstGeom>
          <a:noFill/>
          <a:ln w="0">
            <a:noFill/>
          </a:ln>
        </p:spPr>
        <p:txBody>
          <a:bodyPr lIns="90000" tIns="45000" rIns="90000" bIns="45000" anchor="t">
            <a:noAutofit/>
          </a:bodyPr>
          <a:lstStyle>
            <a:lvl1pPr indent="0" algn="r" defTabSz="914400">
              <a:lnSpc>
                <a:spcPct val="100000"/>
              </a:lnSpc>
              <a:buNone/>
              <a:defRPr lang="en-US" sz="800" b="0" u="none" strike="noStrike">
                <a:solidFill>
                  <a:srgbClr val="7A8797"/>
                </a:solidFill>
                <a:effectLst/>
                <a:uFillTx/>
                <a:latin typeface="Arial"/>
                <a:ea typeface="Arial"/>
              </a:defRPr>
            </a:lvl1pPr>
          </a:lstStyle>
          <a:p>
            <a:pPr indent="0" algn="r" defTabSz="914400">
              <a:lnSpc>
                <a:spcPct val="100000"/>
              </a:lnSpc>
              <a:buNone/>
            </a:pPr>
            <a:fld id="{4ACE03A0-DEB1-415D-A75B-A0BE3F8B54B1}" type="slidenum">
              <a:rPr lang="en-US" sz="800" b="0" u="none" strike="noStrike">
                <a:solidFill>
                  <a:srgbClr val="7A8797"/>
                </a:solidFill>
                <a:effectLst/>
                <a:uFillTx/>
                <a:latin typeface="Arial"/>
                <a:ea typeface="Arial"/>
              </a:rPr>
              <a:t>13</a:t>
            </a:fld>
            <a:endParaRPr lang="en-US" sz="800" b="0" u="none" strike="noStrike">
              <a:solidFill>
                <a:srgbClr val="000000"/>
              </a:solidFill>
              <a:effectLst/>
              <a:uFillTx/>
              <a:latin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 name="Text 0"/>
          <p:cNvSpPr/>
          <p:nvPr/>
        </p:nvSpPr>
        <p:spPr>
          <a:xfrm>
            <a:off x="548640" y="329040"/>
            <a:ext cx="1106388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700" b="1" u="none" strike="noStrike">
                <a:solidFill>
                  <a:srgbClr val="16324F"/>
                </a:solidFill>
                <a:effectLst/>
                <a:uFillTx/>
                <a:latin typeface="Arial"/>
                <a:ea typeface="Arial"/>
              </a:rPr>
              <a:t>13. DAG là gì? — đọc một workflow Airflow</a:t>
            </a:r>
            <a:endParaRPr lang="en-US" sz="2700" b="0" u="none" strike="noStrike">
              <a:solidFill>
                <a:srgbClr val="000000"/>
              </a:solidFill>
              <a:effectLst/>
              <a:uFillTx/>
              <a:latin typeface="Arial"/>
            </a:endParaRPr>
          </a:p>
        </p:txBody>
      </p:sp>
      <p:sp>
        <p:nvSpPr>
          <p:cNvPr id="425" name="Text 1"/>
          <p:cNvSpPr/>
          <p:nvPr/>
        </p:nvSpPr>
        <p:spPr>
          <a:xfrm>
            <a:off x="567000" y="841320"/>
            <a:ext cx="109724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0" u="none" strike="noStrike">
                <a:solidFill>
                  <a:srgbClr val="5F6B7A"/>
                </a:solidFill>
                <a:effectLst/>
                <a:uFillTx/>
                <a:latin typeface="Arial"/>
                <a:ea typeface="Arial"/>
              </a:rPr>
              <a:t>DAG = Directed Acyclic Graph: đồ thị có hướng và không có vòng lặp.</a:t>
            </a:r>
            <a:endParaRPr lang="en-US" sz="1250" b="0" u="none" strike="noStrike">
              <a:solidFill>
                <a:srgbClr val="000000"/>
              </a:solidFill>
              <a:effectLst/>
              <a:uFillTx/>
              <a:latin typeface="Arial"/>
            </a:endParaRPr>
          </a:p>
        </p:txBody>
      </p:sp>
      <p:sp>
        <p:nvSpPr>
          <p:cNvPr id="426" name="Shape 2"/>
          <p:cNvSpPr/>
          <p:nvPr/>
        </p:nvSpPr>
        <p:spPr>
          <a:xfrm>
            <a:off x="914400" y="2194560"/>
            <a:ext cx="1691280" cy="712800"/>
          </a:xfrm>
          <a:prstGeom prst="roundRect">
            <a:avLst>
              <a:gd name="adj" fmla="val 16667"/>
            </a:avLst>
          </a:prstGeom>
          <a:solidFill>
            <a:srgbClr val="00A6A6"/>
          </a:solidFill>
          <a:ln w="12700">
            <a:solidFill>
              <a:srgbClr val="00A6A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27" name="Text 3"/>
          <p:cNvSpPr/>
          <p:nvPr/>
        </p:nvSpPr>
        <p:spPr>
          <a:xfrm>
            <a:off x="987480" y="2423160"/>
            <a:ext cx="15451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FFFFFF"/>
                </a:solidFill>
                <a:effectLst/>
                <a:uFillTx/>
                <a:latin typeface="Arial"/>
              </a:rPr>
              <a:t>extract</a:t>
            </a:r>
            <a:endParaRPr lang="en-US" sz="1300" b="0" u="none" strike="noStrike">
              <a:solidFill>
                <a:srgbClr val="000000"/>
              </a:solidFill>
              <a:effectLst/>
              <a:uFillTx/>
              <a:latin typeface="Arial"/>
            </a:endParaRPr>
          </a:p>
        </p:txBody>
      </p:sp>
      <p:sp>
        <p:nvSpPr>
          <p:cNvPr id="428" name="Shape 4"/>
          <p:cNvSpPr/>
          <p:nvPr/>
        </p:nvSpPr>
        <p:spPr>
          <a:xfrm>
            <a:off x="3657600" y="1417320"/>
            <a:ext cx="1691280" cy="712800"/>
          </a:xfrm>
          <a:prstGeom prst="roundRect">
            <a:avLst>
              <a:gd name="adj" fmla="val 16667"/>
            </a:avLst>
          </a:prstGeom>
          <a:solidFill>
            <a:srgbClr val="1E88E5"/>
          </a:solidFill>
          <a:ln w="12700">
            <a:solidFill>
              <a:srgbClr val="1E88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29" name="Text 5"/>
          <p:cNvSpPr/>
          <p:nvPr/>
        </p:nvSpPr>
        <p:spPr>
          <a:xfrm>
            <a:off x="3730680" y="1645920"/>
            <a:ext cx="15451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FFFFFF"/>
                </a:solidFill>
                <a:effectLst/>
                <a:uFillTx/>
                <a:latin typeface="Arial"/>
              </a:rPr>
              <a:t>validate</a:t>
            </a:r>
            <a:endParaRPr lang="en-US" sz="1300" b="0" u="none" strike="noStrike">
              <a:solidFill>
                <a:srgbClr val="000000"/>
              </a:solidFill>
              <a:effectLst/>
              <a:uFillTx/>
              <a:latin typeface="Arial"/>
            </a:endParaRPr>
          </a:p>
        </p:txBody>
      </p:sp>
      <p:sp>
        <p:nvSpPr>
          <p:cNvPr id="430" name="Shape 6"/>
          <p:cNvSpPr/>
          <p:nvPr/>
        </p:nvSpPr>
        <p:spPr>
          <a:xfrm>
            <a:off x="3657600" y="2971800"/>
            <a:ext cx="1691280" cy="712800"/>
          </a:xfrm>
          <a:prstGeom prst="roundRect">
            <a:avLst>
              <a:gd name="adj" fmla="val 16667"/>
            </a:avLst>
          </a:prstGeom>
          <a:solidFill>
            <a:srgbClr val="6C5CE7"/>
          </a:solidFill>
          <a:ln w="12700">
            <a:solidFill>
              <a:srgbClr val="6C5CE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31" name="Text 7"/>
          <p:cNvSpPr/>
          <p:nvPr/>
        </p:nvSpPr>
        <p:spPr>
          <a:xfrm>
            <a:off x="3730680" y="3200400"/>
            <a:ext cx="15451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FFFFFF"/>
                </a:solidFill>
                <a:effectLst/>
                <a:uFillTx/>
                <a:latin typeface="Arial"/>
              </a:rPr>
              <a:t>transform</a:t>
            </a:r>
            <a:endParaRPr lang="en-US" sz="1300" b="0" u="none" strike="noStrike">
              <a:solidFill>
                <a:srgbClr val="000000"/>
              </a:solidFill>
              <a:effectLst/>
              <a:uFillTx/>
              <a:latin typeface="Arial"/>
            </a:endParaRPr>
          </a:p>
        </p:txBody>
      </p:sp>
      <p:sp>
        <p:nvSpPr>
          <p:cNvPr id="432" name="Shape 8"/>
          <p:cNvSpPr/>
          <p:nvPr/>
        </p:nvSpPr>
        <p:spPr>
          <a:xfrm>
            <a:off x="6583680" y="2194560"/>
            <a:ext cx="1691280" cy="712800"/>
          </a:xfrm>
          <a:prstGeom prst="roundRect">
            <a:avLst>
              <a:gd name="adj" fmla="val 16667"/>
            </a:avLst>
          </a:prstGeom>
          <a:solidFill>
            <a:srgbClr val="2E7D32"/>
          </a:solidFill>
          <a:ln w="12700">
            <a:solidFill>
              <a:srgbClr val="2E7D3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33" name="Text 9"/>
          <p:cNvSpPr/>
          <p:nvPr/>
        </p:nvSpPr>
        <p:spPr>
          <a:xfrm>
            <a:off x="6656760" y="2423160"/>
            <a:ext cx="15451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FFFFFF"/>
                </a:solidFill>
                <a:effectLst/>
                <a:uFillTx/>
                <a:latin typeface="Arial"/>
              </a:rPr>
              <a:t>load</a:t>
            </a:r>
            <a:endParaRPr lang="en-US" sz="1300" b="0" u="none" strike="noStrike">
              <a:solidFill>
                <a:srgbClr val="000000"/>
              </a:solidFill>
              <a:effectLst/>
              <a:uFillTx/>
              <a:latin typeface="Arial"/>
            </a:endParaRPr>
          </a:p>
        </p:txBody>
      </p:sp>
      <p:sp>
        <p:nvSpPr>
          <p:cNvPr id="434" name="Shape 10"/>
          <p:cNvSpPr/>
          <p:nvPr/>
        </p:nvSpPr>
        <p:spPr>
          <a:xfrm>
            <a:off x="9418320" y="2194560"/>
            <a:ext cx="1691280" cy="712800"/>
          </a:xfrm>
          <a:prstGeom prst="roundRect">
            <a:avLst>
              <a:gd name="adj" fmla="val 16667"/>
            </a:avLst>
          </a:prstGeom>
          <a:solidFill>
            <a:srgbClr val="F59E0B"/>
          </a:solidFill>
          <a:ln w="12700">
            <a:solidFill>
              <a:srgbClr val="F59E0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35" name="Text 11"/>
          <p:cNvSpPr/>
          <p:nvPr/>
        </p:nvSpPr>
        <p:spPr>
          <a:xfrm>
            <a:off x="9491400" y="2423160"/>
            <a:ext cx="15451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FFFFFF"/>
                </a:solidFill>
                <a:effectLst/>
                <a:uFillTx/>
                <a:latin typeface="Arial"/>
              </a:rPr>
              <a:t>report</a:t>
            </a:r>
            <a:endParaRPr lang="en-US" sz="1300" b="0" u="none" strike="noStrike">
              <a:solidFill>
                <a:srgbClr val="000000"/>
              </a:solidFill>
              <a:effectLst/>
              <a:uFillTx/>
              <a:latin typeface="Arial"/>
            </a:endParaRPr>
          </a:p>
        </p:txBody>
      </p:sp>
      <p:sp>
        <p:nvSpPr>
          <p:cNvPr id="436" name="Shape 12"/>
          <p:cNvSpPr/>
          <p:nvPr/>
        </p:nvSpPr>
        <p:spPr>
          <a:xfrm flipV="1">
            <a:off x="2606040" y="1783080"/>
            <a:ext cx="1051560" cy="75888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37" name="Shape 13"/>
          <p:cNvSpPr/>
          <p:nvPr/>
        </p:nvSpPr>
        <p:spPr>
          <a:xfrm>
            <a:off x="2606040" y="2541960"/>
            <a:ext cx="1051560" cy="78624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38" name="Shape 14"/>
          <p:cNvSpPr/>
          <p:nvPr/>
        </p:nvSpPr>
        <p:spPr>
          <a:xfrm>
            <a:off x="5349240" y="1783080"/>
            <a:ext cx="1234440" cy="75888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39" name="Shape 15"/>
          <p:cNvSpPr/>
          <p:nvPr/>
        </p:nvSpPr>
        <p:spPr>
          <a:xfrm flipV="1">
            <a:off x="5349240" y="2541960"/>
            <a:ext cx="1234440" cy="78624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40" name="Shape 16"/>
          <p:cNvSpPr/>
          <p:nvPr/>
        </p:nvSpPr>
        <p:spPr>
          <a:xfrm>
            <a:off x="8275320" y="2541960"/>
            <a:ext cx="114300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441" name="Shape 17"/>
          <p:cNvSpPr/>
          <p:nvPr/>
        </p:nvSpPr>
        <p:spPr>
          <a:xfrm>
            <a:off x="868680" y="4160520"/>
            <a:ext cx="2514240" cy="959760"/>
          </a:xfrm>
          <a:prstGeom prst="roundRect">
            <a:avLst>
              <a:gd name="adj" fmla="val 5714"/>
            </a:avLst>
          </a:prstGeom>
          <a:solidFill>
            <a:srgbClr val="FFFFFF"/>
          </a:solidFill>
          <a:ln w="15240">
            <a:solidFill>
              <a:srgbClr val="D9E2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42" name="Shape 18"/>
          <p:cNvSpPr/>
          <p:nvPr/>
        </p:nvSpPr>
        <p:spPr>
          <a:xfrm>
            <a:off x="868680" y="4160520"/>
            <a:ext cx="72720" cy="959760"/>
          </a:xfrm>
          <a:prstGeom prst="rect">
            <a:avLst/>
          </a:prstGeom>
          <a:solidFill>
            <a:srgbClr val="1E88E5"/>
          </a:solidFill>
          <a:ln w="12700">
            <a:solidFill>
              <a:srgbClr val="1E88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43" name="Text 19"/>
          <p:cNvSpPr/>
          <p:nvPr/>
        </p:nvSpPr>
        <p:spPr>
          <a:xfrm>
            <a:off x="1051560" y="4306680"/>
            <a:ext cx="22215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6324F"/>
                </a:solidFill>
                <a:effectLst/>
                <a:uFillTx/>
                <a:latin typeface="Arial"/>
              </a:rPr>
              <a:t>Task</a:t>
            </a:r>
            <a:endParaRPr lang="en-US" sz="1600" b="0" u="none" strike="noStrike">
              <a:solidFill>
                <a:srgbClr val="000000"/>
              </a:solidFill>
              <a:effectLst/>
              <a:uFillTx/>
              <a:latin typeface="Arial"/>
            </a:endParaRPr>
          </a:p>
        </p:txBody>
      </p:sp>
      <p:sp>
        <p:nvSpPr>
          <p:cNvPr id="444" name="Text 20"/>
          <p:cNvSpPr/>
          <p:nvPr/>
        </p:nvSpPr>
        <p:spPr>
          <a:xfrm>
            <a:off x="1051560" y="4690800"/>
            <a:ext cx="2203200" cy="3013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lnSpcReduction="9999"/>
          </a:bodyPr>
          <a:lstStyle/>
          <a:p>
            <a:pPr defTabSz="914400">
              <a:lnSpc>
                <a:spcPct val="100000"/>
              </a:lnSpc>
              <a:tabLst>
                <a:tab pos="0" algn="l"/>
              </a:tabLst>
            </a:pPr>
            <a:r>
              <a:rPr lang="en-US" sz="1080" b="0" u="none" strike="noStrike">
                <a:solidFill>
                  <a:srgbClr val="1F2937"/>
                </a:solidFill>
                <a:effectLst/>
                <a:uFillTx/>
                <a:latin typeface="Arial"/>
              </a:rPr>
              <a:t>Một đơn vị công việc: chạy Python, SQL, Spark job, shell command...</a:t>
            </a:r>
            <a:endParaRPr lang="en-US" sz="1080" b="0" u="none" strike="noStrike">
              <a:solidFill>
                <a:srgbClr val="000000"/>
              </a:solidFill>
              <a:effectLst/>
              <a:uFillTx/>
              <a:latin typeface="Arial"/>
            </a:endParaRPr>
          </a:p>
        </p:txBody>
      </p:sp>
      <p:sp>
        <p:nvSpPr>
          <p:cNvPr id="445" name="Shape 21"/>
          <p:cNvSpPr/>
          <p:nvPr/>
        </p:nvSpPr>
        <p:spPr>
          <a:xfrm>
            <a:off x="3611880" y="4160520"/>
            <a:ext cx="2514240" cy="959760"/>
          </a:xfrm>
          <a:prstGeom prst="roundRect">
            <a:avLst>
              <a:gd name="adj" fmla="val 5714"/>
            </a:avLst>
          </a:prstGeom>
          <a:solidFill>
            <a:srgbClr val="FFFFFF"/>
          </a:solidFill>
          <a:ln w="15240">
            <a:solidFill>
              <a:srgbClr val="D9E2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46" name="Shape 22"/>
          <p:cNvSpPr/>
          <p:nvPr/>
        </p:nvSpPr>
        <p:spPr>
          <a:xfrm>
            <a:off x="3611880" y="4160520"/>
            <a:ext cx="72720" cy="959760"/>
          </a:xfrm>
          <a:prstGeom prst="rect">
            <a:avLst/>
          </a:prstGeom>
          <a:solidFill>
            <a:srgbClr val="6C5CE7"/>
          </a:solidFill>
          <a:ln w="12700">
            <a:solidFill>
              <a:srgbClr val="6C5CE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47" name="Text 23"/>
          <p:cNvSpPr/>
          <p:nvPr/>
        </p:nvSpPr>
        <p:spPr>
          <a:xfrm>
            <a:off x="3794760" y="4306680"/>
            <a:ext cx="22215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6324F"/>
                </a:solidFill>
                <a:effectLst/>
                <a:uFillTx/>
                <a:latin typeface="Arial"/>
              </a:rPr>
              <a:t>Dependency</a:t>
            </a:r>
            <a:endParaRPr lang="en-US" sz="1600" b="0" u="none" strike="noStrike">
              <a:solidFill>
                <a:srgbClr val="000000"/>
              </a:solidFill>
              <a:effectLst/>
              <a:uFillTx/>
              <a:latin typeface="Arial"/>
            </a:endParaRPr>
          </a:p>
        </p:txBody>
      </p:sp>
      <p:sp>
        <p:nvSpPr>
          <p:cNvPr id="448" name="Text 24"/>
          <p:cNvSpPr/>
          <p:nvPr/>
        </p:nvSpPr>
        <p:spPr>
          <a:xfrm>
            <a:off x="3794760" y="4690800"/>
            <a:ext cx="2203200" cy="3013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lnSpcReduction="9999"/>
          </a:bodyPr>
          <a:lstStyle/>
          <a:p>
            <a:pPr defTabSz="914400">
              <a:lnSpc>
                <a:spcPct val="100000"/>
              </a:lnSpc>
              <a:tabLst>
                <a:tab pos="0" algn="l"/>
              </a:tabLst>
            </a:pPr>
            <a:r>
              <a:rPr lang="en-US" sz="1080" b="0" u="none" strike="noStrike">
                <a:solidFill>
                  <a:srgbClr val="1F2937"/>
                </a:solidFill>
                <a:effectLst/>
                <a:uFillTx/>
                <a:latin typeface="Arial"/>
              </a:rPr>
              <a:t>Task downstream chỉ chạy khi điều kiện upstream được đáp ứng.</a:t>
            </a:r>
            <a:endParaRPr lang="en-US" sz="1080" b="0" u="none" strike="noStrike">
              <a:solidFill>
                <a:srgbClr val="000000"/>
              </a:solidFill>
              <a:effectLst/>
              <a:uFillTx/>
              <a:latin typeface="Arial"/>
            </a:endParaRPr>
          </a:p>
        </p:txBody>
      </p:sp>
      <p:sp>
        <p:nvSpPr>
          <p:cNvPr id="449" name="Shape 25"/>
          <p:cNvSpPr/>
          <p:nvPr/>
        </p:nvSpPr>
        <p:spPr>
          <a:xfrm>
            <a:off x="6355080" y="4160520"/>
            <a:ext cx="2514240" cy="959760"/>
          </a:xfrm>
          <a:prstGeom prst="roundRect">
            <a:avLst>
              <a:gd name="adj" fmla="val 5714"/>
            </a:avLst>
          </a:prstGeom>
          <a:solidFill>
            <a:srgbClr val="FFFFFF"/>
          </a:solidFill>
          <a:ln w="15240">
            <a:solidFill>
              <a:srgbClr val="D9E2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50" name="Shape 26"/>
          <p:cNvSpPr/>
          <p:nvPr/>
        </p:nvSpPr>
        <p:spPr>
          <a:xfrm>
            <a:off x="6355080" y="4160520"/>
            <a:ext cx="72720" cy="959760"/>
          </a:xfrm>
          <a:prstGeom prst="rect">
            <a:avLst/>
          </a:prstGeom>
          <a:solidFill>
            <a:srgbClr val="F59E0B"/>
          </a:solidFill>
          <a:ln w="12700">
            <a:solidFill>
              <a:srgbClr val="F59E0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51" name="Text 27"/>
          <p:cNvSpPr/>
          <p:nvPr/>
        </p:nvSpPr>
        <p:spPr>
          <a:xfrm>
            <a:off x="6537960" y="4306680"/>
            <a:ext cx="22215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6324F"/>
                </a:solidFill>
                <a:effectLst/>
                <a:uFillTx/>
                <a:latin typeface="Arial"/>
              </a:rPr>
              <a:t>Schedule</a:t>
            </a:r>
            <a:endParaRPr lang="en-US" sz="1600" b="0" u="none" strike="noStrike">
              <a:solidFill>
                <a:srgbClr val="000000"/>
              </a:solidFill>
              <a:effectLst/>
              <a:uFillTx/>
              <a:latin typeface="Arial"/>
            </a:endParaRPr>
          </a:p>
        </p:txBody>
      </p:sp>
      <p:sp>
        <p:nvSpPr>
          <p:cNvPr id="452" name="Text 28"/>
          <p:cNvSpPr/>
          <p:nvPr/>
        </p:nvSpPr>
        <p:spPr>
          <a:xfrm>
            <a:off x="6537960" y="4690800"/>
            <a:ext cx="2203200" cy="3013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lnSpcReduction="9999"/>
          </a:bodyPr>
          <a:lstStyle/>
          <a:p>
            <a:pPr defTabSz="914400">
              <a:lnSpc>
                <a:spcPct val="100000"/>
              </a:lnSpc>
              <a:tabLst>
                <a:tab pos="0" algn="l"/>
              </a:tabLst>
            </a:pPr>
            <a:r>
              <a:rPr lang="en-US" sz="1080" b="0" u="none" strike="noStrike">
                <a:solidFill>
                  <a:srgbClr val="1F2937"/>
                </a:solidFill>
                <a:effectLst/>
                <a:uFillTx/>
                <a:latin typeface="Arial"/>
              </a:rPr>
              <a:t>Cron / interval / event-based scheduling tùy workflow.</a:t>
            </a:r>
            <a:endParaRPr lang="en-US" sz="1080" b="0" u="none" strike="noStrike">
              <a:solidFill>
                <a:srgbClr val="000000"/>
              </a:solidFill>
              <a:effectLst/>
              <a:uFillTx/>
              <a:latin typeface="Arial"/>
            </a:endParaRPr>
          </a:p>
        </p:txBody>
      </p:sp>
      <p:sp>
        <p:nvSpPr>
          <p:cNvPr id="453" name="Shape 29"/>
          <p:cNvSpPr/>
          <p:nvPr/>
        </p:nvSpPr>
        <p:spPr>
          <a:xfrm>
            <a:off x="9098280" y="4160520"/>
            <a:ext cx="2239920" cy="959760"/>
          </a:xfrm>
          <a:prstGeom prst="roundRect">
            <a:avLst>
              <a:gd name="adj" fmla="val 5714"/>
            </a:avLst>
          </a:prstGeom>
          <a:solidFill>
            <a:srgbClr val="FFFFFF"/>
          </a:solidFill>
          <a:ln w="15240">
            <a:solidFill>
              <a:srgbClr val="D9E2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54" name="Shape 30"/>
          <p:cNvSpPr/>
          <p:nvPr/>
        </p:nvSpPr>
        <p:spPr>
          <a:xfrm>
            <a:off x="9098280" y="4160520"/>
            <a:ext cx="72720" cy="959760"/>
          </a:xfrm>
          <a:prstGeom prst="rect">
            <a:avLst/>
          </a:prstGeom>
          <a:solidFill>
            <a:srgbClr val="2E7D32"/>
          </a:solidFill>
          <a:ln w="12700">
            <a:solidFill>
              <a:srgbClr val="2E7D3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55" name="Text 31"/>
          <p:cNvSpPr/>
          <p:nvPr/>
        </p:nvSpPr>
        <p:spPr>
          <a:xfrm>
            <a:off x="9281160" y="4306680"/>
            <a:ext cx="19472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6324F"/>
                </a:solidFill>
                <a:effectLst/>
                <a:uFillTx/>
                <a:latin typeface="Arial"/>
              </a:rPr>
              <a:t>Retry</a:t>
            </a:r>
            <a:endParaRPr lang="en-US" sz="1600" b="0" u="none" strike="noStrike">
              <a:solidFill>
                <a:srgbClr val="000000"/>
              </a:solidFill>
              <a:effectLst/>
              <a:uFillTx/>
              <a:latin typeface="Arial"/>
            </a:endParaRPr>
          </a:p>
        </p:txBody>
      </p:sp>
      <p:sp>
        <p:nvSpPr>
          <p:cNvPr id="456" name="Text 32"/>
          <p:cNvSpPr/>
          <p:nvPr/>
        </p:nvSpPr>
        <p:spPr>
          <a:xfrm>
            <a:off x="9281160" y="4690800"/>
            <a:ext cx="1928880" cy="3013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lnSpcReduction="9999"/>
          </a:bodyPr>
          <a:lstStyle/>
          <a:p>
            <a:pPr defTabSz="914400">
              <a:lnSpc>
                <a:spcPct val="100000"/>
              </a:lnSpc>
              <a:tabLst>
                <a:tab pos="0" algn="l"/>
              </a:tabLst>
            </a:pPr>
            <a:r>
              <a:rPr lang="en-US" sz="1060" b="0" u="none" strike="noStrike">
                <a:solidFill>
                  <a:srgbClr val="1F2937"/>
                </a:solidFill>
                <a:effectLst/>
                <a:uFillTx/>
                <a:latin typeface="Arial"/>
              </a:rPr>
              <a:t>Có thể cấu hình retry, delay, timeout và callback.</a:t>
            </a:r>
            <a:endParaRPr lang="en-US" sz="1060" b="0" u="none" strike="noStrike">
              <a:solidFill>
                <a:srgbClr val="000000"/>
              </a:solidFill>
              <a:effectLst/>
              <a:uFillTx/>
              <a:latin typeface="Arial"/>
            </a:endParaRPr>
          </a:p>
        </p:txBody>
      </p:sp>
      <p:sp>
        <p:nvSpPr>
          <p:cNvPr id="457" name="Shape 33"/>
          <p:cNvSpPr/>
          <p:nvPr/>
        </p:nvSpPr>
        <p:spPr>
          <a:xfrm>
            <a:off x="567000" y="5413320"/>
            <a:ext cx="11018160" cy="566640"/>
          </a:xfrm>
          <a:prstGeom prst="roundRect">
            <a:avLst>
              <a:gd name="adj" fmla="val 9677"/>
            </a:avLst>
          </a:prstGeom>
          <a:solidFill>
            <a:srgbClr val="FFF7E6"/>
          </a:solidFill>
          <a:ln w="12700">
            <a:solidFill>
              <a:srgbClr val="F4C66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58" name="Text 34"/>
          <p:cNvSpPr/>
          <p:nvPr/>
        </p:nvSpPr>
        <p:spPr>
          <a:xfrm>
            <a:off x="749880" y="5568840"/>
            <a:ext cx="8226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a:solidFill>
                  <a:srgbClr val="A15C00"/>
                </a:solidFill>
                <a:effectLst/>
                <a:uFillTx/>
                <a:latin typeface="Arial"/>
              </a:rPr>
              <a:t>Giải thích</a:t>
            </a:r>
            <a:endParaRPr lang="en-US" sz="1100" b="0" u="none" strike="noStrike">
              <a:solidFill>
                <a:srgbClr val="000000"/>
              </a:solidFill>
              <a:effectLst/>
              <a:uFillTx/>
              <a:latin typeface="Arial"/>
            </a:endParaRPr>
          </a:p>
        </p:txBody>
      </p:sp>
      <p:sp>
        <p:nvSpPr>
          <p:cNvPr id="459" name="Text 35"/>
          <p:cNvSpPr/>
          <p:nvPr/>
        </p:nvSpPr>
        <p:spPr>
          <a:xfrm>
            <a:off x="1609200" y="5532120"/>
            <a:ext cx="97106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20" b="0" u="none" strike="noStrike">
                <a:solidFill>
                  <a:srgbClr val="6B4D1D"/>
                </a:solidFill>
                <a:effectLst/>
                <a:uFillTx/>
                <a:latin typeface="Arial"/>
              </a:rPr>
              <a:t>“Acyclic” nghĩa là không tạo vòng lặp extract → transform → extract. Nếu có chu trình, scheduler không thể xác định thứ tự kết thúc của workflow.</a:t>
            </a:r>
            <a:endParaRPr lang="en-US" sz="1120" b="0" u="none" strike="noStrike">
              <a:solidFill>
                <a:srgbClr val="000000"/>
              </a:solidFill>
              <a:effectLst/>
              <a:uFillTx/>
              <a:latin typeface="Arial"/>
            </a:endParaRPr>
          </a:p>
        </p:txBody>
      </p:sp>
      <p:sp>
        <p:nvSpPr>
          <p:cNvPr id="460" name="PlaceHolder 1"/>
          <p:cNvSpPr>
            <a:spLocks noGrp="1"/>
          </p:cNvSpPr>
          <p:nvPr>
            <p:ph type="sldNum" idx="18"/>
          </p:nvPr>
        </p:nvSpPr>
        <p:spPr>
          <a:xfrm>
            <a:off x="11631240" y="6510600"/>
            <a:ext cx="255600" cy="200880"/>
          </a:xfrm>
          <a:prstGeom prst="rect">
            <a:avLst/>
          </a:prstGeom>
          <a:noFill/>
          <a:ln w="0">
            <a:noFill/>
          </a:ln>
        </p:spPr>
        <p:txBody>
          <a:bodyPr lIns="90000" tIns="45000" rIns="90000" bIns="45000" anchor="t">
            <a:noAutofit/>
          </a:bodyPr>
          <a:lstStyle>
            <a:lvl1pPr indent="0" algn="r" defTabSz="914400">
              <a:lnSpc>
                <a:spcPct val="100000"/>
              </a:lnSpc>
              <a:buNone/>
              <a:defRPr lang="en-US" sz="800" b="0" u="none" strike="noStrike">
                <a:solidFill>
                  <a:srgbClr val="7A8797"/>
                </a:solidFill>
                <a:effectLst/>
                <a:uFillTx/>
                <a:latin typeface="Arial"/>
                <a:ea typeface="Arial"/>
              </a:defRPr>
            </a:lvl1pPr>
          </a:lstStyle>
          <a:p>
            <a:pPr indent="0" algn="r" defTabSz="914400">
              <a:lnSpc>
                <a:spcPct val="100000"/>
              </a:lnSpc>
              <a:buNone/>
            </a:pPr>
            <a:fld id="{3BF0732E-8BF5-4B16-B651-CA540DB33DA7}" type="slidenum">
              <a:rPr lang="en-US" sz="800" b="0" u="none" strike="noStrike">
                <a:solidFill>
                  <a:srgbClr val="7A8797"/>
                </a:solidFill>
                <a:effectLst/>
                <a:uFillTx/>
                <a:latin typeface="Arial"/>
                <a:ea typeface="Arial"/>
              </a:rPr>
              <a:t>14</a:t>
            </a:fld>
            <a:endParaRPr lang="en-US" sz="800" b="0" u="none" strike="noStrike">
              <a:solidFill>
                <a:srgbClr val="000000"/>
              </a:solidFill>
              <a:effectLst/>
              <a:uFillTx/>
              <a:latin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 name="Text 0"/>
          <p:cNvSpPr/>
          <p:nvPr/>
        </p:nvSpPr>
        <p:spPr>
          <a:xfrm>
            <a:off x="548640" y="329040"/>
            <a:ext cx="1106388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700" b="1" u="none" strike="noStrike">
                <a:solidFill>
                  <a:srgbClr val="16324F"/>
                </a:solidFill>
                <a:effectLst/>
                <a:uFillTx/>
                <a:latin typeface="Arial"/>
                <a:ea typeface="Arial"/>
              </a:rPr>
              <a:t>14. Airflow Quickstart — phiên bản hiện hành</a:t>
            </a:r>
            <a:endParaRPr lang="en-US" sz="2700" b="0" u="none" strike="noStrike">
              <a:solidFill>
                <a:srgbClr val="000000"/>
              </a:solidFill>
              <a:effectLst/>
              <a:uFillTx/>
              <a:latin typeface="Arial"/>
            </a:endParaRPr>
          </a:p>
        </p:txBody>
      </p:sp>
      <p:sp>
        <p:nvSpPr>
          <p:cNvPr id="462" name="Text 1"/>
          <p:cNvSpPr/>
          <p:nvPr/>
        </p:nvSpPr>
        <p:spPr>
          <a:xfrm>
            <a:off x="567000" y="841320"/>
            <a:ext cx="109724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0" u="none" strike="noStrike">
                <a:solidFill>
                  <a:srgbClr val="5F6B7A"/>
                </a:solidFill>
                <a:effectLst/>
                <a:uFillTx/>
                <a:latin typeface="Arial"/>
                <a:ea typeface="Arial"/>
              </a:rPr>
              <a:t>Slide gốc dùng Airflow 2.3.3; phần này cập nhật theo tài liệu Airflow 3.3.x.</a:t>
            </a:r>
            <a:endParaRPr lang="en-US" sz="1250" b="0" u="none" strike="noStrike">
              <a:solidFill>
                <a:srgbClr val="000000"/>
              </a:solidFill>
              <a:effectLst/>
              <a:uFillTx/>
              <a:latin typeface="Arial"/>
            </a:endParaRPr>
          </a:p>
        </p:txBody>
      </p:sp>
      <p:sp>
        <p:nvSpPr>
          <p:cNvPr id="463" name="Shape 2"/>
          <p:cNvSpPr/>
          <p:nvPr/>
        </p:nvSpPr>
        <p:spPr>
          <a:xfrm>
            <a:off x="658440" y="1353240"/>
            <a:ext cx="6583320" cy="4480200"/>
          </a:xfrm>
          <a:prstGeom prst="roundRect">
            <a:avLst>
              <a:gd name="adj" fmla="val 816"/>
            </a:avLst>
          </a:prstGeom>
          <a:solidFill>
            <a:srgbClr val="101827"/>
          </a:solidFill>
          <a:ln w="12700">
            <a:solidFill>
              <a:srgbClr val="10182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64" name="Text 3"/>
          <p:cNvSpPr/>
          <p:nvPr/>
        </p:nvSpPr>
        <p:spPr>
          <a:xfrm>
            <a:off x="822960" y="1499760"/>
            <a:ext cx="6254280" cy="4224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020" b="0" u="none" strike="noStrike">
                <a:solidFill>
                  <a:srgbClr val="E6EDF3"/>
                </a:solidFill>
                <a:effectLst/>
                <a:uFillTx/>
                <a:latin typeface="Courier New"/>
                <a:ea typeface="Courier New"/>
              </a:rPr>
              <a:t># 1) Tạo môi trường Python</a:t>
            </a:r>
            <a:endParaRPr lang="en-US" sz="1020" b="0" u="none" strike="noStrike">
              <a:solidFill>
                <a:srgbClr val="000000"/>
              </a:solidFill>
              <a:effectLst/>
              <a:uFillTx/>
              <a:latin typeface="Arial"/>
            </a:endParaRPr>
          </a:p>
          <a:p>
            <a:pPr defTabSz="914400">
              <a:lnSpc>
                <a:spcPct val="100000"/>
              </a:lnSpc>
              <a:tabLst>
                <a:tab pos="0" algn="l"/>
              </a:tabLst>
            </a:pPr>
            <a:r>
              <a:rPr lang="en-US" sz="1020" b="0" u="none" strike="noStrike">
                <a:solidFill>
                  <a:srgbClr val="E6EDF3"/>
                </a:solidFill>
                <a:effectLst/>
                <a:uFillTx/>
                <a:latin typeface="Courier New"/>
                <a:ea typeface="Courier New"/>
              </a:rPr>
              <a:t>python -m venv .venv</a:t>
            </a:r>
            <a:endParaRPr lang="en-US" sz="1020" b="0" u="none" strike="noStrike">
              <a:solidFill>
                <a:srgbClr val="000000"/>
              </a:solidFill>
              <a:effectLst/>
              <a:uFillTx/>
              <a:latin typeface="Arial"/>
            </a:endParaRPr>
          </a:p>
          <a:p>
            <a:pPr defTabSz="914400">
              <a:lnSpc>
                <a:spcPct val="100000"/>
              </a:lnSpc>
              <a:tabLst>
                <a:tab pos="0" algn="l"/>
              </a:tabLst>
            </a:pPr>
            <a:r>
              <a:rPr lang="en-US" sz="1020" b="0" u="none" strike="noStrike">
                <a:solidFill>
                  <a:srgbClr val="E6EDF3"/>
                </a:solidFill>
                <a:effectLst/>
                <a:uFillTx/>
                <a:latin typeface="Courier New"/>
                <a:ea typeface="Courier New"/>
              </a:rPr>
              <a:t>source .venv/bin/activate</a:t>
            </a:r>
            <a:endParaRPr lang="en-US" sz="1020" b="0" u="none" strike="noStrike">
              <a:solidFill>
                <a:srgbClr val="000000"/>
              </a:solidFill>
              <a:effectLst/>
              <a:uFillTx/>
              <a:latin typeface="Arial"/>
            </a:endParaRPr>
          </a:p>
          <a:p>
            <a:pPr defTabSz="914400">
              <a:lnSpc>
                <a:spcPct val="100000"/>
              </a:lnSpc>
              <a:tabLst>
                <a:tab pos="0" algn="l"/>
              </a:tabLst>
            </a:pPr>
            <a:endParaRPr lang="en-US" sz="1020" b="0" u="none" strike="noStrike">
              <a:solidFill>
                <a:srgbClr val="000000"/>
              </a:solidFill>
              <a:effectLst/>
              <a:uFillTx/>
              <a:latin typeface="Arial"/>
            </a:endParaRPr>
          </a:p>
          <a:p>
            <a:pPr defTabSz="914400">
              <a:lnSpc>
                <a:spcPct val="100000"/>
              </a:lnSpc>
              <a:tabLst>
                <a:tab pos="0" algn="l"/>
              </a:tabLst>
            </a:pPr>
            <a:r>
              <a:rPr lang="en-US" sz="1020" b="0" u="none" strike="noStrike">
                <a:solidFill>
                  <a:srgbClr val="E6EDF3"/>
                </a:solidFill>
                <a:effectLst/>
                <a:uFillTx/>
                <a:latin typeface="Courier New"/>
                <a:ea typeface="Courier New"/>
              </a:rPr>
              <a:t># 2) Cài Airflow (ví dụ 3.3.2)</a:t>
            </a:r>
            <a:endParaRPr lang="en-US" sz="1020" b="0" u="none" strike="noStrike">
              <a:solidFill>
                <a:srgbClr val="000000"/>
              </a:solidFill>
              <a:effectLst/>
              <a:uFillTx/>
              <a:latin typeface="Arial"/>
            </a:endParaRPr>
          </a:p>
          <a:p>
            <a:pPr defTabSz="914400">
              <a:lnSpc>
                <a:spcPct val="100000"/>
              </a:lnSpc>
              <a:tabLst>
                <a:tab pos="0" algn="l"/>
              </a:tabLst>
            </a:pPr>
            <a:r>
              <a:rPr lang="en-US" sz="1020" b="0" u="none" strike="noStrike">
                <a:solidFill>
                  <a:srgbClr val="E6EDF3"/>
                </a:solidFill>
                <a:effectLst/>
                <a:uFillTx/>
                <a:latin typeface="Courier New"/>
                <a:ea typeface="Courier New"/>
              </a:rPr>
              <a:t>AIRFLOW_VERSION=3.3.2</a:t>
            </a:r>
            <a:endParaRPr lang="en-US" sz="1020" b="0" u="none" strike="noStrike">
              <a:solidFill>
                <a:srgbClr val="000000"/>
              </a:solidFill>
              <a:effectLst/>
              <a:uFillTx/>
              <a:latin typeface="Arial"/>
            </a:endParaRPr>
          </a:p>
          <a:p>
            <a:pPr defTabSz="914400">
              <a:lnSpc>
                <a:spcPct val="100000"/>
              </a:lnSpc>
              <a:tabLst>
                <a:tab pos="0" algn="l"/>
              </a:tabLst>
            </a:pPr>
            <a:r>
              <a:rPr lang="en-US" sz="1020" b="0" u="none" strike="noStrike">
                <a:solidFill>
                  <a:srgbClr val="E6EDF3"/>
                </a:solidFill>
                <a:effectLst/>
                <a:uFillTx/>
                <a:latin typeface="Courier New"/>
                <a:ea typeface="Courier New"/>
              </a:rPr>
              <a:t>PYTHON_VERSION=3.12</a:t>
            </a:r>
            <a:endParaRPr lang="en-US" sz="1020" b="0" u="none" strike="noStrike">
              <a:solidFill>
                <a:srgbClr val="000000"/>
              </a:solidFill>
              <a:effectLst/>
              <a:uFillTx/>
              <a:latin typeface="Arial"/>
            </a:endParaRPr>
          </a:p>
          <a:p>
            <a:pPr defTabSz="914400">
              <a:lnSpc>
                <a:spcPct val="100000"/>
              </a:lnSpc>
              <a:tabLst>
                <a:tab pos="0" algn="l"/>
              </a:tabLst>
            </a:pPr>
            <a:r>
              <a:rPr lang="en-US" sz="1020" b="0" u="none" strike="noStrike">
                <a:solidFill>
                  <a:srgbClr val="E6EDF3"/>
                </a:solidFill>
                <a:effectLst/>
                <a:uFillTx/>
                <a:latin typeface="Courier New"/>
                <a:ea typeface="Courier New"/>
              </a:rPr>
              <a:t>pip install "apache-airflow==${AIRFLOW_VERSION}" \</a:t>
            </a:r>
            <a:endParaRPr lang="en-US" sz="1020" b="0" u="none" strike="noStrike">
              <a:solidFill>
                <a:srgbClr val="000000"/>
              </a:solidFill>
              <a:effectLst/>
              <a:uFillTx/>
              <a:latin typeface="Arial"/>
            </a:endParaRPr>
          </a:p>
          <a:p>
            <a:pPr defTabSz="914400">
              <a:lnSpc>
                <a:spcPct val="100000"/>
              </a:lnSpc>
              <a:tabLst>
                <a:tab pos="0" algn="l"/>
              </a:tabLst>
            </a:pPr>
            <a:r>
              <a:rPr lang="en-US" sz="1020" b="0" u="none" strike="noStrike">
                <a:solidFill>
                  <a:srgbClr val="E6EDF3"/>
                </a:solidFill>
                <a:effectLst/>
                <a:uFillTx/>
                <a:latin typeface="Courier New"/>
                <a:ea typeface="Courier New"/>
              </a:rPr>
              <a:t>  --constraint "https://raw.githubusercontent.com/apache/airflow/constraints-${AIRFLOW_VERSION}/constraints-${PYTHON_VERSION}.txt"</a:t>
            </a:r>
            <a:endParaRPr lang="en-US" sz="1020" b="0" u="none" strike="noStrike">
              <a:solidFill>
                <a:srgbClr val="000000"/>
              </a:solidFill>
              <a:effectLst/>
              <a:uFillTx/>
              <a:latin typeface="Arial"/>
            </a:endParaRPr>
          </a:p>
          <a:p>
            <a:pPr defTabSz="914400">
              <a:lnSpc>
                <a:spcPct val="100000"/>
              </a:lnSpc>
              <a:tabLst>
                <a:tab pos="0" algn="l"/>
              </a:tabLst>
            </a:pPr>
            <a:endParaRPr lang="en-US" sz="1020" b="0" u="none" strike="noStrike">
              <a:solidFill>
                <a:srgbClr val="000000"/>
              </a:solidFill>
              <a:effectLst/>
              <a:uFillTx/>
              <a:latin typeface="Arial"/>
            </a:endParaRPr>
          </a:p>
          <a:p>
            <a:pPr defTabSz="914400">
              <a:lnSpc>
                <a:spcPct val="100000"/>
              </a:lnSpc>
              <a:tabLst>
                <a:tab pos="0" algn="l"/>
              </a:tabLst>
            </a:pPr>
            <a:r>
              <a:rPr lang="en-US" sz="1020" b="0" u="none" strike="noStrike">
                <a:solidFill>
                  <a:srgbClr val="E6EDF3"/>
                </a:solidFill>
                <a:effectLst/>
                <a:uFillTx/>
                <a:latin typeface="Courier New"/>
                <a:ea typeface="Courier New"/>
              </a:rPr>
              <a:t># 3) Chạy nhanh local</a:t>
            </a:r>
            <a:endParaRPr lang="en-US" sz="1020" b="0" u="none" strike="noStrike">
              <a:solidFill>
                <a:srgbClr val="000000"/>
              </a:solidFill>
              <a:effectLst/>
              <a:uFillTx/>
              <a:latin typeface="Arial"/>
            </a:endParaRPr>
          </a:p>
          <a:p>
            <a:pPr defTabSz="914400">
              <a:lnSpc>
                <a:spcPct val="100000"/>
              </a:lnSpc>
              <a:tabLst>
                <a:tab pos="0" algn="l"/>
              </a:tabLst>
            </a:pPr>
            <a:r>
              <a:rPr lang="en-US" sz="1020" b="0" u="none" strike="noStrike">
                <a:solidFill>
                  <a:srgbClr val="E6EDF3"/>
                </a:solidFill>
                <a:effectLst/>
                <a:uFillTx/>
                <a:latin typeface="Courier New"/>
                <a:ea typeface="Courier New"/>
              </a:rPr>
              <a:t>airflow standalone</a:t>
            </a:r>
            <a:endParaRPr lang="en-US" sz="1020" b="0" u="none" strike="noStrike">
              <a:solidFill>
                <a:srgbClr val="000000"/>
              </a:solidFill>
              <a:effectLst/>
              <a:uFillTx/>
              <a:latin typeface="Arial"/>
            </a:endParaRPr>
          </a:p>
        </p:txBody>
      </p:sp>
      <p:sp>
        <p:nvSpPr>
          <p:cNvPr id="465" name="Shape 4"/>
          <p:cNvSpPr/>
          <p:nvPr/>
        </p:nvSpPr>
        <p:spPr>
          <a:xfrm>
            <a:off x="7589520" y="1417320"/>
            <a:ext cx="3657240" cy="1325520"/>
          </a:xfrm>
          <a:prstGeom prst="roundRect">
            <a:avLst>
              <a:gd name="adj" fmla="val 4138"/>
            </a:avLst>
          </a:prstGeom>
          <a:solidFill>
            <a:srgbClr val="FFFFFF"/>
          </a:solidFill>
          <a:ln w="15240">
            <a:solidFill>
              <a:srgbClr val="D9E2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66" name="Shape 5"/>
          <p:cNvSpPr/>
          <p:nvPr/>
        </p:nvSpPr>
        <p:spPr>
          <a:xfrm>
            <a:off x="7589520" y="1417320"/>
            <a:ext cx="72720" cy="1325520"/>
          </a:xfrm>
          <a:prstGeom prst="rect">
            <a:avLst/>
          </a:prstGeom>
          <a:solidFill>
            <a:srgbClr val="1E88E5"/>
          </a:solidFill>
          <a:ln w="12700">
            <a:solidFill>
              <a:srgbClr val="1E88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67" name="Text 6"/>
          <p:cNvSpPr/>
          <p:nvPr/>
        </p:nvSpPr>
        <p:spPr>
          <a:xfrm>
            <a:off x="7772400" y="1563480"/>
            <a:ext cx="33645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6324F"/>
                </a:solidFill>
                <a:effectLst/>
                <a:uFillTx/>
                <a:latin typeface="Arial"/>
              </a:rPr>
              <a:t>airflow standalone</a:t>
            </a:r>
            <a:endParaRPr lang="en-US" sz="1600" b="0" u="none" strike="noStrike">
              <a:solidFill>
                <a:srgbClr val="000000"/>
              </a:solidFill>
              <a:effectLst/>
              <a:uFillTx/>
              <a:latin typeface="Arial"/>
            </a:endParaRPr>
          </a:p>
        </p:txBody>
      </p:sp>
      <p:sp>
        <p:nvSpPr>
          <p:cNvPr id="468" name="Text 7"/>
          <p:cNvSpPr/>
          <p:nvPr/>
        </p:nvSpPr>
        <p:spPr>
          <a:xfrm>
            <a:off x="7772400" y="1947600"/>
            <a:ext cx="3346200" cy="667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180" b="0" u="none" strike="noStrike">
                <a:solidFill>
                  <a:srgbClr val="1F2937"/>
                </a:solidFill>
                <a:effectLst/>
                <a:uFillTx/>
                <a:latin typeface="Arial"/>
              </a:rPr>
              <a:t>Khởi động môi trường local đơn giản để học/thử nghiệm, tự thiết lập các thành phần cần thiết.</a:t>
            </a:r>
            <a:endParaRPr lang="en-US" sz="1180" b="0" u="none" strike="noStrike">
              <a:solidFill>
                <a:srgbClr val="000000"/>
              </a:solidFill>
              <a:effectLst/>
              <a:uFillTx/>
              <a:latin typeface="Arial"/>
            </a:endParaRPr>
          </a:p>
        </p:txBody>
      </p:sp>
      <p:sp>
        <p:nvSpPr>
          <p:cNvPr id="469" name="Shape 8"/>
          <p:cNvSpPr/>
          <p:nvPr/>
        </p:nvSpPr>
        <p:spPr>
          <a:xfrm>
            <a:off x="7589520" y="2971800"/>
            <a:ext cx="3657240" cy="1325520"/>
          </a:xfrm>
          <a:prstGeom prst="roundRect">
            <a:avLst>
              <a:gd name="adj" fmla="val 4138"/>
            </a:avLst>
          </a:prstGeom>
          <a:solidFill>
            <a:srgbClr val="FFFFFF"/>
          </a:solidFill>
          <a:ln w="15240">
            <a:solidFill>
              <a:srgbClr val="D9E2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70" name="Shape 9"/>
          <p:cNvSpPr/>
          <p:nvPr/>
        </p:nvSpPr>
        <p:spPr>
          <a:xfrm>
            <a:off x="7589520" y="2971800"/>
            <a:ext cx="72720" cy="1325520"/>
          </a:xfrm>
          <a:prstGeom prst="rect">
            <a:avLst/>
          </a:prstGeom>
          <a:solidFill>
            <a:srgbClr val="F59E0B"/>
          </a:solidFill>
          <a:ln w="12700">
            <a:solidFill>
              <a:srgbClr val="F59E0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71" name="Text 10"/>
          <p:cNvSpPr/>
          <p:nvPr/>
        </p:nvSpPr>
        <p:spPr>
          <a:xfrm>
            <a:off x="7772400" y="3117960"/>
            <a:ext cx="33645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6324F"/>
                </a:solidFill>
                <a:effectLst/>
                <a:uFillTx/>
                <a:latin typeface="Arial"/>
              </a:rPr>
              <a:t>Production</a:t>
            </a:r>
            <a:endParaRPr lang="en-US" sz="1600" b="0" u="none" strike="noStrike">
              <a:solidFill>
                <a:srgbClr val="000000"/>
              </a:solidFill>
              <a:effectLst/>
              <a:uFillTx/>
              <a:latin typeface="Arial"/>
            </a:endParaRPr>
          </a:p>
        </p:txBody>
      </p:sp>
      <p:sp>
        <p:nvSpPr>
          <p:cNvPr id="472" name="Text 11"/>
          <p:cNvSpPr/>
          <p:nvPr/>
        </p:nvSpPr>
        <p:spPr>
          <a:xfrm>
            <a:off x="7772400" y="3502080"/>
            <a:ext cx="3346200" cy="667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180" b="0" u="none" strike="noStrike">
                <a:solidFill>
                  <a:srgbClr val="1F2937"/>
                </a:solidFill>
                <a:effectLst/>
                <a:uFillTx/>
                <a:latin typeface="Arial"/>
              </a:rPr>
              <a:t>Không nên dùng SQLite/standalone cho hệ thống production; cần DB phù hợp và deployment/executor tương ứng.</a:t>
            </a:r>
            <a:endParaRPr lang="en-US" sz="1180" b="0" u="none" strike="noStrike">
              <a:solidFill>
                <a:srgbClr val="000000"/>
              </a:solidFill>
              <a:effectLst/>
              <a:uFillTx/>
              <a:latin typeface="Arial"/>
            </a:endParaRPr>
          </a:p>
        </p:txBody>
      </p:sp>
      <p:sp>
        <p:nvSpPr>
          <p:cNvPr id="473" name="Shape 12"/>
          <p:cNvSpPr/>
          <p:nvPr/>
        </p:nvSpPr>
        <p:spPr>
          <a:xfrm>
            <a:off x="7589520" y="4526280"/>
            <a:ext cx="3657240" cy="1051200"/>
          </a:xfrm>
          <a:prstGeom prst="roundRect">
            <a:avLst>
              <a:gd name="adj" fmla="val 5217"/>
            </a:avLst>
          </a:prstGeom>
          <a:solidFill>
            <a:srgbClr val="FFFFFF"/>
          </a:solidFill>
          <a:ln w="15240">
            <a:solidFill>
              <a:srgbClr val="D9E2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74" name="Shape 13"/>
          <p:cNvSpPr/>
          <p:nvPr/>
        </p:nvSpPr>
        <p:spPr>
          <a:xfrm>
            <a:off x="7589520" y="4526280"/>
            <a:ext cx="72720" cy="1051200"/>
          </a:xfrm>
          <a:prstGeom prst="rect">
            <a:avLst/>
          </a:prstGeom>
          <a:solidFill>
            <a:srgbClr val="2E7D32"/>
          </a:solidFill>
          <a:ln w="12700">
            <a:solidFill>
              <a:srgbClr val="2E7D3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75" name="Text 14"/>
          <p:cNvSpPr/>
          <p:nvPr/>
        </p:nvSpPr>
        <p:spPr>
          <a:xfrm>
            <a:off x="7772400" y="4672440"/>
            <a:ext cx="33645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6324F"/>
                </a:solidFill>
                <a:effectLst/>
                <a:uFillTx/>
                <a:latin typeface="Arial"/>
              </a:rPr>
              <a:t>Gợi ý lab</a:t>
            </a:r>
            <a:endParaRPr lang="en-US" sz="1600" b="0" u="none" strike="noStrike">
              <a:solidFill>
                <a:srgbClr val="000000"/>
              </a:solidFill>
              <a:effectLst/>
              <a:uFillTx/>
              <a:latin typeface="Arial"/>
            </a:endParaRPr>
          </a:p>
        </p:txBody>
      </p:sp>
      <p:sp>
        <p:nvSpPr>
          <p:cNvPr id="476" name="Text 15"/>
          <p:cNvSpPr/>
          <p:nvPr/>
        </p:nvSpPr>
        <p:spPr>
          <a:xfrm>
            <a:off x="7772400" y="5056560"/>
            <a:ext cx="3346200" cy="3927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150" b="0" u="none" strike="noStrike">
                <a:solidFill>
                  <a:srgbClr val="1F2937"/>
                </a:solidFill>
                <a:effectLst/>
                <a:uFillTx/>
                <a:latin typeface="Arial"/>
              </a:rPr>
              <a:t>Sinh viên chỉ cần standalone hoặc Docker Compose để tập DAG, log, schedule, retry.</a:t>
            </a:r>
            <a:endParaRPr lang="en-US" sz="1150" b="0" u="none" strike="noStrike">
              <a:solidFill>
                <a:srgbClr val="000000"/>
              </a:solidFill>
              <a:effectLst/>
              <a:uFillTx/>
              <a:latin typeface="Arial"/>
            </a:endParaRPr>
          </a:p>
        </p:txBody>
      </p:sp>
      <p:sp>
        <p:nvSpPr>
          <p:cNvPr id="477" name="Text 16"/>
          <p:cNvSpPr/>
          <p:nvPr/>
        </p:nvSpPr>
        <p:spPr>
          <a:xfrm>
            <a:off x="585360" y="6364080"/>
            <a:ext cx="80463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i="1" u="none" strike="noStrike">
                <a:solidFill>
                  <a:srgbClr val="8793A1"/>
                </a:solidFill>
                <a:effectLst/>
                <a:uFillTx/>
                <a:latin typeface="Arial"/>
              </a:rPr>
              <a:t>Nguồn cập nhật: Apache Airflow 3.3.2 Quick Start &amp; Installation (official).</a:t>
            </a:r>
            <a:endParaRPr lang="en-US" sz="720" b="0" u="none" strike="noStrike">
              <a:solidFill>
                <a:srgbClr val="000000"/>
              </a:solidFill>
              <a:effectLst/>
              <a:uFillTx/>
              <a:latin typeface="Arial"/>
            </a:endParaRPr>
          </a:p>
        </p:txBody>
      </p:sp>
      <p:sp>
        <p:nvSpPr>
          <p:cNvPr id="478" name="PlaceHolder 1"/>
          <p:cNvSpPr>
            <a:spLocks noGrp="1"/>
          </p:cNvSpPr>
          <p:nvPr>
            <p:ph type="sldNum" idx="19"/>
          </p:nvPr>
        </p:nvSpPr>
        <p:spPr>
          <a:xfrm>
            <a:off x="11631240" y="6510600"/>
            <a:ext cx="255600" cy="200880"/>
          </a:xfrm>
          <a:prstGeom prst="rect">
            <a:avLst/>
          </a:prstGeom>
          <a:noFill/>
          <a:ln w="0">
            <a:noFill/>
          </a:ln>
        </p:spPr>
        <p:txBody>
          <a:bodyPr lIns="90000" tIns="45000" rIns="90000" bIns="45000" anchor="t">
            <a:noAutofit/>
          </a:bodyPr>
          <a:lstStyle>
            <a:lvl1pPr indent="0" algn="r" defTabSz="914400">
              <a:lnSpc>
                <a:spcPct val="100000"/>
              </a:lnSpc>
              <a:buNone/>
              <a:defRPr lang="en-US" sz="800" b="0" u="none" strike="noStrike">
                <a:solidFill>
                  <a:srgbClr val="7A8797"/>
                </a:solidFill>
                <a:effectLst/>
                <a:uFillTx/>
                <a:latin typeface="Arial"/>
                <a:ea typeface="Arial"/>
              </a:defRPr>
            </a:lvl1pPr>
          </a:lstStyle>
          <a:p>
            <a:pPr indent="0" algn="r" defTabSz="914400">
              <a:lnSpc>
                <a:spcPct val="100000"/>
              </a:lnSpc>
              <a:buNone/>
            </a:pPr>
            <a:fld id="{EA57BC96-FE55-465D-AF9E-3BFF2B99A35C}" type="slidenum">
              <a:rPr lang="en-US" sz="800" b="0" u="none" strike="noStrike">
                <a:solidFill>
                  <a:srgbClr val="7A8797"/>
                </a:solidFill>
                <a:effectLst/>
                <a:uFillTx/>
                <a:latin typeface="Arial"/>
                <a:ea typeface="Arial"/>
              </a:rPr>
              <a:t>15</a:t>
            </a:fld>
            <a:endParaRPr lang="en-US" sz="800" b="0" u="none" strike="noStrike">
              <a:solidFill>
                <a:srgbClr val="000000"/>
              </a:solidFill>
              <a:effectLst/>
              <a:uFillTx/>
              <a:latin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 name="Text 0"/>
          <p:cNvSpPr/>
          <p:nvPr/>
        </p:nvSpPr>
        <p:spPr>
          <a:xfrm>
            <a:off x="548640" y="329040"/>
            <a:ext cx="1106388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700" b="1" u="none" strike="noStrike">
                <a:solidFill>
                  <a:srgbClr val="16324F"/>
                </a:solidFill>
                <a:effectLst/>
                <a:uFillTx/>
                <a:latin typeface="Arial"/>
                <a:ea typeface="Arial"/>
              </a:rPr>
              <a:t>15. Viết DAG Airflow bằng TaskFlow API</a:t>
            </a:r>
            <a:endParaRPr lang="en-US" sz="2700" b="0" u="none" strike="noStrike">
              <a:solidFill>
                <a:srgbClr val="000000"/>
              </a:solidFill>
              <a:effectLst/>
              <a:uFillTx/>
              <a:latin typeface="Arial"/>
            </a:endParaRPr>
          </a:p>
        </p:txBody>
      </p:sp>
      <p:sp>
        <p:nvSpPr>
          <p:cNvPr id="480" name="Text 1"/>
          <p:cNvSpPr/>
          <p:nvPr/>
        </p:nvSpPr>
        <p:spPr>
          <a:xfrm>
            <a:off x="567000" y="841320"/>
            <a:ext cx="109724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0" u="none" strike="noStrike">
                <a:solidFill>
                  <a:srgbClr val="5F6B7A"/>
                </a:solidFill>
                <a:effectLst/>
                <a:uFillTx/>
                <a:latin typeface="Arial"/>
                <a:ea typeface="Arial"/>
              </a:rPr>
              <a:t>TaskFlow giúp code Python tự nhiên hơn và thể hiện dependency qua lời gọi hàm.</a:t>
            </a:r>
            <a:endParaRPr lang="en-US" sz="1250" b="0" u="none" strike="noStrike">
              <a:solidFill>
                <a:srgbClr val="000000"/>
              </a:solidFill>
              <a:effectLst/>
              <a:uFillTx/>
              <a:latin typeface="Arial"/>
            </a:endParaRPr>
          </a:p>
        </p:txBody>
      </p:sp>
      <p:sp>
        <p:nvSpPr>
          <p:cNvPr id="481" name="Shape 2"/>
          <p:cNvSpPr/>
          <p:nvPr/>
        </p:nvSpPr>
        <p:spPr>
          <a:xfrm>
            <a:off x="658440" y="1325880"/>
            <a:ext cx="6400440" cy="4800240"/>
          </a:xfrm>
          <a:prstGeom prst="roundRect">
            <a:avLst>
              <a:gd name="adj" fmla="val 762"/>
            </a:avLst>
          </a:prstGeom>
          <a:solidFill>
            <a:srgbClr val="101827"/>
          </a:solidFill>
          <a:ln w="12700">
            <a:solidFill>
              <a:srgbClr val="10182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82" name="Text 3"/>
          <p:cNvSpPr/>
          <p:nvPr/>
        </p:nvSpPr>
        <p:spPr>
          <a:xfrm>
            <a:off x="822960" y="1472040"/>
            <a:ext cx="6071400" cy="4544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tabLst>
                <a:tab pos="0" algn="l"/>
              </a:tabLst>
            </a:pPr>
            <a:r>
              <a:rPr lang="en-US" sz="1020" b="0" u="none" strike="noStrike">
                <a:solidFill>
                  <a:srgbClr val="E6EDF3"/>
                </a:solidFill>
                <a:effectLst/>
                <a:uFillTx/>
                <a:latin typeface="Courier New"/>
                <a:ea typeface="Courier New"/>
              </a:rPr>
              <a:t>from datetime import datetime</a:t>
            </a:r>
            <a:endParaRPr lang="en-US" sz="1020" b="0" u="none" strike="noStrike">
              <a:solidFill>
                <a:srgbClr val="000000"/>
              </a:solidFill>
              <a:effectLst/>
              <a:uFillTx/>
              <a:latin typeface="Arial"/>
            </a:endParaRPr>
          </a:p>
          <a:p>
            <a:pPr defTabSz="914400">
              <a:lnSpc>
                <a:spcPct val="100000"/>
              </a:lnSpc>
              <a:tabLst>
                <a:tab pos="0" algn="l"/>
              </a:tabLst>
            </a:pPr>
            <a:r>
              <a:rPr lang="en-US" sz="1020" b="0" u="none" strike="noStrike">
                <a:solidFill>
                  <a:srgbClr val="E6EDF3"/>
                </a:solidFill>
                <a:effectLst/>
                <a:uFillTx/>
                <a:latin typeface="Courier New"/>
                <a:ea typeface="Courier New"/>
              </a:rPr>
              <a:t>from airflow.sdk import dag, task</a:t>
            </a:r>
            <a:endParaRPr lang="en-US" sz="1020" b="0" u="none" strike="noStrike">
              <a:solidFill>
                <a:srgbClr val="000000"/>
              </a:solidFill>
              <a:effectLst/>
              <a:uFillTx/>
              <a:latin typeface="Arial"/>
            </a:endParaRPr>
          </a:p>
          <a:p>
            <a:pPr defTabSz="914400">
              <a:lnSpc>
                <a:spcPct val="100000"/>
              </a:lnSpc>
              <a:tabLst>
                <a:tab pos="0" algn="l"/>
              </a:tabLst>
            </a:pPr>
            <a:endParaRPr lang="en-US" sz="1020" b="0" u="none" strike="noStrike">
              <a:solidFill>
                <a:srgbClr val="000000"/>
              </a:solidFill>
              <a:effectLst/>
              <a:uFillTx/>
              <a:latin typeface="Arial"/>
            </a:endParaRPr>
          </a:p>
          <a:p>
            <a:pPr defTabSz="914400">
              <a:lnSpc>
                <a:spcPct val="100000"/>
              </a:lnSpc>
              <a:tabLst>
                <a:tab pos="0" algn="l"/>
              </a:tabLst>
            </a:pPr>
            <a:r>
              <a:rPr lang="en-US" sz="1020" b="0" u="none" strike="noStrike">
                <a:solidFill>
                  <a:srgbClr val="E6EDF3"/>
                </a:solidFill>
                <a:effectLst/>
                <a:uFillTx/>
                <a:latin typeface="Courier New"/>
                <a:ea typeface="Courier New"/>
              </a:rPr>
              <a:t>@dag(</a:t>
            </a:r>
            <a:endParaRPr lang="en-US" sz="1020" b="0" u="none" strike="noStrike">
              <a:solidFill>
                <a:srgbClr val="000000"/>
              </a:solidFill>
              <a:effectLst/>
              <a:uFillTx/>
              <a:latin typeface="Arial"/>
            </a:endParaRPr>
          </a:p>
          <a:p>
            <a:pPr defTabSz="914400">
              <a:lnSpc>
                <a:spcPct val="100000"/>
              </a:lnSpc>
              <a:tabLst>
                <a:tab pos="0" algn="l"/>
              </a:tabLst>
            </a:pPr>
            <a:r>
              <a:rPr lang="en-US" sz="1020" b="0" u="none" strike="noStrike">
                <a:solidFill>
                  <a:srgbClr val="E6EDF3"/>
                </a:solidFill>
                <a:effectLst/>
                <a:uFillTx/>
                <a:latin typeface="Courier New"/>
                <a:ea typeface="Courier New"/>
              </a:rPr>
              <a:t>    schedule="0 12 * * *",</a:t>
            </a:r>
            <a:endParaRPr lang="en-US" sz="1020" b="0" u="none" strike="noStrike">
              <a:solidFill>
                <a:srgbClr val="000000"/>
              </a:solidFill>
              <a:effectLst/>
              <a:uFillTx/>
              <a:latin typeface="Arial"/>
            </a:endParaRPr>
          </a:p>
          <a:p>
            <a:pPr defTabSz="914400">
              <a:lnSpc>
                <a:spcPct val="100000"/>
              </a:lnSpc>
              <a:tabLst>
                <a:tab pos="0" algn="l"/>
              </a:tabLst>
            </a:pPr>
            <a:r>
              <a:rPr lang="en-US" sz="1020" b="0" u="none" strike="noStrike">
                <a:solidFill>
                  <a:srgbClr val="E6EDF3"/>
                </a:solidFill>
                <a:effectLst/>
                <a:uFillTx/>
                <a:latin typeface="Courier New"/>
                <a:ea typeface="Courier New"/>
              </a:rPr>
              <a:t>    start_date=datetime(2026, 1, 1),</a:t>
            </a:r>
            <a:endParaRPr lang="en-US" sz="1020" b="0" u="none" strike="noStrike">
              <a:solidFill>
                <a:srgbClr val="000000"/>
              </a:solidFill>
              <a:effectLst/>
              <a:uFillTx/>
              <a:latin typeface="Arial"/>
            </a:endParaRPr>
          </a:p>
          <a:p>
            <a:pPr defTabSz="914400">
              <a:lnSpc>
                <a:spcPct val="100000"/>
              </a:lnSpc>
              <a:tabLst>
                <a:tab pos="0" algn="l"/>
              </a:tabLst>
            </a:pPr>
            <a:r>
              <a:rPr lang="en-US" sz="1020" b="0" u="none" strike="noStrike">
                <a:solidFill>
                  <a:srgbClr val="E6EDF3"/>
                </a:solidFill>
                <a:effectLst/>
                <a:uFillTx/>
                <a:latin typeface="Courier New"/>
                <a:ea typeface="Courier New"/>
              </a:rPr>
              <a:t>    catchup=False,</a:t>
            </a:r>
            <a:endParaRPr lang="en-US" sz="1020" b="0" u="none" strike="noStrike">
              <a:solidFill>
                <a:srgbClr val="000000"/>
              </a:solidFill>
              <a:effectLst/>
              <a:uFillTx/>
              <a:latin typeface="Arial"/>
            </a:endParaRPr>
          </a:p>
          <a:p>
            <a:pPr defTabSz="914400">
              <a:lnSpc>
                <a:spcPct val="100000"/>
              </a:lnSpc>
              <a:tabLst>
                <a:tab pos="0" algn="l"/>
              </a:tabLst>
            </a:pPr>
            <a:r>
              <a:rPr lang="en-US" sz="1020" b="0" u="none" strike="noStrike">
                <a:solidFill>
                  <a:srgbClr val="E6EDF3"/>
                </a:solidFill>
                <a:effectLst/>
                <a:uFillTx/>
                <a:latin typeface="Courier New"/>
                <a:ea typeface="Courier New"/>
              </a:rPr>
              <a:t>    tags=["lecture4"],</a:t>
            </a:r>
            <a:endParaRPr lang="en-US" sz="1020" b="0" u="none" strike="noStrike">
              <a:solidFill>
                <a:srgbClr val="000000"/>
              </a:solidFill>
              <a:effectLst/>
              <a:uFillTx/>
              <a:latin typeface="Arial"/>
            </a:endParaRPr>
          </a:p>
          <a:p>
            <a:pPr defTabSz="914400">
              <a:lnSpc>
                <a:spcPct val="100000"/>
              </a:lnSpc>
              <a:tabLst>
                <a:tab pos="0" algn="l"/>
              </a:tabLst>
            </a:pPr>
            <a:r>
              <a:rPr lang="en-US" sz="1020" b="0" u="none" strike="noStrike">
                <a:solidFill>
                  <a:srgbClr val="E6EDF3"/>
                </a:solidFill>
                <a:effectLst/>
                <a:uFillTx/>
                <a:latin typeface="Courier New"/>
                <a:ea typeface="Courier New"/>
              </a:rPr>
              <a:t>)</a:t>
            </a:r>
            <a:endParaRPr lang="en-US" sz="1020" b="0" u="none" strike="noStrike">
              <a:solidFill>
                <a:srgbClr val="000000"/>
              </a:solidFill>
              <a:effectLst/>
              <a:uFillTx/>
              <a:latin typeface="Arial"/>
            </a:endParaRPr>
          </a:p>
          <a:p>
            <a:pPr defTabSz="914400">
              <a:lnSpc>
                <a:spcPct val="100000"/>
              </a:lnSpc>
              <a:tabLst>
                <a:tab pos="0" algn="l"/>
              </a:tabLst>
            </a:pPr>
            <a:r>
              <a:rPr lang="en-US" sz="1020" b="0" u="none" strike="noStrike">
                <a:solidFill>
                  <a:srgbClr val="E6EDF3"/>
                </a:solidFill>
                <a:effectLst/>
                <a:uFillTx/>
                <a:latin typeface="Courier New"/>
                <a:ea typeface="Courier New"/>
              </a:rPr>
              <a:t>def hello_pipeline():</a:t>
            </a:r>
            <a:endParaRPr lang="en-US" sz="1020" b="0" u="none" strike="noStrike">
              <a:solidFill>
                <a:srgbClr val="000000"/>
              </a:solidFill>
              <a:effectLst/>
              <a:uFillTx/>
              <a:latin typeface="Arial"/>
            </a:endParaRPr>
          </a:p>
          <a:p>
            <a:pPr defTabSz="914400">
              <a:lnSpc>
                <a:spcPct val="100000"/>
              </a:lnSpc>
              <a:tabLst>
                <a:tab pos="0" algn="l"/>
              </a:tabLst>
            </a:pPr>
            <a:endParaRPr lang="en-US" sz="1020" b="0" u="none" strike="noStrike">
              <a:solidFill>
                <a:srgbClr val="000000"/>
              </a:solidFill>
              <a:effectLst/>
              <a:uFillTx/>
              <a:latin typeface="Arial"/>
            </a:endParaRPr>
          </a:p>
          <a:p>
            <a:pPr defTabSz="914400">
              <a:lnSpc>
                <a:spcPct val="100000"/>
              </a:lnSpc>
              <a:tabLst>
                <a:tab pos="0" algn="l"/>
              </a:tabLst>
            </a:pPr>
            <a:r>
              <a:rPr lang="en-US" sz="1020" b="0" u="none" strike="noStrike">
                <a:solidFill>
                  <a:srgbClr val="E6EDF3"/>
                </a:solidFill>
                <a:effectLst/>
                <a:uFillTx/>
                <a:latin typeface="Courier New"/>
                <a:ea typeface="Courier New"/>
              </a:rPr>
              <a:t>    @task</a:t>
            </a:r>
            <a:endParaRPr lang="en-US" sz="1020" b="0" u="none" strike="noStrike">
              <a:solidFill>
                <a:srgbClr val="000000"/>
              </a:solidFill>
              <a:effectLst/>
              <a:uFillTx/>
              <a:latin typeface="Arial"/>
            </a:endParaRPr>
          </a:p>
          <a:p>
            <a:pPr defTabSz="914400">
              <a:lnSpc>
                <a:spcPct val="100000"/>
              </a:lnSpc>
              <a:tabLst>
                <a:tab pos="0" algn="l"/>
              </a:tabLst>
            </a:pPr>
            <a:r>
              <a:rPr lang="en-US" sz="1020" b="0" u="none" strike="noStrike">
                <a:solidFill>
                  <a:srgbClr val="E6EDF3"/>
                </a:solidFill>
                <a:effectLst/>
                <a:uFillTx/>
                <a:latin typeface="Courier New"/>
                <a:ea typeface="Courier New"/>
              </a:rPr>
              <a:t>    def extract():</a:t>
            </a:r>
            <a:endParaRPr lang="en-US" sz="1020" b="0" u="none" strike="noStrike">
              <a:solidFill>
                <a:srgbClr val="000000"/>
              </a:solidFill>
              <a:effectLst/>
              <a:uFillTx/>
              <a:latin typeface="Arial"/>
            </a:endParaRPr>
          </a:p>
          <a:p>
            <a:pPr defTabSz="914400">
              <a:lnSpc>
                <a:spcPct val="100000"/>
              </a:lnSpc>
              <a:tabLst>
                <a:tab pos="0" algn="l"/>
              </a:tabLst>
            </a:pPr>
            <a:r>
              <a:rPr lang="en-US" sz="1020" b="0" u="none" strike="noStrike">
                <a:solidFill>
                  <a:srgbClr val="E6EDF3"/>
                </a:solidFill>
                <a:effectLst/>
                <a:uFillTx/>
                <a:latin typeface="Courier New"/>
                <a:ea typeface="Courier New"/>
              </a:rPr>
              <a:t>        return {"rows": 1200}</a:t>
            </a:r>
            <a:endParaRPr lang="en-US" sz="1020" b="0" u="none" strike="noStrike">
              <a:solidFill>
                <a:srgbClr val="000000"/>
              </a:solidFill>
              <a:effectLst/>
              <a:uFillTx/>
              <a:latin typeface="Arial"/>
            </a:endParaRPr>
          </a:p>
          <a:p>
            <a:pPr defTabSz="914400">
              <a:lnSpc>
                <a:spcPct val="100000"/>
              </a:lnSpc>
              <a:tabLst>
                <a:tab pos="0" algn="l"/>
              </a:tabLst>
            </a:pPr>
            <a:endParaRPr lang="en-US" sz="1020" b="0" u="none" strike="noStrike">
              <a:solidFill>
                <a:srgbClr val="000000"/>
              </a:solidFill>
              <a:effectLst/>
              <a:uFillTx/>
              <a:latin typeface="Arial"/>
            </a:endParaRPr>
          </a:p>
          <a:p>
            <a:pPr defTabSz="914400">
              <a:lnSpc>
                <a:spcPct val="100000"/>
              </a:lnSpc>
              <a:tabLst>
                <a:tab pos="0" algn="l"/>
              </a:tabLst>
            </a:pPr>
            <a:r>
              <a:rPr lang="en-US" sz="1020" b="0" u="none" strike="noStrike">
                <a:solidFill>
                  <a:srgbClr val="E6EDF3"/>
                </a:solidFill>
                <a:effectLst/>
                <a:uFillTx/>
                <a:latin typeface="Courier New"/>
                <a:ea typeface="Courier New"/>
              </a:rPr>
              <a:t>    @task</a:t>
            </a:r>
            <a:endParaRPr lang="en-US" sz="1020" b="0" u="none" strike="noStrike">
              <a:solidFill>
                <a:srgbClr val="000000"/>
              </a:solidFill>
              <a:effectLst/>
              <a:uFillTx/>
              <a:latin typeface="Arial"/>
            </a:endParaRPr>
          </a:p>
          <a:p>
            <a:pPr defTabSz="914400">
              <a:lnSpc>
                <a:spcPct val="100000"/>
              </a:lnSpc>
              <a:tabLst>
                <a:tab pos="0" algn="l"/>
              </a:tabLst>
            </a:pPr>
            <a:r>
              <a:rPr lang="en-US" sz="1020" b="0" u="none" strike="noStrike">
                <a:solidFill>
                  <a:srgbClr val="E6EDF3"/>
                </a:solidFill>
                <a:effectLst/>
                <a:uFillTx/>
                <a:latin typeface="Courier New"/>
                <a:ea typeface="Courier New"/>
              </a:rPr>
              <a:t>    def report(data):</a:t>
            </a:r>
            <a:endParaRPr lang="en-US" sz="1020" b="0" u="none" strike="noStrike">
              <a:solidFill>
                <a:srgbClr val="000000"/>
              </a:solidFill>
              <a:effectLst/>
              <a:uFillTx/>
              <a:latin typeface="Arial"/>
            </a:endParaRPr>
          </a:p>
          <a:p>
            <a:pPr defTabSz="914400">
              <a:lnSpc>
                <a:spcPct val="100000"/>
              </a:lnSpc>
              <a:tabLst>
                <a:tab pos="0" algn="l"/>
              </a:tabLst>
            </a:pPr>
            <a:r>
              <a:rPr lang="en-US" sz="1020" b="0" u="none" strike="noStrike">
                <a:solidFill>
                  <a:srgbClr val="E6EDF3"/>
                </a:solidFill>
                <a:effectLst/>
                <a:uFillTx/>
                <a:latin typeface="Courier New"/>
                <a:ea typeface="Courier New"/>
              </a:rPr>
              <a:t>        print(f"Loaded {data['rows']} rows")</a:t>
            </a:r>
            <a:endParaRPr lang="en-US" sz="1020" b="0" u="none" strike="noStrike">
              <a:solidFill>
                <a:srgbClr val="000000"/>
              </a:solidFill>
              <a:effectLst/>
              <a:uFillTx/>
              <a:latin typeface="Arial"/>
            </a:endParaRPr>
          </a:p>
          <a:p>
            <a:pPr defTabSz="914400">
              <a:lnSpc>
                <a:spcPct val="100000"/>
              </a:lnSpc>
              <a:tabLst>
                <a:tab pos="0" algn="l"/>
              </a:tabLst>
            </a:pPr>
            <a:endParaRPr lang="en-US" sz="1020" b="0" u="none" strike="noStrike">
              <a:solidFill>
                <a:srgbClr val="000000"/>
              </a:solidFill>
              <a:effectLst/>
              <a:uFillTx/>
              <a:latin typeface="Arial"/>
            </a:endParaRPr>
          </a:p>
          <a:p>
            <a:pPr defTabSz="914400">
              <a:lnSpc>
                <a:spcPct val="100000"/>
              </a:lnSpc>
              <a:tabLst>
                <a:tab pos="0" algn="l"/>
              </a:tabLst>
            </a:pPr>
            <a:r>
              <a:rPr lang="en-US" sz="1020" b="0" u="none" strike="noStrike">
                <a:solidFill>
                  <a:srgbClr val="E6EDF3"/>
                </a:solidFill>
                <a:effectLst/>
                <a:uFillTx/>
                <a:latin typeface="Courier New"/>
                <a:ea typeface="Courier New"/>
              </a:rPr>
              <a:t>    report(extract())</a:t>
            </a:r>
            <a:endParaRPr lang="en-US" sz="1020" b="0" u="none" strike="noStrike">
              <a:solidFill>
                <a:srgbClr val="000000"/>
              </a:solidFill>
              <a:effectLst/>
              <a:uFillTx/>
              <a:latin typeface="Arial"/>
            </a:endParaRPr>
          </a:p>
          <a:p>
            <a:pPr defTabSz="914400">
              <a:lnSpc>
                <a:spcPct val="100000"/>
              </a:lnSpc>
              <a:tabLst>
                <a:tab pos="0" algn="l"/>
              </a:tabLst>
            </a:pPr>
            <a:endParaRPr lang="en-US" sz="1020" b="0" u="none" strike="noStrike">
              <a:solidFill>
                <a:srgbClr val="000000"/>
              </a:solidFill>
              <a:effectLst/>
              <a:uFillTx/>
              <a:latin typeface="Arial"/>
            </a:endParaRPr>
          </a:p>
          <a:p>
            <a:pPr defTabSz="914400">
              <a:lnSpc>
                <a:spcPct val="100000"/>
              </a:lnSpc>
              <a:tabLst>
                <a:tab pos="0" algn="l"/>
              </a:tabLst>
            </a:pPr>
            <a:r>
              <a:rPr lang="en-US" sz="1020" b="0" u="none" strike="noStrike">
                <a:solidFill>
                  <a:srgbClr val="E6EDF3"/>
                </a:solidFill>
                <a:effectLst/>
                <a:uFillTx/>
                <a:latin typeface="Courier New"/>
                <a:ea typeface="Courier New"/>
              </a:rPr>
              <a:t>hello_pipeline()</a:t>
            </a:r>
            <a:endParaRPr lang="en-US" sz="1020" b="0" u="none" strike="noStrike">
              <a:solidFill>
                <a:srgbClr val="000000"/>
              </a:solidFill>
              <a:effectLst/>
              <a:uFillTx/>
              <a:latin typeface="Arial"/>
            </a:endParaRPr>
          </a:p>
        </p:txBody>
      </p:sp>
      <p:sp>
        <p:nvSpPr>
          <p:cNvPr id="483" name="Shape 4"/>
          <p:cNvSpPr/>
          <p:nvPr/>
        </p:nvSpPr>
        <p:spPr>
          <a:xfrm>
            <a:off x="7360920" y="1417320"/>
            <a:ext cx="3840120" cy="1142640"/>
          </a:xfrm>
          <a:prstGeom prst="roundRect">
            <a:avLst>
              <a:gd name="adj" fmla="val 4800"/>
            </a:avLst>
          </a:prstGeom>
          <a:solidFill>
            <a:srgbClr val="FFFFFF"/>
          </a:solidFill>
          <a:ln w="15240">
            <a:solidFill>
              <a:srgbClr val="D9E2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84" name="Shape 5"/>
          <p:cNvSpPr/>
          <p:nvPr/>
        </p:nvSpPr>
        <p:spPr>
          <a:xfrm>
            <a:off x="7360920" y="1417320"/>
            <a:ext cx="72720" cy="1142640"/>
          </a:xfrm>
          <a:prstGeom prst="rect">
            <a:avLst/>
          </a:prstGeom>
          <a:solidFill>
            <a:srgbClr val="1E88E5"/>
          </a:solidFill>
          <a:ln w="12700">
            <a:solidFill>
              <a:srgbClr val="1E88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85" name="Text 6"/>
          <p:cNvSpPr/>
          <p:nvPr/>
        </p:nvSpPr>
        <p:spPr>
          <a:xfrm>
            <a:off x="7543800" y="1563480"/>
            <a:ext cx="35474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6324F"/>
                </a:solidFill>
                <a:effectLst/>
                <a:uFillTx/>
                <a:latin typeface="Arial"/>
              </a:rPr>
              <a:t>@dag</a:t>
            </a:r>
            <a:endParaRPr lang="en-US" sz="1600" b="0" u="none" strike="noStrike">
              <a:solidFill>
                <a:srgbClr val="000000"/>
              </a:solidFill>
              <a:effectLst/>
              <a:uFillTx/>
              <a:latin typeface="Arial"/>
            </a:endParaRPr>
          </a:p>
        </p:txBody>
      </p:sp>
      <p:sp>
        <p:nvSpPr>
          <p:cNvPr id="486" name="Text 7"/>
          <p:cNvSpPr/>
          <p:nvPr/>
        </p:nvSpPr>
        <p:spPr>
          <a:xfrm>
            <a:off x="7543800" y="1947600"/>
            <a:ext cx="3529080" cy="4842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150" b="0" u="none" strike="noStrike">
                <a:solidFill>
                  <a:srgbClr val="1F2937"/>
                </a:solidFill>
                <a:effectLst/>
                <a:uFillTx/>
                <a:latin typeface="Arial"/>
              </a:rPr>
              <a:t>Biến hàm Python thành định nghĩa DAG; schedule xác định lịch chạy.</a:t>
            </a:r>
            <a:endParaRPr lang="en-US" sz="1150" b="0" u="none" strike="noStrike">
              <a:solidFill>
                <a:srgbClr val="000000"/>
              </a:solidFill>
              <a:effectLst/>
              <a:uFillTx/>
              <a:latin typeface="Arial"/>
            </a:endParaRPr>
          </a:p>
        </p:txBody>
      </p:sp>
      <p:sp>
        <p:nvSpPr>
          <p:cNvPr id="487" name="Shape 8"/>
          <p:cNvSpPr/>
          <p:nvPr/>
        </p:nvSpPr>
        <p:spPr>
          <a:xfrm>
            <a:off x="7360920" y="2788920"/>
            <a:ext cx="3840120" cy="1142640"/>
          </a:xfrm>
          <a:prstGeom prst="roundRect">
            <a:avLst>
              <a:gd name="adj" fmla="val 4800"/>
            </a:avLst>
          </a:prstGeom>
          <a:solidFill>
            <a:srgbClr val="FFFFFF"/>
          </a:solidFill>
          <a:ln w="15240">
            <a:solidFill>
              <a:srgbClr val="D9E2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88" name="Shape 9"/>
          <p:cNvSpPr/>
          <p:nvPr/>
        </p:nvSpPr>
        <p:spPr>
          <a:xfrm>
            <a:off x="7360920" y="2788920"/>
            <a:ext cx="72720" cy="1142640"/>
          </a:xfrm>
          <a:prstGeom prst="rect">
            <a:avLst/>
          </a:prstGeom>
          <a:solidFill>
            <a:srgbClr val="00A6A6"/>
          </a:solidFill>
          <a:ln w="12700">
            <a:solidFill>
              <a:srgbClr val="00A6A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89" name="Text 10"/>
          <p:cNvSpPr/>
          <p:nvPr/>
        </p:nvSpPr>
        <p:spPr>
          <a:xfrm>
            <a:off x="7543800" y="2935080"/>
            <a:ext cx="35474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6324F"/>
                </a:solidFill>
                <a:effectLst/>
                <a:uFillTx/>
                <a:latin typeface="Arial"/>
              </a:rPr>
              <a:t>@task</a:t>
            </a:r>
            <a:endParaRPr lang="en-US" sz="1600" b="0" u="none" strike="noStrike">
              <a:solidFill>
                <a:srgbClr val="000000"/>
              </a:solidFill>
              <a:effectLst/>
              <a:uFillTx/>
              <a:latin typeface="Arial"/>
            </a:endParaRPr>
          </a:p>
        </p:txBody>
      </p:sp>
      <p:sp>
        <p:nvSpPr>
          <p:cNvPr id="490" name="Text 11"/>
          <p:cNvSpPr/>
          <p:nvPr/>
        </p:nvSpPr>
        <p:spPr>
          <a:xfrm>
            <a:off x="7543800" y="3319200"/>
            <a:ext cx="3529080" cy="4842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150" b="0" u="none" strike="noStrike">
                <a:solidFill>
                  <a:srgbClr val="1F2937"/>
                </a:solidFill>
                <a:effectLst/>
                <a:uFillTx/>
                <a:latin typeface="Arial"/>
              </a:rPr>
              <a:t>Biến hàm Python thành task. Giá trị return có thể được Airflow truyền qua XCom.</a:t>
            </a:r>
            <a:endParaRPr lang="en-US" sz="1150" b="0" u="none" strike="noStrike">
              <a:solidFill>
                <a:srgbClr val="000000"/>
              </a:solidFill>
              <a:effectLst/>
              <a:uFillTx/>
              <a:latin typeface="Arial"/>
            </a:endParaRPr>
          </a:p>
        </p:txBody>
      </p:sp>
      <p:sp>
        <p:nvSpPr>
          <p:cNvPr id="491" name="Shape 12"/>
          <p:cNvSpPr/>
          <p:nvPr/>
        </p:nvSpPr>
        <p:spPr>
          <a:xfrm>
            <a:off x="7360920" y="4160520"/>
            <a:ext cx="3840120" cy="1416960"/>
          </a:xfrm>
          <a:prstGeom prst="roundRect">
            <a:avLst>
              <a:gd name="adj" fmla="val 3871"/>
            </a:avLst>
          </a:prstGeom>
          <a:solidFill>
            <a:srgbClr val="FFFFFF"/>
          </a:solidFill>
          <a:ln w="15240">
            <a:solidFill>
              <a:srgbClr val="D9E2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92" name="Shape 13"/>
          <p:cNvSpPr/>
          <p:nvPr/>
        </p:nvSpPr>
        <p:spPr>
          <a:xfrm>
            <a:off x="7360920" y="4160520"/>
            <a:ext cx="72720" cy="1416960"/>
          </a:xfrm>
          <a:prstGeom prst="rect">
            <a:avLst/>
          </a:prstGeom>
          <a:solidFill>
            <a:srgbClr val="F59E0B"/>
          </a:solidFill>
          <a:ln w="12700">
            <a:solidFill>
              <a:srgbClr val="F59E0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93" name="Text 14"/>
          <p:cNvSpPr/>
          <p:nvPr/>
        </p:nvSpPr>
        <p:spPr>
          <a:xfrm>
            <a:off x="7543800" y="4306680"/>
            <a:ext cx="35474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6324F"/>
                </a:solidFill>
                <a:effectLst/>
                <a:uFillTx/>
                <a:latin typeface="Arial"/>
              </a:rPr>
              <a:t>report(extract())</a:t>
            </a:r>
            <a:endParaRPr lang="en-US" sz="1600" b="0" u="none" strike="noStrike">
              <a:solidFill>
                <a:srgbClr val="000000"/>
              </a:solidFill>
              <a:effectLst/>
              <a:uFillTx/>
              <a:latin typeface="Arial"/>
            </a:endParaRPr>
          </a:p>
        </p:txBody>
      </p:sp>
      <p:sp>
        <p:nvSpPr>
          <p:cNvPr id="494" name="Text 15"/>
          <p:cNvSpPr/>
          <p:nvPr/>
        </p:nvSpPr>
        <p:spPr>
          <a:xfrm>
            <a:off x="7543800" y="4690800"/>
            <a:ext cx="3529080" cy="758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150" b="0" u="none" strike="noStrike">
                <a:solidFill>
                  <a:srgbClr val="1F2937"/>
                </a:solidFill>
                <a:effectLst/>
                <a:uFillTx/>
                <a:latin typeface="Arial"/>
              </a:rPr>
              <a:t>Lời gọi này vừa truyền dữ liệu vừa tạo dependency: extract phải hoàn tất trước report.</a:t>
            </a:r>
            <a:endParaRPr lang="en-US" sz="1150" b="0" u="none" strike="noStrike">
              <a:solidFill>
                <a:srgbClr val="000000"/>
              </a:solidFill>
              <a:effectLst/>
              <a:uFillTx/>
              <a:latin typeface="Arial"/>
            </a:endParaRPr>
          </a:p>
        </p:txBody>
      </p:sp>
      <p:sp>
        <p:nvSpPr>
          <p:cNvPr id="495" name="Text 16"/>
          <p:cNvSpPr/>
          <p:nvPr/>
        </p:nvSpPr>
        <p:spPr>
          <a:xfrm>
            <a:off x="585360" y="6364080"/>
            <a:ext cx="80463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i="1" u="none" strike="noStrike">
                <a:solidFill>
                  <a:srgbClr val="8793A1"/>
                </a:solidFill>
                <a:effectLst/>
                <a:uFillTx/>
                <a:latin typeface="Arial"/>
              </a:rPr>
              <a:t>Nguồn cập nhật: Apache Airflow TaskFlow tutorial (official).</a:t>
            </a:r>
            <a:endParaRPr lang="en-US" sz="720" b="0" u="none" strike="noStrike">
              <a:solidFill>
                <a:srgbClr val="000000"/>
              </a:solidFill>
              <a:effectLst/>
              <a:uFillTx/>
              <a:latin typeface="Arial"/>
            </a:endParaRPr>
          </a:p>
        </p:txBody>
      </p:sp>
      <p:sp>
        <p:nvSpPr>
          <p:cNvPr id="496" name="PlaceHolder 1"/>
          <p:cNvSpPr>
            <a:spLocks noGrp="1"/>
          </p:cNvSpPr>
          <p:nvPr>
            <p:ph type="sldNum" idx="20"/>
          </p:nvPr>
        </p:nvSpPr>
        <p:spPr>
          <a:xfrm>
            <a:off x="11631240" y="6510600"/>
            <a:ext cx="255600" cy="200880"/>
          </a:xfrm>
          <a:prstGeom prst="rect">
            <a:avLst/>
          </a:prstGeom>
          <a:noFill/>
          <a:ln w="0">
            <a:noFill/>
          </a:ln>
        </p:spPr>
        <p:txBody>
          <a:bodyPr lIns="90000" tIns="45000" rIns="90000" bIns="45000" anchor="t">
            <a:noAutofit/>
          </a:bodyPr>
          <a:lstStyle>
            <a:lvl1pPr indent="0" algn="r" defTabSz="914400">
              <a:lnSpc>
                <a:spcPct val="100000"/>
              </a:lnSpc>
              <a:buNone/>
              <a:defRPr lang="en-US" sz="800" b="0" u="none" strike="noStrike">
                <a:solidFill>
                  <a:srgbClr val="7A8797"/>
                </a:solidFill>
                <a:effectLst/>
                <a:uFillTx/>
                <a:latin typeface="Arial"/>
                <a:ea typeface="Arial"/>
              </a:defRPr>
            </a:lvl1pPr>
          </a:lstStyle>
          <a:p>
            <a:pPr indent="0" algn="r" defTabSz="914400">
              <a:lnSpc>
                <a:spcPct val="100000"/>
              </a:lnSpc>
              <a:buNone/>
            </a:pPr>
            <a:fld id="{A75CC1C3-DE71-4EE1-B4F7-E4D78C780EBD}" type="slidenum">
              <a:rPr lang="en-US" sz="800" b="0" u="none" strike="noStrike">
                <a:solidFill>
                  <a:srgbClr val="7A8797"/>
                </a:solidFill>
                <a:effectLst/>
                <a:uFillTx/>
                <a:latin typeface="Arial"/>
                <a:ea typeface="Arial"/>
              </a:rPr>
              <a:t>16</a:t>
            </a:fld>
            <a:endParaRPr lang="en-US" sz="800" b="0" u="none" strike="noStrike">
              <a:solidFill>
                <a:srgbClr val="000000"/>
              </a:solidFill>
              <a:effectLst/>
              <a:uFillTx/>
              <a:latin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 name="Text 0"/>
          <p:cNvSpPr/>
          <p:nvPr/>
        </p:nvSpPr>
        <p:spPr>
          <a:xfrm>
            <a:off x="548640" y="329040"/>
            <a:ext cx="1106388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700" b="1" u="none" strike="noStrike">
                <a:solidFill>
                  <a:srgbClr val="16324F"/>
                </a:solidFill>
                <a:effectLst/>
                <a:uFillTx/>
                <a:latin typeface="Arial"/>
                <a:ea typeface="Arial"/>
              </a:rPr>
              <a:t>16. Redis Queue (RQ) — hàng đợi job nền</a:t>
            </a:r>
            <a:endParaRPr lang="en-US" sz="2700" b="0" u="none" strike="noStrike">
              <a:solidFill>
                <a:srgbClr val="000000"/>
              </a:solidFill>
              <a:effectLst/>
              <a:uFillTx/>
              <a:latin typeface="Arial"/>
            </a:endParaRPr>
          </a:p>
        </p:txBody>
      </p:sp>
      <p:sp>
        <p:nvSpPr>
          <p:cNvPr id="498" name="Text 1"/>
          <p:cNvSpPr/>
          <p:nvPr/>
        </p:nvSpPr>
        <p:spPr>
          <a:xfrm>
            <a:off x="567000" y="841320"/>
            <a:ext cx="109724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0" u="none" strike="noStrike">
                <a:solidFill>
                  <a:srgbClr val="5F6B7A"/>
                </a:solidFill>
                <a:effectLst/>
                <a:uFillTx/>
                <a:latin typeface="Arial"/>
                <a:ea typeface="Arial"/>
              </a:rPr>
              <a:t>RQ phù hợp khi ứng dụng Python cần đẩy các tác vụ lâu sang worker chạy nền.</a:t>
            </a:r>
            <a:endParaRPr lang="en-US" sz="1250" b="0" u="none" strike="noStrike">
              <a:solidFill>
                <a:srgbClr val="000000"/>
              </a:solidFill>
              <a:effectLst/>
              <a:uFillTx/>
              <a:latin typeface="Arial"/>
            </a:endParaRPr>
          </a:p>
        </p:txBody>
      </p:sp>
      <p:sp>
        <p:nvSpPr>
          <p:cNvPr id="499" name="Shape 2"/>
          <p:cNvSpPr/>
          <p:nvPr/>
        </p:nvSpPr>
        <p:spPr>
          <a:xfrm>
            <a:off x="777240" y="1828800"/>
            <a:ext cx="1965600" cy="914040"/>
          </a:xfrm>
          <a:prstGeom prst="roundRect">
            <a:avLst>
              <a:gd name="adj" fmla="val 16667"/>
            </a:avLst>
          </a:prstGeom>
          <a:solidFill>
            <a:srgbClr val="00A6A6"/>
          </a:solidFill>
          <a:ln w="12700">
            <a:solidFill>
              <a:srgbClr val="00A6A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00" name="Text 3"/>
          <p:cNvSpPr/>
          <p:nvPr/>
        </p:nvSpPr>
        <p:spPr>
          <a:xfrm>
            <a:off x="850320" y="2139840"/>
            <a:ext cx="18194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rial"/>
              </a:rPr>
              <a:t>Web/API</a:t>
            </a:r>
            <a:endParaRPr lang="en-US" sz="1400" b="0" u="none" strike="noStrike">
              <a:solidFill>
                <a:srgbClr val="000000"/>
              </a:solidFill>
              <a:effectLst/>
              <a:uFillTx/>
              <a:latin typeface="Arial"/>
            </a:endParaRPr>
          </a:p>
        </p:txBody>
      </p:sp>
      <p:sp>
        <p:nvSpPr>
          <p:cNvPr id="501" name="Shape 4"/>
          <p:cNvSpPr/>
          <p:nvPr/>
        </p:nvSpPr>
        <p:spPr>
          <a:xfrm>
            <a:off x="2743200" y="2286000"/>
            <a:ext cx="105156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502" name="Shape 5"/>
          <p:cNvSpPr/>
          <p:nvPr/>
        </p:nvSpPr>
        <p:spPr>
          <a:xfrm>
            <a:off x="3794760" y="1828800"/>
            <a:ext cx="1965600" cy="914040"/>
          </a:xfrm>
          <a:prstGeom prst="roundRect">
            <a:avLst>
              <a:gd name="adj" fmla="val 16667"/>
            </a:avLst>
          </a:prstGeom>
          <a:solidFill>
            <a:srgbClr val="D64545"/>
          </a:solidFill>
          <a:ln w="12700">
            <a:solidFill>
              <a:srgbClr val="D6454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03" name="Text 6"/>
          <p:cNvSpPr/>
          <p:nvPr/>
        </p:nvSpPr>
        <p:spPr>
          <a:xfrm>
            <a:off x="3867840" y="2139840"/>
            <a:ext cx="18194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rial"/>
              </a:rPr>
              <a:t>Redis Queue</a:t>
            </a:r>
            <a:endParaRPr lang="en-US" sz="1400" b="0" u="none" strike="noStrike">
              <a:solidFill>
                <a:srgbClr val="000000"/>
              </a:solidFill>
              <a:effectLst/>
              <a:uFillTx/>
              <a:latin typeface="Arial"/>
            </a:endParaRPr>
          </a:p>
        </p:txBody>
      </p:sp>
      <p:sp>
        <p:nvSpPr>
          <p:cNvPr id="504" name="Shape 7"/>
          <p:cNvSpPr/>
          <p:nvPr/>
        </p:nvSpPr>
        <p:spPr>
          <a:xfrm>
            <a:off x="5760720" y="2286000"/>
            <a:ext cx="118872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505" name="Shape 8"/>
          <p:cNvSpPr/>
          <p:nvPr/>
        </p:nvSpPr>
        <p:spPr>
          <a:xfrm>
            <a:off x="6949440" y="1828800"/>
            <a:ext cx="1965600" cy="914040"/>
          </a:xfrm>
          <a:prstGeom prst="roundRect">
            <a:avLst>
              <a:gd name="adj" fmla="val 16667"/>
            </a:avLst>
          </a:prstGeom>
          <a:solidFill>
            <a:srgbClr val="1E88E5"/>
          </a:solidFill>
          <a:ln w="12700">
            <a:solidFill>
              <a:srgbClr val="1E88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06" name="Text 9"/>
          <p:cNvSpPr/>
          <p:nvPr/>
        </p:nvSpPr>
        <p:spPr>
          <a:xfrm>
            <a:off x="7022520" y="2139840"/>
            <a:ext cx="181944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rial"/>
              </a:rPr>
              <a:t>Worker(s)</a:t>
            </a:r>
            <a:endParaRPr lang="en-US" sz="1400" b="0" u="none" strike="noStrike">
              <a:solidFill>
                <a:srgbClr val="000000"/>
              </a:solidFill>
              <a:effectLst/>
              <a:uFillTx/>
              <a:latin typeface="Arial"/>
            </a:endParaRPr>
          </a:p>
        </p:txBody>
      </p:sp>
      <p:sp>
        <p:nvSpPr>
          <p:cNvPr id="507" name="Shape 10"/>
          <p:cNvSpPr/>
          <p:nvPr/>
        </p:nvSpPr>
        <p:spPr>
          <a:xfrm>
            <a:off x="8915400" y="2286000"/>
            <a:ext cx="594360" cy="360"/>
          </a:xfrm>
          <a:prstGeom prst="line">
            <a:avLst/>
          </a:prstGeom>
          <a:ln w="25400">
            <a:solidFill>
              <a:srgbClr val="94A3B8"/>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000000"/>
              </a:solidFill>
              <a:effectLst/>
              <a:uFillTx/>
              <a:latin typeface="Arial"/>
            </a:endParaRPr>
          </a:p>
        </p:txBody>
      </p:sp>
      <p:sp>
        <p:nvSpPr>
          <p:cNvPr id="508" name="Shape 11"/>
          <p:cNvSpPr/>
          <p:nvPr/>
        </p:nvSpPr>
        <p:spPr>
          <a:xfrm>
            <a:off x="9509760" y="1828800"/>
            <a:ext cx="1782720" cy="914040"/>
          </a:xfrm>
          <a:prstGeom prst="roundRect">
            <a:avLst>
              <a:gd name="adj" fmla="val 16667"/>
            </a:avLst>
          </a:prstGeom>
          <a:solidFill>
            <a:srgbClr val="2E7D32"/>
          </a:solidFill>
          <a:ln w="12700">
            <a:solidFill>
              <a:srgbClr val="2E7D3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09" name="Text 12"/>
          <p:cNvSpPr/>
          <p:nvPr/>
        </p:nvSpPr>
        <p:spPr>
          <a:xfrm>
            <a:off x="9582840" y="2139840"/>
            <a:ext cx="16365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FFFFF"/>
                </a:solidFill>
                <a:effectLst/>
                <a:uFillTx/>
                <a:latin typeface="Arial"/>
              </a:rPr>
              <a:t>Job Result</a:t>
            </a:r>
            <a:endParaRPr lang="en-US" sz="1400" b="0" u="none" strike="noStrike">
              <a:solidFill>
                <a:srgbClr val="000000"/>
              </a:solidFill>
              <a:effectLst/>
              <a:uFillTx/>
              <a:latin typeface="Arial"/>
            </a:endParaRPr>
          </a:p>
        </p:txBody>
      </p:sp>
      <p:sp>
        <p:nvSpPr>
          <p:cNvPr id="510" name="Shape 13"/>
          <p:cNvSpPr/>
          <p:nvPr/>
        </p:nvSpPr>
        <p:spPr>
          <a:xfrm>
            <a:off x="777240" y="3429000"/>
            <a:ext cx="3200040" cy="1554120"/>
          </a:xfrm>
          <a:prstGeom prst="roundRect">
            <a:avLst>
              <a:gd name="adj" fmla="val 3529"/>
            </a:avLst>
          </a:prstGeom>
          <a:solidFill>
            <a:srgbClr val="FFFFFF"/>
          </a:solidFill>
          <a:ln w="15240">
            <a:solidFill>
              <a:srgbClr val="D9E2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11" name="Shape 14"/>
          <p:cNvSpPr/>
          <p:nvPr/>
        </p:nvSpPr>
        <p:spPr>
          <a:xfrm>
            <a:off x="777240" y="3429000"/>
            <a:ext cx="72720" cy="1554120"/>
          </a:xfrm>
          <a:prstGeom prst="rect">
            <a:avLst/>
          </a:prstGeom>
          <a:solidFill>
            <a:srgbClr val="1E88E5"/>
          </a:solidFill>
          <a:ln w="12700">
            <a:solidFill>
              <a:srgbClr val="1E88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12" name="Text 15"/>
          <p:cNvSpPr/>
          <p:nvPr/>
        </p:nvSpPr>
        <p:spPr>
          <a:xfrm>
            <a:off x="960120" y="3575160"/>
            <a:ext cx="29073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6324F"/>
                </a:solidFill>
                <a:effectLst/>
                <a:uFillTx/>
                <a:latin typeface="Arial"/>
              </a:rPr>
              <a:t>Khi nên dùng</a:t>
            </a:r>
            <a:endParaRPr lang="en-US" sz="1600" b="0" u="none" strike="noStrike">
              <a:solidFill>
                <a:srgbClr val="000000"/>
              </a:solidFill>
              <a:effectLst/>
              <a:uFillTx/>
              <a:latin typeface="Arial"/>
            </a:endParaRPr>
          </a:p>
        </p:txBody>
      </p:sp>
      <p:sp>
        <p:nvSpPr>
          <p:cNvPr id="513" name="Text 16"/>
          <p:cNvSpPr/>
          <p:nvPr/>
        </p:nvSpPr>
        <p:spPr>
          <a:xfrm>
            <a:off x="960120" y="3959280"/>
            <a:ext cx="2889000" cy="895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170" b="0" u="none" strike="noStrike">
                <a:solidFill>
                  <a:srgbClr val="1F2937"/>
                </a:solidFill>
                <a:effectLst/>
                <a:uFillTx/>
                <a:latin typeface="Arial"/>
              </a:rPr>
              <a:t>API nhận request rồi enqueue job: render video, OCR, gửi email, chạy batch nhỏ... Người dùng không phải chờ HTTP request quá lâu.</a:t>
            </a:r>
            <a:endParaRPr lang="en-US" sz="1170" b="0" u="none" strike="noStrike">
              <a:solidFill>
                <a:srgbClr val="000000"/>
              </a:solidFill>
              <a:effectLst/>
              <a:uFillTx/>
              <a:latin typeface="Arial"/>
            </a:endParaRPr>
          </a:p>
        </p:txBody>
      </p:sp>
      <p:sp>
        <p:nvSpPr>
          <p:cNvPr id="514" name="Shape 17"/>
          <p:cNvSpPr/>
          <p:nvPr/>
        </p:nvSpPr>
        <p:spPr>
          <a:xfrm>
            <a:off x="4434840" y="3429000"/>
            <a:ext cx="3200040" cy="1554120"/>
          </a:xfrm>
          <a:prstGeom prst="roundRect">
            <a:avLst>
              <a:gd name="adj" fmla="val 3529"/>
            </a:avLst>
          </a:prstGeom>
          <a:solidFill>
            <a:srgbClr val="FFFFFF"/>
          </a:solidFill>
          <a:ln w="15240">
            <a:solidFill>
              <a:srgbClr val="D9E2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15" name="Shape 18"/>
          <p:cNvSpPr/>
          <p:nvPr/>
        </p:nvSpPr>
        <p:spPr>
          <a:xfrm>
            <a:off x="4434840" y="3429000"/>
            <a:ext cx="72720" cy="1554120"/>
          </a:xfrm>
          <a:prstGeom prst="rect">
            <a:avLst/>
          </a:prstGeom>
          <a:solidFill>
            <a:srgbClr val="F59E0B"/>
          </a:solidFill>
          <a:ln w="12700">
            <a:solidFill>
              <a:srgbClr val="F59E0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16" name="Text 19"/>
          <p:cNvSpPr/>
          <p:nvPr/>
        </p:nvSpPr>
        <p:spPr>
          <a:xfrm>
            <a:off x="4617720" y="3575160"/>
            <a:ext cx="29073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6324F"/>
                </a:solidFill>
                <a:effectLst/>
                <a:uFillTx/>
                <a:latin typeface="Arial"/>
              </a:rPr>
              <a:t>Khác Airflow</a:t>
            </a:r>
            <a:endParaRPr lang="en-US" sz="1600" b="0" u="none" strike="noStrike">
              <a:solidFill>
                <a:srgbClr val="000000"/>
              </a:solidFill>
              <a:effectLst/>
              <a:uFillTx/>
              <a:latin typeface="Arial"/>
            </a:endParaRPr>
          </a:p>
        </p:txBody>
      </p:sp>
      <p:sp>
        <p:nvSpPr>
          <p:cNvPr id="517" name="Text 20"/>
          <p:cNvSpPr/>
          <p:nvPr/>
        </p:nvSpPr>
        <p:spPr>
          <a:xfrm>
            <a:off x="4617720" y="3959280"/>
            <a:ext cx="2889000" cy="895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170" b="0" u="none" strike="noStrike">
                <a:solidFill>
                  <a:srgbClr val="1F2937"/>
                </a:solidFill>
                <a:effectLst/>
                <a:uFillTx/>
                <a:latin typeface="Arial"/>
              </a:rPr>
              <a:t>RQ là job queue/runtime đơn giản. Airflow mạnh hơn ở workflow nhiều task, lịch chạy, dependency, retry và monitoring.</a:t>
            </a:r>
            <a:endParaRPr lang="en-US" sz="1170" b="0" u="none" strike="noStrike">
              <a:solidFill>
                <a:srgbClr val="000000"/>
              </a:solidFill>
              <a:effectLst/>
              <a:uFillTx/>
              <a:latin typeface="Arial"/>
            </a:endParaRPr>
          </a:p>
        </p:txBody>
      </p:sp>
      <p:sp>
        <p:nvSpPr>
          <p:cNvPr id="518" name="Shape 21"/>
          <p:cNvSpPr/>
          <p:nvPr/>
        </p:nvSpPr>
        <p:spPr>
          <a:xfrm>
            <a:off x="8092440" y="3429000"/>
            <a:ext cx="3200040" cy="1554120"/>
          </a:xfrm>
          <a:prstGeom prst="roundRect">
            <a:avLst>
              <a:gd name="adj" fmla="val 3529"/>
            </a:avLst>
          </a:prstGeom>
          <a:solidFill>
            <a:srgbClr val="FFFFFF"/>
          </a:solidFill>
          <a:ln w="15240">
            <a:solidFill>
              <a:srgbClr val="D9E2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19" name="Shape 22"/>
          <p:cNvSpPr/>
          <p:nvPr/>
        </p:nvSpPr>
        <p:spPr>
          <a:xfrm>
            <a:off x="8092440" y="3429000"/>
            <a:ext cx="72720" cy="1554120"/>
          </a:xfrm>
          <a:prstGeom prst="rect">
            <a:avLst/>
          </a:prstGeom>
          <a:solidFill>
            <a:srgbClr val="00A6A6"/>
          </a:solidFill>
          <a:ln w="12700">
            <a:solidFill>
              <a:srgbClr val="00A6A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20" name="Text 23"/>
          <p:cNvSpPr/>
          <p:nvPr/>
        </p:nvSpPr>
        <p:spPr>
          <a:xfrm>
            <a:off x="8275320" y="3575160"/>
            <a:ext cx="29073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6324F"/>
                </a:solidFill>
                <a:effectLst/>
                <a:uFillTx/>
                <a:latin typeface="Arial"/>
              </a:rPr>
              <a:t>Khác Kafka</a:t>
            </a:r>
            <a:endParaRPr lang="en-US" sz="1600" b="0" u="none" strike="noStrike">
              <a:solidFill>
                <a:srgbClr val="000000"/>
              </a:solidFill>
              <a:effectLst/>
              <a:uFillTx/>
              <a:latin typeface="Arial"/>
            </a:endParaRPr>
          </a:p>
        </p:txBody>
      </p:sp>
      <p:sp>
        <p:nvSpPr>
          <p:cNvPr id="521" name="Text 24"/>
          <p:cNvSpPr/>
          <p:nvPr/>
        </p:nvSpPr>
        <p:spPr>
          <a:xfrm>
            <a:off x="8275320" y="3959280"/>
            <a:ext cx="2889000" cy="8956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170" b="0" u="none" strike="noStrike">
                <a:solidFill>
                  <a:srgbClr val="1F2937"/>
                </a:solidFill>
                <a:effectLst/>
                <a:uFillTx/>
                <a:latin typeface="Arial"/>
              </a:rPr>
              <a:t>RQ phân phối “công việc cần chạy”; Kafka lưu và phân phối “event stream”. Hai khái niệm queue và event log không hoàn toàn giống nhau.</a:t>
            </a:r>
            <a:endParaRPr lang="en-US" sz="1170" b="0" u="none" strike="noStrike">
              <a:solidFill>
                <a:srgbClr val="000000"/>
              </a:solidFill>
              <a:effectLst/>
              <a:uFillTx/>
              <a:latin typeface="Arial"/>
            </a:endParaRPr>
          </a:p>
        </p:txBody>
      </p:sp>
      <p:sp>
        <p:nvSpPr>
          <p:cNvPr id="522" name="Shape 25"/>
          <p:cNvSpPr/>
          <p:nvPr/>
        </p:nvSpPr>
        <p:spPr>
          <a:xfrm>
            <a:off x="567000" y="5257800"/>
            <a:ext cx="11018160" cy="566640"/>
          </a:xfrm>
          <a:prstGeom prst="roundRect">
            <a:avLst>
              <a:gd name="adj" fmla="val 9677"/>
            </a:avLst>
          </a:prstGeom>
          <a:solidFill>
            <a:srgbClr val="FFF7E6"/>
          </a:solidFill>
          <a:ln w="12700">
            <a:solidFill>
              <a:srgbClr val="F4C66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23" name="Text 26"/>
          <p:cNvSpPr/>
          <p:nvPr/>
        </p:nvSpPr>
        <p:spPr>
          <a:xfrm>
            <a:off x="749880" y="5413320"/>
            <a:ext cx="8226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a:solidFill>
                  <a:srgbClr val="A15C00"/>
                </a:solidFill>
                <a:effectLst/>
                <a:uFillTx/>
                <a:latin typeface="Arial"/>
              </a:rPr>
              <a:t>Giải thích</a:t>
            </a:r>
            <a:endParaRPr lang="en-US" sz="1100" b="0" u="none" strike="noStrike">
              <a:solidFill>
                <a:srgbClr val="000000"/>
              </a:solidFill>
              <a:effectLst/>
              <a:uFillTx/>
              <a:latin typeface="Arial"/>
            </a:endParaRPr>
          </a:p>
        </p:txBody>
      </p:sp>
      <p:sp>
        <p:nvSpPr>
          <p:cNvPr id="524" name="Text 27"/>
          <p:cNvSpPr/>
          <p:nvPr/>
        </p:nvSpPr>
        <p:spPr>
          <a:xfrm>
            <a:off x="1609200" y="5376600"/>
            <a:ext cx="97106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defTabSz="914400">
              <a:lnSpc>
                <a:spcPct val="100000"/>
              </a:lnSpc>
              <a:tabLst>
                <a:tab pos="0" algn="l"/>
              </a:tabLst>
            </a:pPr>
            <a:r>
              <a:rPr lang="en-US" sz="1120" b="0" u="none" strike="noStrike">
                <a:solidFill>
                  <a:srgbClr val="6B4D1D"/>
                </a:solidFill>
                <a:effectLst/>
                <a:uFillTx/>
                <a:latin typeface="Arial"/>
              </a:rPr>
              <a:t>Trong tài liệu gốc, RQ được đặt cạnh Airflow. Nên nhấn mạnh sự khác nhau: RQ = background jobs; Airflow = workflow orchestration; Kafka = event streaming.</a:t>
            </a:r>
            <a:endParaRPr lang="en-US" sz="1120" b="0" u="none" strike="noStrike">
              <a:solidFill>
                <a:srgbClr val="000000"/>
              </a:solidFill>
              <a:effectLst/>
              <a:uFillTx/>
              <a:latin typeface="Arial"/>
            </a:endParaRPr>
          </a:p>
        </p:txBody>
      </p:sp>
      <p:sp>
        <p:nvSpPr>
          <p:cNvPr id="525" name="PlaceHolder 1"/>
          <p:cNvSpPr>
            <a:spLocks noGrp="1"/>
          </p:cNvSpPr>
          <p:nvPr>
            <p:ph type="sldNum" idx="21"/>
          </p:nvPr>
        </p:nvSpPr>
        <p:spPr>
          <a:xfrm>
            <a:off x="11631240" y="6510600"/>
            <a:ext cx="255600" cy="200880"/>
          </a:xfrm>
          <a:prstGeom prst="rect">
            <a:avLst/>
          </a:prstGeom>
          <a:noFill/>
          <a:ln w="0">
            <a:noFill/>
          </a:ln>
        </p:spPr>
        <p:txBody>
          <a:bodyPr lIns="90000" tIns="45000" rIns="90000" bIns="45000" anchor="t">
            <a:noAutofit/>
          </a:bodyPr>
          <a:lstStyle>
            <a:lvl1pPr indent="0" algn="r" defTabSz="914400">
              <a:lnSpc>
                <a:spcPct val="100000"/>
              </a:lnSpc>
              <a:buNone/>
              <a:defRPr lang="en-US" sz="800" b="0" u="none" strike="noStrike">
                <a:solidFill>
                  <a:srgbClr val="7A8797"/>
                </a:solidFill>
                <a:effectLst/>
                <a:uFillTx/>
                <a:latin typeface="Arial"/>
                <a:ea typeface="Arial"/>
              </a:defRPr>
            </a:lvl1pPr>
          </a:lstStyle>
          <a:p>
            <a:pPr indent="0" algn="r" defTabSz="914400">
              <a:lnSpc>
                <a:spcPct val="100000"/>
              </a:lnSpc>
              <a:buNone/>
            </a:pPr>
            <a:fld id="{F033C476-AFF4-4B64-BF41-CA3EBFBAFE93}" type="slidenum">
              <a:rPr lang="en-US" sz="800" b="0" u="none" strike="noStrike">
                <a:solidFill>
                  <a:srgbClr val="7A8797"/>
                </a:solidFill>
                <a:effectLst/>
                <a:uFillTx/>
                <a:latin typeface="Arial"/>
                <a:ea typeface="Arial"/>
              </a:rPr>
              <a:t>17</a:t>
            </a:fld>
            <a:endParaRPr lang="en-US" sz="800" b="0" u="none" strike="noStrike">
              <a:solidFill>
                <a:srgbClr val="000000"/>
              </a:solidFill>
              <a:effectLst/>
              <a:uFillTx/>
              <a:latin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 name="Text 0"/>
          <p:cNvSpPr/>
          <p:nvPr/>
        </p:nvSpPr>
        <p:spPr>
          <a:xfrm>
            <a:off x="548640" y="329040"/>
            <a:ext cx="1106388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700" b="1" u="none" strike="noStrike">
                <a:solidFill>
                  <a:srgbClr val="16324F"/>
                </a:solidFill>
                <a:effectLst/>
                <a:uFillTx/>
                <a:latin typeface="Arial"/>
                <a:ea typeface="Arial"/>
              </a:rPr>
              <a:t>17. Bài thực hành gợi ý — dựng một pipeline nhỏ</a:t>
            </a:r>
            <a:endParaRPr lang="en-US" sz="2700" b="0" u="none" strike="noStrike">
              <a:solidFill>
                <a:srgbClr val="000000"/>
              </a:solidFill>
              <a:effectLst/>
              <a:uFillTx/>
              <a:latin typeface="Arial"/>
            </a:endParaRPr>
          </a:p>
        </p:txBody>
      </p:sp>
      <p:sp>
        <p:nvSpPr>
          <p:cNvPr id="527" name="Text 1"/>
          <p:cNvSpPr/>
          <p:nvPr/>
        </p:nvSpPr>
        <p:spPr>
          <a:xfrm>
            <a:off x="567000" y="841320"/>
            <a:ext cx="109724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0" u="none" strike="noStrike">
                <a:solidFill>
                  <a:srgbClr val="5F6B7A"/>
                </a:solidFill>
                <a:effectLst/>
                <a:uFillTx/>
                <a:latin typeface="Arial"/>
                <a:ea typeface="Arial"/>
              </a:rPr>
              <a:t>Mục tiêu: sinh viên thấy được quan hệ giữa ingestion, storage, processing và orchestration.</a:t>
            </a:r>
            <a:endParaRPr lang="en-US" sz="1250" b="0" u="none" strike="noStrike">
              <a:solidFill>
                <a:srgbClr val="000000"/>
              </a:solidFill>
              <a:effectLst/>
              <a:uFillTx/>
              <a:latin typeface="Arial"/>
            </a:endParaRPr>
          </a:p>
        </p:txBody>
      </p:sp>
      <p:sp>
        <p:nvSpPr>
          <p:cNvPr id="528" name="Shape 2"/>
          <p:cNvSpPr/>
          <p:nvPr/>
        </p:nvSpPr>
        <p:spPr>
          <a:xfrm>
            <a:off x="685800" y="1325880"/>
            <a:ext cx="529920" cy="529920"/>
          </a:xfrm>
          <a:prstGeom prst="ellipse">
            <a:avLst/>
          </a:prstGeom>
          <a:solidFill>
            <a:srgbClr val="1E88E5"/>
          </a:solidFill>
          <a:ln w="12700">
            <a:solidFill>
              <a:srgbClr val="1E88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29" name="Text 3"/>
          <p:cNvSpPr/>
          <p:nvPr/>
        </p:nvSpPr>
        <p:spPr>
          <a:xfrm>
            <a:off x="822960" y="1472040"/>
            <a:ext cx="2556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Arial"/>
              </a:rPr>
              <a:t>1</a:t>
            </a:r>
            <a:endParaRPr lang="en-US" sz="1100" b="0" u="none" strike="noStrike">
              <a:solidFill>
                <a:srgbClr val="000000"/>
              </a:solidFill>
              <a:effectLst/>
              <a:uFillTx/>
              <a:latin typeface="Arial"/>
            </a:endParaRPr>
          </a:p>
        </p:txBody>
      </p:sp>
      <p:sp>
        <p:nvSpPr>
          <p:cNvPr id="530" name="Text 4"/>
          <p:cNvSpPr/>
          <p:nvPr/>
        </p:nvSpPr>
        <p:spPr>
          <a:xfrm>
            <a:off x="1417320" y="1353240"/>
            <a:ext cx="14169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1E88E5"/>
                </a:solidFill>
                <a:effectLst/>
                <a:uFillTx/>
                <a:latin typeface="Arial"/>
              </a:rPr>
              <a:t>INGEST</a:t>
            </a:r>
            <a:endParaRPr lang="en-US" sz="1250" b="0" u="none" strike="noStrike">
              <a:solidFill>
                <a:srgbClr val="000000"/>
              </a:solidFill>
              <a:effectLst/>
              <a:uFillTx/>
              <a:latin typeface="Arial"/>
            </a:endParaRPr>
          </a:p>
        </p:txBody>
      </p:sp>
      <p:sp>
        <p:nvSpPr>
          <p:cNvPr id="531" name="Text 5"/>
          <p:cNvSpPr/>
          <p:nvPr/>
        </p:nvSpPr>
        <p:spPr>
          <a:xfrm>
            <a:off x="2834640" y="1353240"/>
            <a:ext cx="79549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80" b="0" u="none" strike="noStrike">
                <a:solidFill>
                  <a:srgbClr val="1F2937"/>
                </a:solidFill>
                <a:effectLst/>
                <a:uFillTx/>
                <a:latin typeface="Arial"/>
              </a:rPr>
              <a:t>Tạo file orders.csv hoặc phát event vào Kafka</a:t>
            </a:r>
            <a:endParaRPr lang="en-US" sz="1180" b="0" u="none" strike="noStrike">
              <a:solidFill>
                <a:srgbClr val="000000"/>
              </a:solidFill>
              <a:effectLst/>
              <a:uFillTx/>
              <a:latin typeface="Arial"/>
            </a:endParaRPr>
          </a:p>
        </p:txBody>
      </p:sp>
      <p:sp>
        <p:nvSpPr>
          <p:cNvPr id="532" name="Shape 6"/>
          <p:cNvSpPr/>
          <p:nvPr/>
        </p:nvSpPr>
        <p:spPr>
          <a:xfrm>
            <a:off x="685800" y="2185560"/>
            <a:ext cx="529920" cy="529920"/>
          </a:xfrm>
          <a:prstGeom prst="ellipse">
            <a:avLst/>
          </a:prstGeom>
          <a:solidFill>
            <a:srgbClr val="16324F"/>
          </a:solidFill>
          <a:ln w="12700">
            <a:solidFill>
              <a:srgbClr val="16324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33" name="Text 7"/>
          <p:cNvSpPr/>
          <p:nvPr/>
        </p:nvSpPr>
        <p:spPr>
          <a:xfrm>
            <a:off x="822960" y="2331720"/>
            <a:ext cx="2556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Arial"/>
              </a:rPr>
              <a:t>2</a:t>
            </a:r>
            <a:endParaRPr lang="en-US" sz="1100" b="0" u="none" strike="noStrike">
              <a:solidFill>
                <a:srgbClr val="000000"/>
              </a:solidFill>
              <a:effectLst/>
              <a:uFillTx/>
              <a:latin typeface="Arial"/>
            </a:endParaRPr>
          </a:p>
        </p:txBody>
      </p:sp>
      <p:sp>
        <p:nvSpPr>
          <p:cNvPr id="534" name="Text 8"/>
          <p:cNvSpPr/>
          <p:nvPr/>
        </p:nvSpPr>
        <p:spPr>
          <a:xfrm>
            <a:off x="1417320" y="2212920"/>
            <a:ext cx="14169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16324F"/>
                </a:solidFill>
                <a:effectLst/>
                <a:uFillTx/>
                <a:latin typeface="Arial"/>
              </a:rPr>
              <a:t>STORE</a:t>
            </a:r>
            <a:endParaRPr lang="en-US" sz="1250" b="0" u="none" strike="noStrike">
              <a:solidFill>
                <a:srgbClr val="000000"/>
              </a:solidFill>
              <a:effectLst/>
              <a:uFillTx/>
              <a:latin typeface="Arial"/>
            </a:endParaRPr>
          </a:p>
        </p:txBody>
      </p:sp>
      <p:sp>
        <p:nvSpPr>
          <p:cNvPr id="535" name="Text 9"/>
          <p:cNvSpPr/>
          <p:nvPr/>
        </p:nvSpPr>
        <p:spPr>
          <a:xfrm>
            <a:off x="2834640" y="2212920"/>
            <a:ext cx="79549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80" b="0" u="none" strike="noStrike">
                <a:solidFill>
                  <a:srgbClr val="1F2937"/>
                </a:solidFill>
                <a:effectLst/>
                <a:uFillTx/>
                <a:latin typeface="Arial"/>
              </a:rPr>
              <a:t>Lưu raw vào HDFS / local data lake</a:t>
            </a:r>
            <a:endParaRPr lang="en-US" sz="1180" b="0" u="none" strike="noStrike">
              <a:solidFill>
                <a:srgbClr val="000000"/>
              </a:solidFill>
              <a:effectLst/>
              <a:uFillTx/>
              <a:latin typeface="Arial"/>
            </a:endParaRPr>
          </a:p>
        </p:txBody>
      </p:sp>
      <p:sp>
        <p:nvSpPr>
          <p:cNvPr id="536" name="Shape 10"/>
          <p:cNvSpPr/>
          <p:nvPr/>
        </p:nvSpPr>
        <p:spPr>
          <a:xfrm>
            <a:off x="685800" y="3044880"/>
            <a:ext cx="529920" cy="529920"/>
          </a:xfrm>
          <a:prstGeom prst="ellipse">
            <a:avLst/>
          </a:prstGeom>
          <a:solidFill>
            <a:srgbClr val="6C5CE7"/>
          </a:solidFill>
          <a:ln w="12700">
            <a:solidFill>
              <a:srgbClr val="6C5CE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37" name="Text 11"/>
          <p:cNvSpPr/>
          <p:nvPr/>
        </p:nvSpPr>
        <p:spPr>
          <a:xfrm>
            <a:off x="822960" y="3191400"/>
            <a:ext cx="2556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Arial"/>
              </a:rPr>
              <a:t>3</a:t>
            </a:r>
            <a:endParaRPr lang="en-US" sz="1100" b="0" u="none" strike="noStrike">
              <a:solidFill>
                <a:srgbClr val="000000"/>
              </a:solidFill>
              <a:effectLst/>
              <a:uFillTx/>
              <a:latin typeface="Arial"/>
            </a:endParaRPr>
          </a:p>
        </p:txBody>
      </p:sp>
      <p:sp>
        <p:nvSpPr>
          <p:cNvPr id="538" name="Text 12"/>
          <p:cNvSpPr/>
          <p:nvPr/>
        </p:nvSpPr>
        <p:spPr>
          <a:xfrm>
            <a:off x="1417320" y="3072240"/>
            <a:ext cx="14169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6C5CE7"/>
                </a:solidFill>
                <a:effectLst/>
                <a:uFillTx/>
                <a:latin typeface="Arial"/>
              </a:rPr>
              <a:t>PROCESS</a:t>
            </a:r>
            <a:endParaRPr lang="en-US" sz="1250" b="0" u="none" strike="noStrike">
              <a:solidFill>
                <a:srgbClr val="000000"/>
              </a:solidFill>
              <a:effectLst/>
              <a:uFillTx/>
              <a:latin typeface="Arial"/>
            </a:endParaRPr>
          </a:p>
        </p:txBody>
      </p:sp>
      <p:sp>
        <p:nvSpPr>
          <p:cNvPr id="539" name="Text 13"/>
          <p:cNvSpPr/>
          <p:nvPr/>
        </p:nvSpPr>
        <p:spPr>
          <a:xfrm>
            <a:off x="2834640" y="3072240"/>
            <a:ext cx="79549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80" b="0" u="none" strike="noStrike">
                <a:solidFill>
                  <a:srgbClr val="1F2937"/>
                </a:solidFill>
                <a:effectLst/>
                <a:uFillTx/>
                <a:latin typeface="Arial"/>
              </a:rPr>
              <a:t>Spark đọc dữ liệu, tính doanh thu theo ngày</a:t>
            </a:r>
            <a:endParaRPr lang="en-US" sz="1180" b="0" u="none" strike="noStrike">
              <a:solidFill>
                <a:srgbClr val="000000"/>
              </a:solidFill>
              <a:effectLst/>
              <a:uFillTx/>
              <a:latin typeface="Arial"/>
            </a:endParaRPr>
          </a:p>
        </p:txBody>
      </p:sp>
      <p:sp>
        <p:nvSpPr>
          <p:cNvPr id="540" name="Shape 14"/>
          <p:cNvSpPr/>
          <p:nvPr/>
        </p:nvSpPr>
        <p:spPr>
          <a:xfrm>
            <a:off x="685800" y="3904560"/>
            <a:ext cx="529920" cy="529920"/>
          </a:xfrm>
          <a:prstGeom prst="ellipse">
            <a:avLst/>
          </a:prstGeom>
          <a:solidFill>
            <a:srgbClr val="F59E0B"/>
          </a:solidFill>
          <a:ln w="12700">
            <a:solidFill>
              <a:srgbClr val="F59E0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41" name="Text 15"/>
          <p:cNvSpPr/>
          <p:nvPr/>
        </p:nvSpPr>
        <p:spPr>
          <a:xfrm>
            <a:off x="822960" y="4050720"/>
            <a:ext cx="2556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Arial"/>
              </a:rPr>
              <a:t>4</a:t>
            </a:r>
            <a:endParaRPr lang="en-US" sz="1100" b="0" u="none" strike="noStrike">
              <a:solidFill>
                <a:srgbClr val="000000"/>
              </a:solidFill>
              <a:effectLst/>
              <a:uFillTx/>
              <a:latin typeface="Arial"/>
            </a:endParaRPr>
          </a:p>
        </p:txBody>
      </p:sp>
      <p:sp>
        <p:nvSpPr>
          <p:cNvPr id="542" name="Text 16"/>
          <p:cNvSpPr/>
          <p:nvPr/>
        </p:nvSpPr>
        <p:spPr>
          <a:xfrm>
            <a:off x="1417320" y="3931920"/>
            <a:ext cx="14169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F59E0B"/>
                </a:solidFill>
                <a:effectLst/>
                <a:uFillTx/>
                <a:latin typeface="Arial"/>
              </a:rPr>
              <a:t>ORCHESTRATE</a:t>
            </a:r>
            <a:endParaRPr lang="en-US" sz="1250" b="0" u="none" strike="noStrike">
              <a:solidFill>
                <a:srgbClr val="000000"/>
              </a:solidFill>
              <a:effectLst/>
              <a:uFillTx/>
              <a:latin typeface="Arial"/>
            </a:endParaRPr>
          </a:p>
        </p:txBody>
      </p:sp>
      <p:sp>
        <p:nvSpPr>
          <p:cNvPr id="543" name="Text 17"/>
          <p:cNvSpPr/>
          <p:nvPr/>
        </p:nvSpPr>
        <p:spPr>
          <a:xfrm>
            <a:off x="2834640" y="3931920"/>
            <a:ext cx="79549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80" b="0" u="none" strike="noStrike">
                <a:solidFill>
                  <a:srgbClr val="1F2937"/>
                </a:solidFill>
                <a:effectLst/>
                <a:uFillTx/>
                <a:latin typeface="Arial"/>
              </a:rPr>
              <a:t>Airflow chạy pipeline và retry khi task lỗi</a:t>
            </a:r>
            <a:endParaRPr lang="en-US" sz="1180" b="0" u="none" strike="noStrike">
              <a:solidFill>
                <a:srgbClr val="000000"/>
              </a:solidFill>
              <a:effectLst/>
              <a:uFillTx/>
              <a:latin typeface="Arial"/>
            </a:endParaRPr>
          </a:p>
        </p:txBody>
      </p:sp>
      <p:sp>
        <p:nvSpPr>
          <p:cNvPr id="544" name="Shape 18"/>
          <p:cNvSpPr/>
          <p:nvPr/>
        </p:nvSpPr>
        <p:spPr>
          <a:xfrm>
            <a:off x="685800" y="4763880"/>
            <a:ext cx="529920" cy="529920"/>
          </a:xfrm>
          <a:prstGeom prst="ellipse">
            <a:avLst/>
          </a:prstGeom>
          <a:solidFill>
            <a:srgbClr val="2E7D32"/>
          </a:solidFill>
          <a:ln w="12700">
            <a:solidFill>
              <a:srgbClr val="2E7D3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45" name="Text 19"/>
          <p:cNvSpPr/>
          <p:nvPr/>
        </p:nvSpPr>
        <p:spPr>
          <a:xfrm>
            <a:off x="822960" y="4910400"/>
            <a:ext cx="2556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Arial"/>
              </a:rPr>
              <a:t>5</a:t>
            </a:r>
            <a:endParaRPr lang="en-US" sz="1100" b="0" u="none" strike="noStrike">
              <a:solidFill>
                <a:srgbClr val="000000"/>
              </a:solidFill>
              <a:effectLst/>
              <a:uFillTx/>
              <a:latin typeface="Arial"/>
            </a:endParaRPr>
          </a:p>
        </p:txBody>
      </p:sp>
      <p:sp>
        <p:nvSpPr>
          <p:cNvPr id="546" name="Text 20"/>
          <p:cNvSpPr/>
          <p:nvPr/>
        </p:nvSpPr>
        <p:spPr>
          <a:xfrm>
            <a:off x="1417320" y="4791600"/>
            <a:ext cx="141696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2E7D32"/>
                </a:solidFill>
                <a:effectLst/>
                <a:uFillTx/>
                <a:latin typeface="Arial"/>
              </a:rPr>
              <a:t>VERIFY</a:t>
            </a:r>
            <a:endParaRPr lang="en-US" sz="1250" b="0" u="none" strike="noStrike">
              <a:solidFill>
                <a:srgbClr val="000000"/>
              </a:solidFill>
              <a:effectLst/>
              <a:uFillTx/>
              <a:latin typeface="Arial"/>
            </a:endParaRPr>
          </a:p>
        </p:txBody>
      </p:sp>
      <p:sp>
        <p:nvSpPr>
          <p:cNvPr id="547" name="Text 21"/>
          <p:cNvSpPr/>
          <p:nvPr/>
        </p:nvSpPr>
        <p:spPr>
          <a:xfrm>
            <a:off x="2834640" y="4791600"/>
            <a:ext cx="795492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80" b="0" u="none" strike="noStrike">
                <a:solidFill>
                  <a:srgbClr val="1F2937"/>
                </a:solidFill>
                <a:effectLst/>
                <a:uFillTx/>
                <a:latin typeface="Arial"/>
              </a:rPr>
              <a:t>Kiểm tra output, logs và trạng thái DAG</a:t>
            </a:r>
            <a:endParaRPr lang="en-US" sz="1180" b="0" u="none" strike="noStrike">
              <a:solidFill>
                <a:srgbClr val="000000"/>
              </a:solidFill>
              <a:effectLst/>
              <a:uFillTx/>
              <a:latin typeface="Arial"/>
            </a:endParaRPr>
          </a:p>
        </p:txBody>
      </p:sp>
      <p:sp>
        <p:nvSpPr>
          <p:cNvPr id="548" name="Shape 22"/>
          <p:cNvSpPr/>
          <p:nvPr/>
        </p:nvSpPr>
        <p:spPr>
          <a:xfrm>
            <a:off x="7863840" y="4983480"/>
            <a:ext cx="3428640" cy="749520"/>
          </a:xfrm>
          <a:prstGeom prst="roundRect">
            <a:avLst>
              <a:gd name="adj" fmla="val 7317"/>
            </a:avLst>
          </a:prstGeom>
          <a:solidFill>
            <a:srgbClr val="FFFFFF"/>
          </a:solidFill>
          <a:ln w="15240">
            <a:solidFill>
              <a:srgbClr val="D9E2E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49" name="Shape 23"/>
          <p:cNvSpPr/>
          <p:nvPr/>
        </p:nvSpPr>
        <p:spPr>
          <a:xfrm>
            <a:off x="7863840" y="4983480"/>
            <a:ext cx="72720" cy="749520"/>
          </a:xfrm>
          <a:prstGeom prst="rect">
            <a:avLst/>
          </a:prstGeom>
          <a:solidFill>
            <a:srgbClr val="F59E0B"/>
          </a:solidFill>
          <a:ln w="12700">
            <a:solidFill>
              <a:srgbClr val="F59E0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50" name="Text 24"/>
          <p:cNvSpPr/>
          <p:nvPr/>
        </p:nvSpPr>
        <p:spPr>
          <a:xfrm>
            <a:off x="8046720" y="5129640"/>
            <a:ext cx="31359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16324F"/>
                </a:solidFill>
                <a:effectLst/>
                <a:uFillTx/>
                <a:latin typeface="Arial"/>
              </a:rPr>
              <a:t>Câu hỏi kiểm tra</a:t>
            </a:r>
            <a:endParaRPr lang="en-US" sz="1600" b="0" u="none" strike="noStrike">
              <a:solidFill>
                <a:srgbClr val="000000"/>
              </a:solidFill>
              <a:effectLst/>
              <a:uFillTx/>
              <a:latin typeface="Arial"/>
            </a:endParaRPr>
          </a:p>
        </p:txBody>
      </p:sp>
      <p:sp>
        <p:nvSpPr>
          <p:cNvPr id="551" name="Text 25"/>
          <p:cNvSpPr/>
          <p:nvPr/>
        </p:nvSpPr>
        <p:spPr>
          <a:xfrm>
            <a:off x="8046720" y="5513760"/>
            <a:ext cx="3117600" cy="910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fontScale="70000" lnSpcReduction="19999"/>
          </a:bodyPr>
          <a:lstStyle/>
          <a:p>
            <a:pPr defTabSz="914400">
              <a:lnSpc>
                <a:spcPct val="100000"/>
              </a:lnSpc>
              <a:tabLst>
                <a:tab pos="0" algn="l"/>
              </a:tabLst>
            </a:pPr>
            <a:r>
              <a:rPr lang="en-US" sz="1050" b="0" u="none" strike="noStrike">
                <a:solidFill>
                  <a:srgbClr val="1F2937"/>
                </a:solidFill>
                <a:effectLst/>
                <a:uFillTx/>
                <a:latin typeface="Arial"/>
              </a:rPr>
              <a:t>Nếu Kafka tắt? Nếu Spark task fail? Airflow retry ở đâu?</a:t>
            </a:r>
            <a:endParaRPr lang="en-US" sz="1050" b="0" u="none" strike="noStrike">
              <a:solidFill>
                <a:srgbClr val="000000"/>
              </a:solidFill>
              <a:effectLst/>
              <a:uFillTx/>
              <a:latin typeface="Arial"/>
            </a:endParaRPr>
          </a:p>
        </p:txBody>
      </p:sp>
      <p:sp>
        <p:nvSpPr>
          <p:cNvPr id="552" name="Shape 26"/>
          <p:cNvSpPr/>
          <p:nvPr/>
        </p:nvSpPr>
        <p:spPr>
          <a:xfrm>
            <a:off x="567000" y="5742360"/>
            <a:ext cx="11018160" cy="566640"/>
          </a:xfrm>
          <a:prstGeom prst="roundRect">
            <a:avLst>
              <a:gd name="adj" fmla="val 9677"/>
            </a:avLst>
          </a:prstGeom>
          <a:solidFill>
            <a:srgbClr val="FFF7E6"/>
          </a:solidFill>
          <a:ln w="12700">
            <a:solidFill>
              <a:srgbClr val="F4C66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53" name="Text 27"/>
          <p:cNvSpPr/>
          <p:nvPr/>
        </p:nvSpPr>
        <p:spPr>
          <a:xfrm>
            <a:off x="749880" y="5897880"/>
            <a:ext cx="8226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a:solidFill>
                  <a:srgbClr val="A15C00"/>
                </a:solidFill>
                <a:effectLst/>
                <a:uFillTx/>
                <a:latin typeface="Arial"/>
              </a:rPr>
              <a:t>Giải thích</a:t>
            </a:r>
            <a:endParaRPr lang="en-US" sz="1100" b="0" u="none" strike="noStrike">
              <a:solidFill>
                <a:srgbClr val="000000"/>
              </a:solidFill>
              <a:effectLst/>
              <a:uFillTx/>
              <a:latin typeface="Arial"/>
            </a:endParaRPr>
          </a:p>
        </p:txBody>
      </p:sp>
      <p:sp>
        <p:nvSpPr>
          <p:cNvPr id="554" name="Text 28"/>
          <p:cNvSpPr/>
          <p:nvPr/>
        </p:nvSpPr>
        <p:spPr>
          <a:xfrm>
            <a:off x="1609200" y="5861160"/>
            <a:ext cx="97106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defTabSz="914400">
              <a:lnSpc>
                <a:spcPct val="100000"/>
              </a:lnSpc>
              <a:tabLst>
                <a:tab pos="0" algn="l"/>
              </a:tabLst>
            </a:pPr>
            <a:r>
              <a:rPr lang="en-US" sz="1120" b="0" u="none" strike="noStrike">
                <a:solidFill>
                  <a:srgbClr val="6B4D1D"/>
                </a:solidFill>
                <a:effectLst/>
                <a:uFillTx/>
                <a:latin typeface="Arial"/>
              </a:rPr>
              <a:t>Bài lab nên ưu tiên “luồng dữ liệu chạy được” hơn cấu hình phức tạp. Có thể thay Kafka bằng file ở mức cơ bản, sau đó nâng cấp lên streaming ở buổi sau.</a:t>
            </a:r>
            <a:endParaRPr lang="en-US" sz="1120" b="0" u="none" strike="noStrike">
              <a:solidFill>
                <a:srgbClr val="000000"/>
              </a:solidFill>
              <a:effectLst/>
              <a:uFillTx/>
              <a:latin typeface="Arial"/>
            </a:endParaRPr>
          </a:p>
        </p:txBody>
      </p:sp>
      <p:sp>
        <p:nvSpPr>
          <p:cNvPr id="555" name="PlaceHolder 1"/>
          <p:cNvSpPr>
            <a:spLocks noGrp="1"/>
          </p:cNvSpPr>
          <p:nvPr>
            <p:ph type="sldNum" idx="22"/>
          </p:nvPr>
        </p:nvSpPr>
        <p:spPr>
          <a:xfrm>
            <a:off x="11631240" y="6510600"/>
            <a:ext cx="255600" cy="200880"/>
          </a:xfrm>
          <a:prstGeom prst="rect">
            <a:avLst/>
          </a:prstGeom>
          <a:noFill/>
          <a:ln w="0">
            <a:noFill/>
          </a:ln>
        </p:spPr>
        <p:txBody>
          <a:bodyPr lIns="90000" tIns="45000" rIns="90000" bIns="45000" anchor="t">
            <a:noAutofit/>
          </a:bodyPr>
          <a:lstStyle>
            <a:lvl1pPr indent="0" algn="r" defTabSz="914400">
              <a:lnSpc>
                <a:spcPct val="100000"/>
              </a:lnSpc>
              <a:buNone/>
              <a:defRPr lang="en-US" sz="800" b="0" u="none" strike="noStrike">
                <a:solidFill>
                  <a:srgbClr val="7A8797"/>
                </a:solidFill>
                <a:effectLst/>
                <a:uFillTx/>
                <a:latin typeface="Arial"/>
                <a:ea typeface="Arial"/>
              </a:defRPr>
            </a:lvl1pPr>
          </a:lstStyle>
          <a:p>
            <a:pPr indent="0" algn="r" defTabSz="914400">
              <a:lnSpc>
                <a:spcPct val="100000"/>
              </a:lnSpc>
              <a:buNone/>
            </a:pPr>
            <a:fld id="{8C52AD5B-AC8D-4A7C-8953-3648069AED5E}" type="slidenum">
              <a:rPr lang="en-US" sz="800" b="0" u="none" strike="noStrike">
                <a:solidFill>
                  <a:srgbClr val="7A8797"/>
                </a:solidFill>
                <a:effectLst/>
                <a:uFillTx/>
                <a:latin typeface="Arial"/>
                <a:ea typeface="Arial"/>
              </a:rPr>
              <a:t>18</a:t>
            </a:fld>
            <a:endParaRPr lang="en-US" sz="800" b="0" u="none" strike="noStrike">
              <a:solidFill>
                <a:srgbClr val="000000"/>
              </a:solidFill>
              <a:effectLst/>
              <a:uFillTx/>
              <a:latin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 name="Text 0"/>
          <p:cNvSpPr/>
          <p:nvPr/>
        </p:nvSpPr>
        <p:spPr>
          <a:xfrm>
            <a:off x="548640" y="329040"/>
            <a:ext cx="1106388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2700" b="1" u="none" strike="noStrike">
                <a:solidFill>
                  <a:srgbClr val="16324F"/>
                </a:solidFill>
                <a:effectLst/>
                <a:uFillTx/>
                <a:latin typeface="Arial"/>
                <a:ea typeface="Arial"/>
              </a:rPr>
              <a:t>18. Tổng kết chương 4</a:t>
            </a:r>
            <a:endParaRPr lang="en-US" sz="2700" b="0" u="none" strike="noStrike">
              <a:solidFill>
                <a:srgbClr val="000000"/>
              </a:solidFill>
              <a:effectLst/>
              <a:uFillTx/>
              <a:latin typeface="Arial"/>
            </a:endParaRPr>
          </a:p>
        </p:txBody>
      </p:sp>
      <p:sp>
        <p:nvSpPr>
          <p:cNvPr id="557" name="Text 1"/>
          <p:cNvSpPr/>
          <p:nvPr/>
        </p:nvSpPr>
        <p:spPr>
          <a:xfrm>
            <a:off x="567000" y="841320"/>
            <a:ext cx="109724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0" u="none" strike="noStrike">
                <a:solidFill>
                  <a:srgbClr val="5F6B7A"/>
                </a:solidFill>
                <a:effectLst/>
                <a:uFillTx/>
                <a:latin typeface="Arial"/>
                <a:ea typeface="Arial"/>
              </a:rPr>
              <a:t>5 ý sinh viên cần nhớ sau bài học.</a:t>
            </a:r>
            <a:endParaRPr lang="en-US" sz="1250" b="0" u="none" strike="noStrike">
              <a:solidFill>
                <a:srgbClr val="000000"/>
              </a:solidFill>
              <a:effectLst/>
              <a:uFillTx/>
              <a:latin typeface="Arial"/>
            </a:endParaRPr>
          </a:p>
        </p:txBody>
      </p:sp>
      <p:sp>
        <p:nvSpPr>
          <p:cNvPr id="558" name="Shape 2"/>
          <p:cNvSpPr/>
          <p:nvPr/>
        </p:nvSpPr>
        <p:spPr>
          <a:xfrm>
            <a:off x="731520" y="1325880"/>
            <a:ext cx="529920" cy="529920"/>
          </a:xfrm>
          <a:prstGeom prst="roundRect">
            <a:avLst>
              <a:gd name="adj" fmla="val 16667"/>
            </a:avLst>
          </a:prstGeom>
          <a:solidFill>
            <a:srgbClr val="1E88E5"/>
          </a:solidFill>
          <a:ln w="12700">
            <a:solidFill>
              <a:srgbClr val="1E88E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59" name="Text 3"/>
          <p:cNvSpPr/>
          <p:nvPr/>
        </p:nvSpPr>
        <p:spPr>
          <a:xfrm>
            <a:off x="887040" y="1472040"/>
            <a:ext cx="2192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Arial"/>
              </a:rPr>
              <a:t>1</a:t>
            </a:r>
            <a:endParaRPr lang="en-US" sz="1100" b="0" u="none" strike="noStrike">
              <a:solidFill>
                <a:srgbClr val="000000"/>
              </a:solidFill>
              <a:effectLst/>
              <a:uFillTx/>
              <a:latin typeface="Arial"/>
            </a:endParaRPr>
          </a:p>
        </p:txBody>
      </p:sp>
      <p:sp>
        <p:nvSpPr>
          <p:cNvPr id="560" name="Text 4"/>
          <p:cNvSpPr/>
          <p:nvPr/>
        </p:nvSpPr>
        <p:spPr>
          <a:xfrm>
            <a:off x="1554480" y="1398960"/>
            <a:ext cx="14169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a:solidFill>
                  <a:srgbClr val="16324F"/>
                </a:solidFill>
                <a:effectLst/>
                <a:uFillTx/>
                <a:latin typeface="Arial"/>
              </a:rPr>
              <a:t>Ingestion</a:t>
            </a:r>
            <a:endParaRPr lang="en-US" sz="1300" b="0" u="none" strike="noStrike">
              <a:solidFill>
                <a:srgbClr val="000000"/>
              </a:solidFill>
              <a:effectLst/>
              <a:uFillTx/>
              <a:latin typeface="Arial"/>
            </a:endParaRPr>
          </a:p>
        </p:txBody>
      </p:sp>
      <p:sp>
        <p:nvSpPr>
          <p:cNvPr id="561" name="Text 5"/>
          <p:cNvSpPr/>
          <p:nvPr/>
        </p:nvSpPr>
        <p:spPr>
          <a:xfrm>
            <a:off x="3017520" y="1389960"/>
            <a:ext cx="79092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80" b="0" u="none" strike="noStrike">
                <a:solidFill>
                  <a:srgbClr val="1F2937"/>
                </a:solidFill>
                <a:effectLst/>
                <a:uFillTx/>
                <a:latin typeface="Arial"/>
              </a:rPr>
              <a:t>Đưa dữ liệu từ nguồn vào pipeline; có batch và streaming.</a:t>
            </a:r>
            <a:endParaRPr lang="en-US" sz="1180" b="0" u="none" strike="noStrike">
              <a:solidFill>
                <a:srgbClr val="000000"/>
              </a:solidFill>
              <a:effectLst/>
              <a:uFillTx/>
              <a:latin typeface="Arial"/>
            </a:endParaRPr>
          </a:p>
        </p:txBody>
      </p:sp>
      <p:sp>
        <p:nvSpPr>
          <p:cNvPr id="562" name="Shape 6"/>
          <p:cNvSpPr/>
          <p:nvPr/>
        </p:nvSpPr>
        <p:spPr>
          <a:xfrm>
            <a:off x="731520" y="2148840"/>
            <a:ext cx="529920" cy="529920"/>
          </a:xfrm>
          <a:prstGeom prst="roundRect">
            <a:avLst>
              <a:gd name="adj" fmla="val 16667"/>
            </a:avLst>
          </a:prstGeom>
          <a:solidFill>
            <a:srgbClr val="00A6A6"/>
          </a:solidFill>
          <a:ln w="12700">
            <a:solidFill>
              <a:srgbClr val="00A6A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63" name="Text 7"/>
          <p:cNvSpPr/>
          <p:nvPr/>
        </p:nvSpPr>
        <p:spPr>
          <a:xfrm>
            <a:off x="887040" y="2295000"/>
            <a:ext cx="2192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Arial"/>
              </a:rPr>
              <a:t>2</a:t>
            </a:r>
            <a:endParaRPr lang="en-US" sz="1100" b="0" u="none" strike="noStrike">
              <a:solidFill>
                <a:srgbClr val="000000"/>
              </a:solidFill>
              <a:effectLst/>
              <a:uFillTx/>
              <a:latin typeface="Arial"/>
            </a:endParaRPr>
          </a:p>
        </p:txBody>
      </p:sp>
      <p:sp>
        <p:nvSpPr>
          <p:cNvPr id="564" name="Text 8"/>
          <p:cNvSpPr/>
          <p:nvPr/>
        </p:nvSpPr>
        <p:spPr>
          <a:xfrm>
            <a:off x="1554480" y="2221920"/>
            <a:ext cx="14169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a:solidFill>
                  <a:srgbClr val="16324F"/>
                </a:solidFill>
                <a:effectLst/>
                <a:uFillTx/>
                <a:latin typeface="Arial"/>
              </a:rPr>
              <a:t>Sqoop</a:t>
            </a:r>
            <a:endParaRPr lang="en-US" sz="1300" b="0" u="none" strike="noStrike">
              <a:solidFill>
                <a:srgbClr val="000000"/>
              </a:solidFill>
              <a:effectLst/>
              <a:uFillTx/>
              <a:latin typeface="Arial"/>
            </a:endParaRPr>
          </a:p>
        </p:txBody>
      </p:sp>
      <p:sp>
        <p:nvSpPr>
          <p:cNvPr id="565" name="Text 9"/>
          <p:cNvSpPr/>
          <p:nvPr/>
        </p:nvSpPr>
        <p:spPr>
          <a:xfrm>
            <a:off x="3017520" y="2212920"/>
            <a:ext cx="79092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80" b="0" u="none" strike="noStrike">
                <a:solidFill>
                  <a:srgbClr val="1F2937"/>
                </a:solidFill>
                <a:effectLst/>
                <a:uFillTx/>
                <a:latin typeface="Arial"/>
              </a:rPr>
              <a:t>Khái niệm batch RDBMS↔Hadoop quan trọng nhưng công cụ đã retired.</a:t>
            </a:r>
            <a:endParaRPr lang="en-US" sz="1180" b="0" u="none" strike="noStrike">
              <a:solidFill>
                <a:srgbClr val="000000"/>
              </a:solidFill>
              <a:effectLst/>
              <a:uFillTx/>
              <a:latin typeface="Arial"/>
            </a:endParaRPr>
          </a:p>
        </p:txBody>
      </p:sp>
      <p:sp>
        <p:nvSpPr>
          <p:cNvPr id="566" name="Shape 10"/>
          <p:cNvSpPr/>
          <p:nvPr/>
        </p:nvSpPr>
        <p:spPr>
          <a:xfrm>
            <a:off x="731520" y="2971800"/>
            <a:ext cx="529920" cy="529920"/>
          </a:xfrm>
          <a:prstGeom prst="roundRect">
            <a:avLst>
              <a:gd name="adj" fmla="val 16667"/>
            </a:avLst>
          </a:prstGeom>
          <a:solidFill>
            <a:srgbClr val="6C5CE7"/>
          </a:solidFill>
          <a:ln w="12700">
            <a:solidFill>
              <a:srgbClr val="6C5CE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67" name="Text 11"/>
          <p:cNvSpPr/>
          <p:nvPr/>
        </p:nvSpPr>
        <p:spPr>
          <a:xfrm>
            <a:off x="887040" y="3117960"/>
            <a:ext cx="2192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Arial"/>
              </a:rPr>
              <a:t>3</a:t>
            </a:r>
            <a:endParaRPr lang="en-US" sz="1100" b="0" u="none" strike="noStrike">
              <a:solidFill>
                <a:srgbClr val="000000"/>
              </a:solidFill>
              <a:effectLst/>
              <a:uFillTx/>
              <a:latin typeface="Arial"/>
            </a:endParaRPr>
          </a:p>
        </p:txBody>
      </p:sp>
      <p:sp>
        <p:nvSpPr>
          <p:cNvPr id="568" name="Text 12"/>
          <p:cNvSpPr/>
          <p:nvPr/>
        </p:nvSpPr>
        <p:spPr>
          <a:xfrm>
            <a:off x="1554480" y="3044880"/>
            <a:ext cx="14169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a:solidFill>
                  <a:srgbClr val="16324F"/>
                </a:solidFill>
                <a:effectLst/>
                <a:uFillTx/>
                <a:latin typeface="Arial"/>
              </a:rPr>
              <a:t>Flume / Kafka</a:t>
            </a:r>
            <a:endParaRPr lang="en-US" sz="1300" b="0" u="none" strike="noStrike">
              <a:solidFill>
                <a:srgbClr val="000000"/>
              </a:solidFill>
              <a:effectLst/>
              <a:uFillTx/>
              <a:latin typeface="Arial"/>
            </a:endParaRPr>
          </a:p>
        </p:txBody>
      </p:sp>
      <p:sp>
        <p:nvSpPr>
          <p:cNvPr id="569" name="Text 13"/>
          <p:cNvSpPr/>
          <p:nvPr/>
        </p:nvSpPr>
        <p:spPr>
          <a:xfrm>
            <a:off x="3017520" y="3035880"/>
            <a:ext cx="79092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80" b="0" u="none" strike="noStrike">
                <a:solidFill>
                  <a:srgbClr val="1F2937"/>
                </a:solidFill>
                <a:effectLst/>
                <a:uFillTx/>
                <a:latin typeface="Arial"/>
              </a:rPr>
              <a:t>Thu thập event/log; Kafka hiện đại hơn ở mô hình distributed event log.</a:t>
            </a:r>
            <a:endParaRPr lang="en-US" sz="1180" b="0" u="none" strike="noStrike">
              <a:solidFill>
                <a:srgbClr val="000000"/>
              </a:solidFill>
              <a:effectLst/>
              <a:uFillTx/>
              <a:latin typeface="Arial"/>
            </a:endParaRPr>
          </a:p>
        </p:txBody>
      </p:sp>
      <p:sp>
        <p:nvSpPr>
          <p:cNvPr id="570" name="Shape 14"/>
          <p:cNvSpPr/>
          <p:nvPr/>
        </p:nvSpPr>
        <p:spPr>
          <a:xfrm>
            <a:off x="731520" y="3794760"/>
            <a:ext cx="529920" cy="529920"/>
          </a:xfrm>
          <a:prstGeom prst="roundRect">
            <a:avLst>
              <a:gd name="adj" fmla="val 16667"/>
            </a:avLst>
          </a:prstGeom>
          <a:solidFill>
            <a:srgbClr val="F59E0B"/>
          </a:solidFill>
          <a:ln w="12700">
            <a:solidFill>
              <a:srgbClr val="F59E0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71" name="Text 15"/>
          <p:cNvSpPr/>
          <p:nvPr/>
        </p:nvSpPr>
        <p:spPr>
          <a:xfrm>
            <a:off x="887040" y="3940920"/>
            <a:ext cx="2192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Arial"/>
              </a:rPr>
              <a:t>4</a:t>
            </a:r>
            <a:endParaRPr lang="en-US" sz="1100" b="0" u="none" strike="noStrike">
              <a:solidFill>
                <a:srgbClr val="000000"/>
              </a:solidFill>
              <a:effectLst/>
              <a:uFillTx/>
              <a:latin typeface="Arial"/>
            </a:endParaRPr>
          </a:p>
        </p:txBody>
      </p:sp>
      <p:sp>
        <p:nvSpPr>
          <p:cNvPr id="572" name="Text 16"/>
          <p:cNvSpPr/>
          <p:nvPr/>
        </p:nvSpPr>
        <p:spPr>
          <a:xfrm>
            <a:off x="1554480" y="3867840"/>
            <a:ext cx="14169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a:solidFill>
                  <a:srgbClr val="16324F"/>
                </a:solidFill>
                <a:effectLst/>
                <a:uFillTx/>
                <a:latin typeface="Arial"/>
              </a:rPr>
              <a:t>Airflow</a:t>
            </a:r>
            <a:endParaRPr lang="en-US" sz="1300" b="0" u="none" strike="noStrike">
              <a:solidFill>
                <a:srgbClr val="000000"/>
              </a:solidFill>
              <a:effectLst/>
              <a:uFillTx/>
              <a:latin typeface="Arial"/>
            </a:endParaRPr>
          </a:p>
        </p:txBody>
      </p:sp>
      <p:sp>
        <p:nvSpPr>
          <p:cNvPr id="573" name="Text 17"/>
          <p:cNvSpPr/>
          <p:nvPr/>
        </p:nvSpPr>
        <p:spPr>
          <a:xfrm>
            <a:off x="3017520" y="3858840"/>
            <a:ext cx="79092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80" b="0" u="none" strike="noStrike">
                <a:solidFill>
                  <a:srgbClr val="1F2937"/>
                </a:solidFill>
                <a:effectLst/>
                <a:uFillTx/>
                <a:latin typeface="Arial"/>
              </a:rPr>
              <a:t>Điều phối workflow: schedule, dependency, retry, monitoring.</a:t>
            </a:r>
            <a:endParaRPr lang="en-US" sz="1180" b="0" u="none" strike="noStrike">
              <a:solidFill>
                <a:srgbClr val="000000"/>
              </a:solidFill>
              <a:effectLst/>
              <a:uFillTx/>
              <a:latin typeface="Arial"/>
            </a:endParaRPr>
          </a:p>
        </p:txBody>
      </p:sp>
      <p:sp>
        <p:nvSpPr>
          <p:cNvPr id="574" name="Shape 18"/>
          <p:cNvSpPr/>
          <p:nvPr/>
        </p:nvSpPr>
        <p:spPr>
          <a:xfrm>
            <a:off x="731520" y="4617720"/>
            <a:ext cx="529920" cy="529920"/>
          </a:xfrm>
          <a:prstGeom prst="roundRect">
            <a:avLst>
              <a:gd name="adj" fmla="val 16667"/>
            </a:avLst>
          </a:prstGeom>
          <a:solidFill>
            <a:srgbClr val="2E7D32"/>
          </a:solidFill>
          <a:ln w="12700">
            <a:solidFill>
              <a:srgbClr val="2E7D32"/>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75" name="Text 19"/>
          <p:cNvSpPr/>
          <p:nvPr/>
        </p:nvSpPr>
        <p:spPr>
          <a:xfrm>
            <a:off x="887040" y="4763880"/>
            <a:ext cx="2192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u="none" strike="noStrike">
                <a:solidFill>
                  <a:srgbClr val="FFFFFF"/>
                </a:solidFill>
                <a:effectLst/>
                <a:uFillTx/>
                <a:latin typeface="Arial"/>
              </a:rPr>
              <a:t>5</a:t>
            </a:r>
            <a:endParaRPr lang="en-US" sz="1100" b="0" u="none" strike="noStrike">
              <a:solidFill>
                <a:srgbClr val="000000"/>
              </a:solidFill>
              <a:effectLst/>
              <a:uFillTx/>
              <a:latin typeface="Arial"/>
            </a:endParaRPr>
          </a:p>
        </p:txBody>
      </p:sp>
      <p:sp>
        <p:nvSpPr>
          <p:cNvPr id="576" name="Text 20"/>
          <p:cNvSpPr/>
          <p:nvPr/>
        </p:nvSpPr>
        <p:spPr>
          <a:xfrm>
            <a:off x="1554480" y="4690800"/>
            <a:ext cx="14169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a:solidFill>
                  <a:srgbClr val="16324F"/>
                </a:solidFill>
                <a:effectLst/>
                <a:uFillTx/>
                <a:latin typeface="Arial"/>
              </a:rPr>
              <a:t>RQ</a:t>
            </a:r>
            <a:endParaRPr lang="en-US" sz="1300" b="0" u="none" strike="noStrike">
              <a:solidFill>
                <a:srgbClr val="000000"/>
              </a:solidFill>
              <a:effectLst/>
              <a:uFillTx/>
              <a:latin typeface="Arial"/>
            </a:endParaRPr>
          </a:p>
        </p:txBody>
      </p:sp>
      <p:sp>
        <p:nvSpPr>
          <p:cNvPr id="577" name="Text 21"/>
          <p:cNvSpPr/>
          <p:nvPr/>
        </p:nvSpPr>
        <p:spPr>
          <a:xfrm>
            <a:off x="3017520" y="4681800"/>
            <a:ext cx="79092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80" b="0" u="none" strike="noStrike">
                <a:solidFill>
                  <a:srgbClr val="1F2937"/>
                </a:solidFill>
                <a:effectLst/>
                <a:uFillTx/>
                <a:latin typeface="Arial"/>
              </a:rPr>
              <a:t>Job queue cho background workers; không thay Kafka hay Airflow.</a:t>
            </a:r>
            <a:endParaRPr lang="en-US" sz="1180" b="0" u="none" strike="noStrike">
              <a:solidFill>
                <a:srgbClr val="000000"/>
              </a:solidFill>
              <a:effectLst/>
              <a:uFillTx/>
              <a:latin typeface="Arial"/>
            </a:endParaRPr>
          </a:p>
        </p:txBody>
      </p:sp>
      <p:sp>
        <p:nvSpPr>
          <p:cNvPr id="578" name="Shape 22"/>
          <p:cNvSpPr/>
          <p:nvPr/>
        </p:nvSpPr>
        <p:spPr>
          <a:xfrm>
            <a:off x="1005840" y="5596200"/>
            <a:ext cx="10149480" cy="548280"/>
          </a:xfrm>
          <a:prstGeom prst="roundRect">
            <a:avLst>
              <a:gd name="adj" fmla="val 16667"/>
            </a:avLst>
          </a:prstGeom>
          <a:solidFill>
            <a:srgbClr val="EAF2FB"/>
          </a:solidFill>
          <a:ln w="12700">
            <a:solidFill>
              <a:srgbClr val="C9DDF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79" name="Text 23"/>
          <p:cNvSpPr/>
          <p:nvPr/>
        </p:nvSpPr>
        <p:spPr>
          <a:xfrm>
            <a:off x="1325880" y="5769720"/>
            <a:ext cx="950940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30" b="1" u="none" strike="noStrike">
                <a:solidFill>
                  <a:srgbClr val="1E88E5"/>
                </a:solidFill>
                <a:effectLst/>
                <a:uFillTx/>
                <a:latin typeface="Arial"/>
              </a:rPr>
              <a:t>Tư duy thiết kế: SOURCE → INGEST → STORE → PROCESS → SERVE, và dùng ORCHESTRATION để điều phối toàn pipeline.</a:t>
            </a:r>
            <a:endParaRPr lang="en-US" sz="1230" b="0" u="none" strike="noStrike">
              <a:solidFill>
                <a:srgbClr val="000000"/>
              </a:solidFill>
              <a:effectLst/>
              <a:uFillTx/>
              <a:latin typeface="Arial"/>
            </a:endParaRPr>
          </a:p>
        </p:txBody>
      </p:sp>
      <p:sp>
        <p:nvSpPr>
          <p:cNvPr id="580" name="PlaceHolder 1"/>
          <p:cNvSpPr>
            <a:spLocks noGrp="1"/>
          </p:cNvSpPr>
          <p:nvPr>
            <p:ph type="sldNum" idx="23"/>
          </p:nvPr>
        </p:nvSpPr>
        <p:spPr>
          <a:xfrm>
            <a:off x="11631240" y="6510600"/>
            <a:ext cx="255600" cy="200880"/>
          </a:xfrm>
          <a:prstGeom prst="rect">
            <a:avLst/>
          </a:prstGeom>
          <a:noFill/>
          <a:ln w="0">
            <a:noFill/>
          </a:ln>
        </p:spPr>
        <p:txBody>
          <a:bodyPr lIns="90000" tIns="45000" rIns="90000" bIns="45000" anchor="t">
            <a:noAutofit/>
          </a:bodyPr>
          <a:lstStyle>
            <a:lvl1pPr indent="0" algn="r" defTabSz="914400">
              <a:lnSpc>
                <a:spcPct val="100000"/>
              </a:lnSpc>
              <a:buNone/>
              <a:defRPr lang="en-US" sz="800" b="0" u="none" strike="noStrike">
                <a:solidFill>
                  <a:srgbClr val="7A8797"/>
                </a:solidFill>
                <a:effectLst/>
                <a:uFillTx/>
                <a:latin typeface="Arial"/>
                <a:ea typeface="Arial"/>
              </a:defRPr>
            </a:lvl1pPr>
          </a:lstStyle>
          <a:p>
            <a:pPr indent="0" algn="r" defTabSz="914400">
              <a:lnSpc>
                <a:spcPct val="100000"/>
              </a:lnSpc>
              <a:buNone/>
            </a:pPr>
            <a:fld id="{DDE7B25D-CE23-4D9B-ABC6-9374295136B0}" type="slidenum">
              <a:rPr lang="en-US" sz="800" b="0" u="none" strike="noStrike">
                <a:solidFill>
                  <a:srgbClr val="7A8797"/>
                </a:solidFill>
                <a:effectLst/>
                <a:uFillTx/>
                <a:latin typeface="Arial"/>
                <a:ea typeface="Arial"/>
              </a:rPr>
              <a:t>19</a:t>
            </a:fld>
            <a:endParaRPr lang="en-US" sz="800" b="0" u="none" strike="noStrike">
              <a:solidFill>
                <a:srgbClr val="000000"/>
              </a:solidFill>
              <a:effectLst/>
              <a:uFillTx/>
              <a:latin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TotalTime>
  <Words>2870</Words>
  <Application>Microsoft Office PowerPoint</Application>
  <PresentationFormat>Widescreen</PresentationFormat>
  <Paragraphs>421</Paragraphs>
  <Slides>19</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Courier New</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HUB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4 - Data Ingestion &amp; Orchestration (Revised)</dc:title>
  <dc:subject>Lecture 4 - Data Ingestion &amp; Orchestration</dc:subject>
  <dc:creator>OpenAI</dc:creator>
  <dc:description/>
  <cp:lastModifiedBy>ĐÔNG NGUYỄN QUANG PHƯƠNG</cp:lastModifiedBy>
  <cp:revision>4</cp:revision>
  <dcterms:created xsi:type="dcterms:W3CDTF">2026-09-24T02:14:40Z</dcterms:created>
  <dcterms:modified xsi:type="dcterms:W3CDTF">2026-10-01T06:01:21Z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19</vt:i4>
  </property>
  <property fmtid="{D5CDD505-2E9C-101B-9397-08002B2CF9AE}" pid="3" name="PresentationFormat">
    <vt:lpwstr>On-screen Show (16:9)</vt:lpwstr>
  </property>
  <property fmtid="{D5CDD505-2E9C-101B-9397-08002B2CF9AE}" pid="4" name="Slides">
    <vt:i4>19</vt:i4>
  </property>
</Properties>
</file>