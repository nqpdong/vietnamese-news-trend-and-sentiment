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3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9.xml.rels" ContentType="application/vnd.openxmlformats-package.relationships+xml"/>
  <Override PartName="/ppt/slides/_rels/slide8.xml.rels" ContentType="application/vnd.openxmlformats-package.relationships+xml"/>
  <Override PartName="/ppt/slides/_rels/slide33.xml.rels" ContentType="application/vnd.openxmlformats-package.relationships+xml"/>
  <Override PartName="/ppt/slides/_rels/slide30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28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12.xml.rels" ContentType="application/vnd.openxmlformats-package.relationships+xml"/>
  <Override PartName="/ppt/slides/_rels/slide31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19.xml.rels" ContentType="application/vnd.openxmlformats-package.relationships+xml"/>
  <Override PartName="/ppt/slides/_rels/slide7.xml.rels" ContentType="application/vnd.openxmlformats-package.relationships+xml"/>
  <Override PartName="/ppt/slides/_rels/slide18.xml.rels" ContentType="application/vnd.openxmlformats-package.relationships+xml"/>
  <Override PartName="/ppt/slides/_rels/slide15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4.png" ContentType="image/png"/>
  <Override PartName="/ppt/media/image3.png" ContentType="image/png"/>
  <Override PartName="/ppt/media/image5.png" ContentType="image/png"/>
  <Override PartName="/ppt/media/image6.png" ContentType="image/png"/>
  <Override PartName="/ppt/media/image2.png" ContentType="image/png"/>
  <Override PartName="/ppt/media/image7.png" ContentType="image/png"/>
  <Override PartName="/ppt/notesSlides/_rels/notesSlide1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2.xml.rels" ContentType="application/vnd.openxmlformats-package.relationships+xml"/>
  <Override PartName="/ppt/notesSlides/notesSlide2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1CC5F0-5351-4993-9011-0AFD4D03468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1D46C1-8CF7-4719-82E3-FFD003510D8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84D6A4-0BA7-4E33-888C-B22EAAF1EA0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98E99C-7DCB-4306-B8D0-21FC6F2131A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79B7FA-7474-4356-AF9E-E7EB4CA5E7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D1B2C0-C895-4DF8-A248-AA57506146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1EA8B5-C860-417B-8B90-5DCA3B9C98A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D8960D-1F5A-4672-86A5-378416D0E23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5DD6B6-9D0F-4AEE-933D-1F7601C7BB8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CCB321-1902-4467-B4C5-0F47480649D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853E9D-CDFF-4E00-BF46-4166AE85FC6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1A5C01-BFF5-4598-BD56-AC1AE67F16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C26695-2E6F-40DA-B4AE-1AC4AB37F3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C056EB-ACBE-41A0-B414-2228E3972A7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C6D157-B64C-448D-A300-F897437073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0AA29C-3D9B-4AD6-BD3D-1B7FFA2B1B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7C857B-F77D-4DAA-8327-48B0C01635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70C341-7A5F-40C4-B2B3-5D56BB8B8A7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EB0C12-9BF6-47B8-89A4-3E6A8F40FA0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E8A0BB-91AD-444D-B5ED-A4980C65B39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7F9B23-1661-4095-AAD5-F122EEAFDD9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49B43C-9DF4-4A43-9446-142E00ED9A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92882F-A0E3-4BA6-8427-2EDA612E62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3B7988-7859-48F9-9FDD-35B7DED7F1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8A777A-9DA4-44B7-AFE4-D5A22A90032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18A17A-6F4D-4644-97D5-89BE41DF3B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A2ABDD-6978-4E34-B9E8-B0716990EC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E3F7AA-AAF2-44A0-B9F2-53DB3AEC11C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FD3CB3-9575-4962-B8C6-D17A88B9706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7DCA47-3DCC-499A-97E4-384FB8BD71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A7484E-F5C9-4A99-801E-B3EA6328D2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93B346-C39D-4C63-9722-86F7F29B4C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99080" cy="685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1005840"/>
            <a:ext cx="20095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7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Lecture 2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85800" y="1417320"/>
            <a:ext cx="804456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Hadoop &amp; HDFS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13160" y="2057400"/>
            <a:ext cx="79531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Core concepts, architecture, commands, and practice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77240" y="3063240"/>
            <a:ext cx="2283840" cy="72936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87040" y="3173040"/>
            <a:ext cx="206424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Distributed storage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383280" y="3063240"/>
            <a:ext cx="2741040" cy="72936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493080" y="3173040"/>
            <a:ext cx="252144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Replication &amp; fault tolerance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446520" y="3063240"/>
            <a:ext cx="2558160" cy="72936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556320" y="3173040"/>
            <a:ext cx="23385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 / DataNode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9281160" y="3063240"/>
            <a:ext cx="2009520" cy="72936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9390960" y="3173040"/>
            <a:ext cx="17899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Read / write paths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713160" y="5989320"/>
            <a:ext cx="84103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Big Data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Learning outcomes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21280" y="965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After this lecture, students should be able to explain core Hadoop and HDFS concepts and apply basic HDFS commands.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777240" y="1600200"/>
            <a:ext cx="6079320" cy="41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216000" indent="-216000" defTabSz="9144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Explain why Hadoop uses distributed storage and large block-based files.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Differentiate NameNode, DataNode, Secondary NameNode, Backup Node, Standby NameNode, and YARN daemons.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Trace HDFS read/write mechanisms and the role of metadata, blocks, replication, and data locality.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Use basic HDFS shell commands such as copyFromLocal and understand common design trade-offs.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7315200" y="1234440"/>
            <a:ext cx="3381120" cy="546480"/>
          </a:xfrm>
          <a:prstGeom prst="roundRect">
            <a:avLst>
              <a:gd name="adj" fmla="val 13333"/>
            </a:avLst>
          </a:prstGeom>
          <a:solidFill>
            <a:srgbClr val="ffd8ce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1" name="Text 4"/>
          <p:cNvSpPr/>
          <p:nvPr/>
        </p:nvSpPr>
        <p:spPr>
          <a:xfrm>
            <a:off x="7425000" y="1344240"/>
            <a:ext cx="31615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Core coverage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7315200" y="1965960"/>
            <a:ext cx="3472560" cy="32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Hadoop definition and origin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architecture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Metadata, FsImage and EditLogs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Replication factor and redundancy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 locality and block size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shell and commands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4" name="Text 7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 Big Data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Redrawn Hadoop concept slide" descr="What is Apache Hadoop — simplified visual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Redrawn Hadoop concept slide" descr="Hadoop core module roles — simplified visual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MapReduce practical patterns" descr="Aggregation and map-only filtering examples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Data types in big data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21280" y="965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The same Hadoop platform can store many kinds of files; HDFS does not require relational table structure.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777240" y="1885320"/>
            <a:ext cx="2832480" cy="1415160"/>
          </a:xfrm>
          <a:prstGeom prst="roundRect">
            <a:avLst>
              <a:gd name="adj" fmla="val 5161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42" name="Text 3"/>
          <p:cNvSpPr/>
          <p:nvPr/>
        </p:nvSpPr>
        <p:spPr>
          <a:xfrm>
            <a:off x="887040" y="1995120"/>
            <a:ext cx="2612880" cy="11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Structured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CSV, relational tables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fixed schema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4663440" y="1885320"/>
            <a:ext cx="2832480" cy="141516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 w="15240">
            <a:solidFill>
              <a:srgbClr val="d9c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44" name="Text 5"/>
          <p:cNvSpPr/>
          <p:nvPr/>
        </p:nvSpPr>
        <p:spPr>
          <a:xfrm>
            <a:off x="4773240" y="1995120"/>
            <a:ext cx="2612880" cy="11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Semi-structured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JSON, XML, logs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flexible fields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8549640" y="1885320"/>
            <a:ext cx="2832480" cy="1415160"/>
          </a:xfrm>
          <a:prstGeom prst="roundRect">
            <a:avLst>
              <a:gd name="adj" fmla="val 5161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46" name="Text 7"/>
          <p:cNvSpPr/>
          <p:nvPr/>
        </p:nvSpPr>
        <p:spPr>
          <a:xfrm>
            <a:off x="8659440" y="1995120"/>
            <a:ext cx="2612880" cy="11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Unstructured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images, audio, video, PDFs, 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842400" y="3857040"/>
            <a:ext cx="9873360" cy="15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5000" lnSpcReduction="19999"/>
          </a:bodyPr>
          <a:p>
            <a:pPr marL="216000" indent="-216000" algn="just" defTabSz="914400">
              <a:lnSpc>
                <a:spcPct val="15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Image data is normally treated as unstructured data because the system stores pixels/files rather than fixed rows and columns.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5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stores files as blocks; higher-level engines decide how to parse and process the content.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5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For data analytics, structure is often created later by OCR, parsing, feature extraction, or schema-on-read.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 Big Data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Distributed File System → HDFS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21280" y="1037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 distributed file system stores files across networked machines, while presenting a single logical file system.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714960" y="1450440"/>
            <a:ext cx="6490080" cy="44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is designed for distributed storage and processing on commodity hardware.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It supports streaming access to large files and high-throughput sequential reads/writes.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Files are split into blocks and stored across multiple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Replication keeps extra copies so the system can tolerate disk, machine, or rack failures.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includes command-line access, permissions, and authentication support.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7680960" y="1417320"/>
            <a:ext cx="3198240" cy="546480"/>
          </a:xfrm>
          <a:prstGeom prst="roundRect">
            <a:avLst>
              <a:gd name="adj" fmla="val 13333"/>
            </a:avLst>
          </a:prstGeom>
          <a:solidFill>
            <a:srgbClr val="ffe994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55" name="Text 4"/>
          <p:cNvSpPr/>
          <p:nvPr/>
        </p:nvSpPr>
        <p:spPr>
          <a:xfrm>
            <a:off x="7790760" y="1527120"/>
            <a:ext cx="297864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Core idea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7680960" y="2148840"/>
            <a:ext cx="3198240" cy="1095120"/>
          </a:xfrm>
          <a:prstGeom prst="roundRect">
            <a:avLst>
              <a:gd name="adj" fmla="val 6667"/>
            </a:avLst>
          </a:prstGeom>
          <a:solidFill>
            <a:srgbClr val="f3f7fb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57" name="Text 6"/>
          <p:cNvSpPr/>
          <p:nvPr/>
        </p:nvSpPr>
        <p:spPr>
          <a:xfrm>
            <a:off x="7790760" y="2258640"/>
            <a:ext cx="297864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Move computation near data, not data near computation.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7680960" y="3497040"/>
            <a:ext cx="3198240" cy="14119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59" name="Text 8"/>
          <p:cNvSpPr/>
          <p:nvPr/>
        </p:nvSpPr>
        <p:spPr>
          <a:xfrm>
            <a:off x="7790760" y="3282840"/>
            <a:ext cx="297864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Result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7909560" y="4197600"/>
            <a:ext cx="2741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Reduced network transfer + higher throughput for large datasets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Big Data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Where Hadoop came from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21280" y="857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Hadoop, HDFS, Google File System and MapReduce are related concepts, but they are not the same.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822960" y="1371600"/>
            <a:ext cx="2741040" cy="91224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67" name="Text 3"/>
          <p:cNvSpPr/>
          <p:nvPr/>
        </p:nvSpPr>
        <p:spPr>
          <a:xfrm>
            <a:off x="932760" y="1481400"/>
            <a:ext cx="25214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Google File System (GFS)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4709160" y="1371600"/>
            <a:ext cx="2741040" cy="91224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69" name="Text 5"/>
          <p:cNvSpPr/>
          <p:nvPr/>
        </p:nvSpPr>
        <p:spPr>
          <a:xfrm>
            <a:off x="4818960" y="1481400"/>
            <a:ext cx="25214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"/>
          <p:cNvSpPr/>
          <p:nvPr/>
        </p:nvSpPr>
        <p:spPr>
          <a:xfrm>
            <a:off x="822960" y="3657600"/>
            <a:ext cx="2741040" cy="91224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15240">
            <a:solidFill>
              <a:srgbClr val="d9c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71" name="Text 7"/>
          <p:cNvSpPr/>
          <p:nvPr/>
        </p:nvSpPr>
        <p:spPr>
          <a:xfrm>
            <a:off x="932760" y="3767400"/>
            <a:ext cx="25214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Google MapReduce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4709160" y="3657600"/>
            <a:ext cx="2741040" cy="91224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15240">
            <a:solidFill>
              <a:srgbClr val="d9c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73" name="Text 9"/>
          <p:cNvSpPr/>
          <p:nvPr/>
        </p:nvSpPr>
        <p:spPr>
          <a:xfrm>
            <a:off x="4818960" y="3767400"/>
            <a:ext cx="25214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Hadoop MapReduce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3566160" y="1828800"/>
            <a:ext cx="1097280" cy="360"/>
          </a:xfrm>
          <a:prstGeom prst="line">
            <a:avLst/>
          </a:prstGeom>
          <a:ln w="17780">
            <a:solidFill>
              <a:srgbClr val="0033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75" name="Shape 11"/>
          <p:cNvSpPr/>
          <p:nvPr/>
        </p:nvSpPr>
        <p:spPr>
          <a:xfrm>
            <a:off x="3566160" y="4114800"/>
            <a:ext cx="1097280" cy="360"/>
          </a:xfrm>
          <a:prstGeom prst="line">
            <a:avLst/>
          </a:prstGeom>
          <a:ln w="17780">
            <a:solidFill>
              <a:srgbClr val="f57c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7543800" y="1188720"/>
            <a:ext cx="4113360" cy="44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216000" indent="-216000" algn="just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was inspired by GFS (2003), a Google distributed file system design.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Hadoop processing was inspired by Google MapReduce (2004).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Hadoop is an open-source Apache project, written primarily in Java, originally created by Doug Cutting and collaborators.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Lucene is a Java text search library; it is not a cluster computing framework.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8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Corrected Hadoop diagram" descr="Technically reviewed educational diagram"/>
          <p:cNvPicPr/>
          <p:nvPr/>
        </p:nvPicPr>
        <p:blipFill>
          <a:blip r:embed="rId1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NameNode: the HDFS metadata master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21280" y="71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The NameNode is the master service that maintains the file system namespace.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777240" y="1188720"/>
            <a:ext cx="6672960" cy="44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Keeps the directory tree: folders, files, file names, ownership, permissions, and access-control information.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Maintains mapping from each file to blocks and from blocks to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 replica locations.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Handles namespace operations: open, close, rename, delete, mkdir, permission checks.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Does not store user file content; actual file blocks are stored on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If the single NameNode is unavailable in a non-HA cluster, the cluster cannot serve normal HDFS requests.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7955280" y="1188720"/>
            <a:ext cx="3015360" cy="683640"/>
          </a:xfrm>
          <a:prstGeom prst="roundRect">
            <a:avLst>
              <a:gd name="adj" fmla="val 10667"/>
            </a:avLst>
          </a:prstGeom>
          <a:solidFill>
            <a:srgbClr val="b3cac7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85" name="Text 4"/>
          <p:cNvSpPr/>
          <p:nvPr/>
        </p:nvSpPr>
        <p:spPr>
          <a:xfrm>
            <a:off x="8065080" y="1298520"/>
            <a:ext cx="279576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 = metadata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7955280" y="2240280"/>
            <a:ext cx="3015360" cy="2009520"/>
          </a:xfrm>
          <a:prstGeom prst="roundRect">
            <a:avLst>
              <a:gd name="adj" fmla="val 3636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87" name="Text 6"/>
          <p:cNvSpPr/>
          <p:nvPr/>
        </p:nvSpPr>
        <p:spPr>
          <a:xfrm>
            <a:off x="8065080" y="2350080"/>
            <a:ext cx="279576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Master 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Stores metadata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Single Point of Failure in non-HA HDFS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89" name="Text 8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Big Data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What counts as HDFS metadata?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21280" y="71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Metadata describes the structure and location of files; it is not the same as the file content itself.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777240" y="1234440"/>
            <a:ext cx="2329560" cy="957960"/>
          </a:xfrm>
          <a:prstGeom prst="roundRect">
            <a:avLst>
              <a:gd name="adj" fmla="val 761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94" name="Text 3"/>
          <p:cNvSpPr/>
          <p:nvPr/>
        </p:nvSpPr>
        <p:spPr>
          <a:xfrm>
            <a:off x="887040" y="1344240"/>
            <a:ext cx="210996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Namespace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3566160" y="1234440"/>
            <a:ext cx="2329560" cy="957960"/>
          </a:xfrm>
          <a:prstGeom prst="roundRect">
            <a:avLst>
              <a:gd name="adj" fmla="val 761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96" name="Text 5"/>
          <p:cNvSpPr/>
          <p:nvPr/>
        </p:nvSpPr>
        <p:spPr>
          <a:xfrm>
            <a:off x="3675960" y="1344240"/>
            <a:ext cx="210996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Block mapping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6355080" y="1234440"/>
            <a:ext cx="2329560" cy="957960"/>
          </a:xfrm>
          <a:prstGeom prst="roundRect">
            <a:avLst>
              <a:gd name="adj" fmla="val 761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98" name="Text 7"/>
          <p:cNvSpPr/>
          <p:nvPr/>
        </p:nvSpPr>
        <p:spPr>
          <a:xfrm>
            <a:off x="6464880" y="1344240"/>
            <a:ext cx="210996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Replica locations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9144000" y="1234440"/>
            <a:ext cx="2329560" cy="957960"/>
          </a:xfrm>
          <a:prstGeom prst="roundRect">
            <a:avLst>
              <a:gd name="adj" fmla="val 761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9253800" y="1344240"/>
            <a:ext cx="210996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Permissions / ACLs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960120" y="2834640"/>
            <a:ext cx="9873360" cy="21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Metadata shows the structure of HDFS directories and files.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Metadata includes block count, block IDs, block locations, and replica placement.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FsImage and EditLogs are metadata files used by the NameNode.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 vague option such as “No. of file records” is not normally named as a standard HDFS metadata type.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Big Data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FsImage and EditLogs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21280" y="857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 metadata is persisted using a checkpoint image plus a log of namespace changes.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822960" y="1705320"/>
            <a:ext cx="3198240" cy="118656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932760" y="1815120"/>
            <a:ext cx="2978640" cy="96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FsImage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point-in-time snapshot of namespace metadata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4480560" y="1705320"/>
            <a:ext cx="3198240" cy="1186560"/>
          </a:xfrm>
          <a:prstGeom prst="roundRect">
            <a:avLst>
              <a:gd name="adj" fmla="val 6154"/>
            </a:avLst>
          </a:prstGeom>
          <a:solidFill>
            <a:srgbClr val="f7f5f2"/>
          </a:solidFill>
          <a:ln w="15240">
            <a:solidFill>
              <a:srgbClr val="d9c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4590360" y="1815120"/>
            <a:ext cx="2978640" cy="96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EditLogs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sequence of changes after the last checkpoint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6"/>
          <p:cNvSpPr/>
          <p:nvPr/>
        </p:nvSpPr>
        <p:spPr>
          <a:xfrm>
            <a:off x="7726680" y="2299680"/>
            <a:ext cx="1051560" cy="36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8823960" y="1705320"/>
            <a:ext cx="2421000" cy="1186560"/>
          </a:xfrm>
          <a:prstGeom prst="roundRect">
            <a:avLst>
              <a:gd name="adj" fmla="val 6154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8933760" y="1815120"/>
            <a:ext cx="2201400" cy="96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Checkpoint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merged metadata image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1005840" y="3657600"/>
            <a:ext cx="1019520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2500" lnSpcReduction="9999"/>
          </a:bodyPr>
          <a:p>
            <a:pPr defTabSz="914400">
              <a:lnSpc>
                <a:spcPct val="15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On restart, the NameNode loads FsImage and replays EditLogs to rebuild current metadata.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The checkpoint process periodically merges FsImage and EditLogs to prevent unbounded log growth.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Losing the only persistent copy of metadata is serious; recovery depends on available backups/checkpoints.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DataNode: the worker that stores actual blocks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21280" y="821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DataNodes are worker/slave services that manage local disk storage for HDFS blocks.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822960" y="1234440"/>
            <a:ext cx="6078600" cy="43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Stores actual HDFS block files on local disks.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Serves read/write requests from clients after the client has received block locations from the NameNode.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Creates, deletes, and replicates blocks according to NameNode instructions.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Sends frequent heartbeats and block reports to the NameNode.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 typical worker machine runs one DataNode process.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7543800" y="1234440"/>
            <a:ext cx="3335400" cy="683640"/>
          </a:xfrm>
          <a:prstGeom prst="roundRect">
            <a:avLst>
              <a:gd name="adj" fmla="val 10667"/>
            </a:avLst>
          </a:prstGeom>
          <a:solidFill>
            <a:srgbClr val="00897b"/>
          </a:solidFill>
          <a:ln w="15240">
            <a:solidFill>
              <a:srgbClr val="0089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7653600" y="1344240"/>
            <a:ext cx="311580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= actual 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7543800" y="2331720"/>
            <a:ext cx="3335400" cy="2009520"/>
          </a:xfrm>
          <a:prstGeom prst="roundRect">
            <a:avLst>
              <a:gd name="adj" fmla="val 3636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7653600" y="2441520"/>
            <a:ext cx="311580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Worker/slave 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Stores block replicas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Reports health and block inventory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Blocks and block size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21280" y="821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splits large files into blocks so they can be distributed and processed in parallel.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731520" y="1371600"/>
            <a:ext cx="2100960" cy="7293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841320" y="1481400"/>
            <a:ext cx="18813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Large file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2926080" y="1737360"/>
            <a:ext cx="914400" cy="36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3931920" y="1325880"/>
            <a:ext cx="1186560" cy="82080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4041720" y="1435680"/>
            <a:ext cx="9669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Block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5349240" y="1325880"/>
            <a:ext cx="1186560" cy="82080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5459040" y="1435680"/>
            <a:ext cx="9669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Block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6766560" y="1325880"/>
            <a:ext cx="1186560" cy="82080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6876360" y="1435680"/>
            <a:ext cx="9669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Block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8183880" y="1325880"/>
            <a:ext cx="1186560" cy="82080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8293680" y="1435680"/>
            <a:ext cx="9669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Block 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868680" y="3063240"/>
            <a:ext cx="9964800" cy="23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lnSpcReduction="9999"/>
          </a:bodyPr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 block is the minimum unit that HDFS stores, replicates, and tracks.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Large block sizes reduce the number of metadata entries for large files.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Large blocks reduce the relative cost of disk seek time and support long sequential streaming reads.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Older tutorials mention 64 MB; many modern Hadoop deployments use 128 MB or larger, configurable by dfs.blocksize.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43" name="Text 15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02920" y="580680"/>
            <a:ext cx="109267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Replication: availability through redundant block copies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521280" y="161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Replication stores multiple copies of blocks on different DataNodes, and often different racks.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 flipV="1">
            <a:off x="1691640" y="3026520"/>
            <a:ext cx="1005840" cy="4572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1691640" y="3072240"/>
            <a:ext cx="1005840" cy="114300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1691640" y="3072240"/>
            <a:ext cx="1005840" cy="233172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640080" y="2752200"/>
            <a:ext cx="1003680" cy="63792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749880" y="2862000"/>
            <a:ext cx="784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Block 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2788920" y="2569320"/>
            <a:ext cx="1826640" cy="91224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2898720" y="2679120"/>
            <a:ext cx="16070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2788920" y="3758040"/>
            <a:ext cx="1826640" cy="91224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2898720" y="3867840"/>
            <a:ext cx="16070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2788920" y="4946760"/>
            <a:ext cx="1826640" cy="91224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2898720" y="5056560"/>
            <a:ext cx="16070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5486400" y="2386440"/>
            <a:ext cx="548424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Default replication factor is commonly 3, but it is configurable per file or cluster.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Replication creates data redundancy intentionally; the purpose is fault tolerance and availability.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Clients can read from the nearest replica, improving throughput and reducing network traffic.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If one DataNode fails, another replica can serve the block.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Corrected Hadoop diagram" descr="Technically reviewed educational diagram"/>
          <p:cNvPicPr/>
          <p:nvPr/>
        </p:nvPicPr>
        <p:blipFill>
          <a:blip r:embed="rId1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HDFS write mechanism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21280" y="785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Writes are coordinated by the NameNode and streamed through a DataNode pipeline.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1737360" y="1554480"/>
            <a:ext cx="3017520" cy="360"/>
          </a:xfrm>
          <a:prstGeom prst="line">
            <a:avLst/>
          </a:prstGeom>
          <a:ln w="17780">
            <a:solidFill>
              <a:srgbClr val="0033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66" name="Shape 3"/>
          <p:cNvSpPr/>
          <p:nvPr/>
        </p:nvSpPr>
        <p:spPr>
          <a:xfrm flipH="1">
            <a:off x="1737360" y="1874520"/>
            <a:ext cx="3017520" cy="360"/>
          </a:xfrm>
          <a:prstGeom prst="line">
            <a:avLst/>
          </a:prstGeom>
          <a:ln w="17780">
            <a:solidFill>
              <a:srgbClr val="0033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1737360" y="3657600"/>
            <a:ext cx="2148840" cy="360"/>
          </a:xfrm>
          <a:prstGeom prst="line">
            <a:avLst/>
          </a:prstGeom>
          <a:ln w="17780">
            <a:solidFill>
              <a:srgbClr val="00897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5303520" y="3657600"/>
            <a:ext cx="1371600" cy="360"/>
          </a:xfrm>
          <a:prstGeom prst="line">
            <a:avLst/>
          </a:prstGeom>
          <a:ln w="17780">
            <a:solidFill>
              <a:srgbClr val="00897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8092440" y="3657600"/>
            <a:ext cx="1371600" cy="360"/>
          </a:xfrm>
          <a:prstGeom prst="line">
            <a:avLst/>
          </a:prstGeom>
          <a:ln w="17780">
            <a:solidFill>
              <a:srgbClr val="00897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594360" y="1417320"/>
            <a:ext cx="1095120" cy="7293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704160" y="1527120"/>
            <a:ext cx="8755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Client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4800600" y="1143000"/>
            <a:ext cx="2055240" cy="1095120"/>
          </a:xfrm>
          <a:prstGeom prst="roundRect">
            <a:avLst>
              <a:gd name="adj" fmla="val 6667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4910400" y="1252800"/>
            <a:ext cx="183564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create + allocate targets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3886200" y="3291840"/>
            <a:ext cx="1415160" cy="729360"/>
          </a:xfrm>
          <a:prstGeom prst="roundRect">
            <a:avLst>
              <a:gd name="adj" fmla="val 10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3996000" y="3401640"/>
            <a:ext cx="11955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6675120" y="3291840"/>
            <a:ext cx="1415160" cy="729360"/>
          </a:xfrm>
          <a:prstGeom prst="roundRect">
            <a:avLst>
              <a:gd name="adj" fmla="val 10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6784920" y="3401640"/>
            <a:ext cx="11955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9464040" y="3291840"/>
            <a:ext cx="1415160" cy="729360"/>
          </a:xfrm>
          <a:prstGeom prst="roundRect">
            <a:avLst>
              <a:gd name="adj" fmla="val 10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9573840" y="3401640"/>
            <a:ext cx="11955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914400" y="4617720"/>
            <a:ext cx="1005624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Client requests file creation from the NameNode.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 verifies permissions and chooses DataNodes for replicas.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Client streams packets to the first DataNode; packets flow through the replication pipeline.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Acknowledgements return through the pipeline; NameNode records final block metadata.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82" name="Text 19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Heartbeats and block reports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21280" y="89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DataNodes keep the NameNode informed about health and block inventory.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2788920" y="2057400"/>
            <a:ext cx="3017520" cy="360"/>
          </a:xfrm>
          <a:prstGeom prst="line">
            <a:avLst/>
          </a:prstGeom>
          <a:ln w="17780">
            <a:solidFill>
              <a:srgbClr val="00897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2788920" y="2880360"/>
            <a:ext cx="3017520" cy="360"/>
          </a:xfrm>
          <a:prstGeom prst="line">
            <a:avLst/>
          </a:prstGeom>
          <a:ln w="17780">
            <a:solidFill>
              <a:srgbClr val="00897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88" name="Shape 4"/>
          <p:cNvSpPr/>
          <p:nvPr/>
        </p:nvSpPr>
        <p:spPr>
          <a:xfrm>
            <a:off x="2788920" y="3703320"/>
            <a:ext cx="3017520" cy="360"/>
          </a:xfrm>
          <a:prstGeom prst="line">
            <a:avLst/>
          </a:prstGeom>
          <a:ln w="17780">
            <a:solidFill>
              <a:srgbClr val="00897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822960" y="1737360"/>
            <a:ext cx="1826640" cy="637920"/>
          </a:xfrm>
          <a:prstGeom prst="roundRect">
            <a:avLst>
              <a:gd name="adj" fmla="val 11429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932760" y="1847160"/>
            <a:ext cx="16070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822960" y="2560320"/>
            <a:ext cx="1826640" cy="637920"/>
          </a:xfrm>
          <a:prstGeom prst="roundRect">
            <a:avLst>
              <a:gd name="adj" fmla="val 11429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932760" y="2670120"/>
            <a:ext cx="16070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822960" y="3383280"/>
            <a:ext cx="1826640" cy="637920"/>
          </a:xfrm>
          <a:prstGeom prst="roundRect">
            <a:avLst>
              <a:gd name="adj" fmla="val 11429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932760" y="3493080"/>
            <a:ext cx="16070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1"/>
          <p:cNvSpPr/>
          <p:nvPr/>
        </p:nvSpPr>
        <p:spPr>
          <a:xfrm>
            <a:off x="5897880" y="2240280"/>
            <a:ext cx="2100960" cy="1095120"/>
          </a:xfrm>
          <a:prstGeom prst="roundRect">
            <a:avLst>
              <a:gd name="adj" fmla="val 6667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6007680" y="2350080"/>
            <a:ext cx="188136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8321040" y="1280160"/>
            <a:ext cx="2923920" cy="36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Heartbeat: frequent signal that the DataNode is alive.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Block report: inventory of blocks stored by the DataNode.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If heartbeats stop, the NameNode treats the DataNode as failed and schedules re-replication.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Key point: DataNodes send frequent heartbeats to NameNode = True.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18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502920" y="580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Secondary NameNode, Checkpoint Node, Backup Node, Standby NameNode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21280" y="1361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These names are often confused; the roles are related but not identical.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685800" y="1745280"/>
            <a:ext cx="2923920" cy="683640"/>
          </a:xfrm>
          <a:prstGeom prst="roundRect">
            <a:avLst>
              <a:gd name="adj" fmla="val 10667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795600" y="1855080"/>
            <a:ext cx="270432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Secondary NameNode / Checkpoint 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685800" y="2522520"/>
            <a:ext cx="2923920" cy="12322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795600" y="2632320"/>
            <a:ext cx="270432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Periodically downloads FsImage + EditLogs, merges them, and creates a checkpoint image. It is not a hot standby for automatic failover.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6"/>
          <p:cNvSpPr/>
          <p:nvPr/>
        </p:nvSpPr>
        <p:spPr>
          <a:xfrm>
            <a:off x="4617720" y="1745280"/>
            <a:ext cx="2923920" cy="683640"/>
          </a:xfrm>
          <a:prstGeom prst="roundRect">
            <a:avLst>
              <a:gd name="adj" fmla="val 10667"/>
            </a:avLst>
          </a:prstGeom>
          <a:solidFill>
            <a:srgbClr val="f7f5f2"/>
          </a:solidFill>
          <a:ln w="15240">
            <a:solidFill>
              <a:srgbClr val="d9c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4727520" y="1855080"/>
            <a:ext cx="270432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Backup 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4617720" y="2522520"/>
            <a:ext cx="2923920" cy="12322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4727520" y="2632320"/>
            <a:ext cx="270432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Maintains an up-to-date in-memory copy of the namespace by receiving edits. When used, a separate checkpoint/secondary node may not be needed.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8549640" y="1745280"/>
            <a:ext cx="2923920" cy="683640"/>
          </a:xfrm>
          <a:prstGeom prst="roundRect">
            <a:avLst>
              <a:gd name="adj" fmla="val 10667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8659440" y="1855080"/>
            <a:ext cx="270432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Standby NameNode (HA)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8549640" y="2522520"/>
            <a:ext cx="2923920" cy="12322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8659440" y="2632320"/>
            <a:ext cx="270432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Runs in high availability mode and can become active during failover, using shared edits and block reports.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822960" y="4251960"/>
            <a:ext cx="10422000" cy="683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9c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960120" y="4361760"/>
            <a:ext cx="101476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Key distinction: Secondary NameNode ≠ Backup Node; Secondary NameNode ≠ active standby. It supports checkpointing, not automatic failover.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914400" y="5166360"/>
            <a:ext cx="996480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When a Backup Node is used, a separate Secondary NameNode or Checkpoint Node is usually not required.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If the NameNode loses its only FsImage copy, recovery may use a checkpoint if available; otherwise metadata loss is severe.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7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19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Single Point of Failure and high availability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521280" y="1145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In old/non-HA HDFS, the NameNode is the Single Point of Failure.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868680" y="2144160"/>
            <a:ext cx="2741040" cy="637920"/>
          </a:xfrm>
          <a:prstGeom prst="roundRect">
            <a:avLst>
              <a:gd name="adj" fmla="val 11429"/>
            </a:avLst>
          </a:prstGeom>
          <a:solidFill>
            <a:srgbClr val="b3cac7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978480" y="2253960"/>
            <a:ext cx="25214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Non-HA HDFS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868680" y="2921400"/>
            <a:ext cx="2741040" cy="1323720"/>
          </a:xfrm>
          <a:prstGeom prst="roundRect">
            <a:avLst>
              <a:gd name="adj" fmla="val 5517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978480" y="3031200"/>
            <a:ext cx="2521440" cy="11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One active NameNode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If it fails, the namespace service is unavailable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4663440" y="2144160"/>
            <a:ext cx="2741040" cy="637920"/>
          </a:xfrm>
          <a:prstGeom prst="roundRect">
            <a:avLst>
              <a:gd name="adj" fmla="val 11429"/>
            </a:avLst>
          </a:prstGeom>
          <a:solidFill>
            <a:srgbClr val="00897b"/>
          </a:solidFill>
          <a:ln w="15240">
            <a:solidFill>
              <a:srgbClr val="0089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4773240" y="2253960"/>
            <a:ext cx="25214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 HDFS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4663440" y="2921400"/>
            <a:ext cx="2741040" cy="1323720"/>
          </a:xfrm>
          <a:prstGeom prst="roundRect">
            <a:avLst>
              <a:gd name="adj" fmla="val 5517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4773240" y="3031200"/>
            <a:ext cx="2521440" cy="11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Active NameNode + one or more Standby NameNodes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Failover reduces downtime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8458200" y="2144160"/>
            <a:ext cx="2741040" cy="63792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8568000" y="2253960"/>
            <a:ext cx="25214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Not SPOF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8458200" y="2921400"/>
            <a:ext cx="2741040" cy="132372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8568000" y="3031200"/>
            <a:ext cx="2521440" cy="11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failure is expected; replication handles it.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Secondary NameNode is not the main active metadata service.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1097280" y="4572000"/>
            <a:ext cx="969048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 availability is critical because every file operation needs metadata.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Modern Hadoop supports HA with Standby NameNodes and shared edit logs.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Replication protects block data, not the metadata service itself.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5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HDFS command-line interface: FS Shell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521280" y="821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Hadoop provides a filesystem shell to interact with HDFS from the command line.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868680" y="1234440"/>
            <a:ext cx="2923920" cy="729360"/>
          </a:xfrm>
          <a:prstGeom prst="roundRect">
            <a:avLst>
              <a:gd name="adj" fmla="val 10000"/>
            </a:avLst>
          </a:prstGeom>
          <a:solidFill>
            <a:srgbClr val="b3cac7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978480" y="1344240"/>
            <a:ext cx="27043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FS Shell / HDFS Shell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868680" y="2331720"/>
            <a:ext cx="5392800" cy="28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lnSpcReduction="9999"/>
          </a:bodyPr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List files: hdfs dfs -ls /path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Create directory: hdfs dfs -mkdir /path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Upload local file: hdfs dfs -copyFromLocal local.txt /user/hadoop/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Download file: hdfs dfs -copyToLocal /hdfs/file local_file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Display content: hdfs dfs -cat /path/file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6583680" y="1417320"/>
            <a:ext cx="4295520" cy="912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9c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6720840" y="1527120"/>
            <a:ext cx="402120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Key point: command names are case-sensitive. The intended command is copyFromLocal, not CopyFromLocal or copyfromlocal.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6583680" y="2788920"/>
            <a:ext cx="4295520" cy="683640"/>
          </a:xfrm>
          <a:prstGeom prst="roundRect">
            <a:avLst>
              <a:gd name="adj" fmla="val 10667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6693480" y="2898720"/>
            <a:ext cx="407592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Command pattern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6812280" y="3703320"/>
            <a:ext cx="38383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dfs -&lt;command&gt; &lt;arguments&gt;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0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Data locality: bring computation near storage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521280" y="107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Large data is expensive to move; Hadoop tries to run tasks where the data blocks already exist.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2011680" y="3017520"/>
            <a:ext cx="2377440" cy="360"/>
          </a:xfrm>
          <a:prstGeom prst="line">
            <a:avLst/>
          </a:prstGeom>
          <a:ln w="17780">
            <a:solidFill>
              <a:srgbClr val="00897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55" name="Shape 3"/>
          <p:cNvSpPr/>
          <p:nvPr/>
        </p:nvSpPr>
        <p:spPr>
          <a:xfrm flipH="1">
            <a:off x="6629400" y="3017520"/>
            <a:ext cx="2377440" cy="360"/>
          </a:xfrm>
          <a:prstGeom prst="line">
            <a:avLst/>
          </a:prstGeom>
          <a:ln w="17780">
            <a:solidFill>
              <a:srgbClr val="c6282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868680" y="2331720"/>
            <a:ext cx="1918080" cy="1323720"/>
          </a:xfrm>
          <a:prstGeom prst="roundRect">
            <a:avLst>
              <a:gd name="adj" fmla="val 5517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978480" y="2441520"/>
            <a:ext cx="1698480" cy="11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Storage node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 block 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4389120" y="2331720"/>
            <a:ext cx="2009520" cy="1323720"/>
          </a:xfrm>
          <a:prstGeom prst="roundRect">
            <a:avLst>
              <a:gd name="adj" fmla="val 5517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4498920" y="2441520"/>
            <a:ext cx="1789920" cy="11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Computation task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Map / Spark task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9006840" y="2331720"/>
            <a:ext cx="1963800" cy="1323720"/>
          </a:xfrm>
          <a:prstGeom prst="roundRect">
            <a:avLst>
              <a:gd name="adj" fmla="val 5517"/>
            </a:avLst>
          </a:prstGeom>
          <a:solidFill>
            <a:srgbClr val="ffebee"/>
          </a:solidFill>
          <a:ln w="15240">
            <a:solidFill>
              <a:srgbClr val="ef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9116640" y="2441520"/>
            <a:ext cx="1744200" cy="11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Remote data transfer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less preferred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914400" y="4572000"/>
            <a:ext cx="987336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5000" lnSpcReduction="9999"/>
          </a:bodyPr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 locality means locating computation near the data, not simply locating data near storage or client.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It reduces network traffic and improves throughput for large datasets.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00000"/>
              </a:buClr>
              <a:buFont typeface="OpenSymbol"/>
              <a:buChar char="◦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block placement and YARN scheduling cooperate to make locality possible.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1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64" name="Text 12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HDFS design trade-offs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521280" y="125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is excellent for large, sequential workloads but unsuitable for some workloads.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868680" y="1908720"/>
            <a:ext cx="4386960" cy="592200"/>
          </a:xfrm>
          <a:prstGeom prst="roundRect">
            <a:avLst>
              <a:gd name="adj" fmla="val 12308"/>
            </a:avLst>
          </a:prstGeom>
          <a:solidFill>
            <a:srgbClr val="00897b"/>
          </a:solidFill>
          <a:ln w="15240">
            <a:solidFill>
              <a:srgbClr val="0089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69" name="Text 3"/>
          <p:cNvSpPr/>
          <p:nvPr/>
        </p:nvSpPr>
        <p:spPr>
          <a:xfrm>
            <a:off x="978480" y="2018520"/>
            <a:ext cx="416736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Good fit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4"/>
          <p:cNvSpPr/>
          <p:nvPr/>
        </p:nvSpPr>
        <p:spPr>
          <a:xfrm>
            <a:off x="1005840" y="2777400"/>
            <a:ext cx="411264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Very large files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High-throughput streaming reads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Batch analytics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Write-once, read-many datasets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Fault tolerance on commodity hardware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5"/>
          <p:cNvSpPr/>
          <p:nvPr/>
        </p:nvSpPr>
        <p:spPr>
          <a:xfrm>
            <a:off x="6858000" y="1908720"/>
            <a:ext cx="4386960" cy="592200"/>
          </a:xfrm>
          <a:prstGeom prst="roundRect">
            <a:avLst>
              <a:gd name="adj" fmla="val 12308"/>
            </a:avLst>
          </a:prstGeom>
          <a:solidFill>
            <a:srgbClr val="c62828"/>
          </a:solidFill>
          <a:ln w="1524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72" name="Text 6"/>
          <p:cNvSpPr/>
          <p:nvPr/>
        </p:nvSpPr>
        <p:spPr>
          <a:xfrm>
            <a:off x="6967800" y="2018520"/>
            <a:ext cx="416736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Poor fit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7"/>
          <p:cNvSpPr/>
          <p:nvPr/>
        </p:nvSpPr>
        <p:spPr>
          <a:xfrm>
            <a:off x="6995160" y="2777400"/>
            <a:ext cx="411264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Many tiny files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Low-latency random reads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Frequent in-place updates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Small transactional workloads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Unplanned NameNode metadata growth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8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75" name="Text 9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0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502920" y="544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YARN: cluster resource management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521280" y="1145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YARN separates resource management from application logic.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2194560" y="2260800"/>
            <a:ext cx="2057400" cy="36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6080760" y="2260800"/>
            <a:ext cx="2148840" cy="36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81" name="Shape 4"/>
          <p:cNvSpPr/>
          <p:nvPr/>
        </p:nvSpPr>
        <p:spPr>
          <a:xfrm flipH="1">
            <a:off x="4114800" y="3038040"/>
            <a:ext cx="1463040" cy="109728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5577840" y="3038040"/>
            <a:ext cx="1554480" cy="109728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5577840" y="3038040"/>
            <a:ext cx="4297680" cy="109728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777240" y="1849320"/>
            <a:ext cx="1643760" cy="82080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887040" y="1959120"/>
            <a:ext cx="14241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Client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4251960" y="1666440"/>
            <a:ext cx="2009520" cy="118656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4361760" y="1776240"/>
            <a:ext cx="1789920" cy="96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ResourceManager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cluster-wide scheduler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1"/>
          <p:cNvSpPr/>
          <p:nvPr/>
        </p:nvSpPr>
        <p:spPr>
          <a:xfrm>
            <a:off x="8229600" y="1666440"/>
            <a:ext cx="2329560" cy="1186560"/>
          </a:xfrm>
          <a:prstGeom prst="roundRect">
            <a:avLst>
              <a:gd name="adj" fmla="val 6154"/>
            </a:avLst>
          </a:prstGeom>
          <a:solidFill>
            <a:srgbClr val="f7f5f2"/>
          </a:solidFill>
          <a:ln w="15240">
            <a:solidFill>
              <a:srgbClr val="d9c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8339400" y="1776240"/>
            <a:ext cx="2109960" cy="96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ApplicationMaster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one per application attempt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3154680" y="4226760"/>
            <a:ext cx="1826640" cy="91224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3264480" y="4336560"/>
            <a:ext cx="16070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NodeManager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5"/>
          <p:cNvSpPr/>
          <p:nvPr/>
        </p:nvSpPr>
        <p:spPr>
          <a:xfrm>
            <a:off x="6217920" y="4226760"/>
            <a:ext cx="1826640" cy="91224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6327720" y="4336560"/>
            <a:ext cx="16070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NodeManager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7"/>
          <p:cNvSpPr/>
          <p:nvPr/>
        </p:nvSpPr>
        <p:spPr>
          <a:xfrm>
            <a:off x="9281160" y="4226760"/>
            <a:ext cx="1826640" cy="91224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9390960" y="4336560"/>
            <a:ext cx="160704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NodeManager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9"/>
          <p:cNvSpPr/>
          <p:nvPr/>
        </p:nvSpPr>
        <p:spPr>
          <a:xfrm>
            <a:off x="868680" y="5486400"/>
            <a:ext cx="10330560" cy="500760"/>
          </a:xfrm>
          <a:prstGeom prst="rect">
            <a:avLst/>
          </a:prstGeom>
          <a:solidFill>
            <a:srgbClr val="fff8e1"/>
          </a:solidFill>
          <a:ln w="12700">
            <a:solidFill>
              <a:srgbClr val="f9c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1005840" y="5596200"/>
            <a:ext cx="100562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Key distinction: NodeManager and ResourceManager are YARN daemons, not HDFS storage daemons.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1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299" name="Text 22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3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MapReduce: distributed batch processing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"/>
          <p:cNvSpPr/>
          <p:nvPr/>
        </p:nvSpPr>
        <p:spPr>
          <a:xfrm>
            <a:off x="521280" y="929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MapReduce processes HDFS data using map tasks, shuffle/sort, and reduce tasks.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1920240" y="2834640"/>
            <a:ext cx="1005840" cy="36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04" name="Shape 3"/>
          <p:cNvSpPr/>
          <p:nvPr/>
        </p:nvSpPr>
        <p:spPr>
          <a:xfrm>
            <a:off x="4572000" y="2834640"/>
            <a:ext cx="1005840" cy="36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7498080" y="2834640"/>
            <a:ext cx="1005840" cy="36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10104120" y="2834640"/>
            <a:ext cx="731520" cy="360"/>
          </a:xfrm>
          <a:prstGeom prst="line">
            <a:avLst/>
          </a:prstGeom>
          <a:ln w="1778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777240" y="2194560"/>
            <a:ext cx="1323720" cy="123228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887040" y="2304360"/>
            <a:ext cx="110412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Input splits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from HDFS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2926080" y="2194560"/>
            <a:ext cx="1643760" cy="1232280"/>
          </a:xfrm>
          <a:prstGeom prst="roundRect">
            <a:avLst>
              <a:gd name="adj" fmla="val 5926"/>
            </a:avLst>
          </a:prstGeom>
          <a:solidFill>
            <a:srgbClr val="f3f7fb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3035880" y="2304360"/>
            <a:ext cx="142416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key-value pairs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5577840" y="2194560"/>
            <a:ext cx="1918080" cy="1232280"/>
          </a:xfrm>
          <a:prstGeom prst="roundRect">
            <a:avLst>
              <a:gd name="adj" fmla="val 5926"/>
            </a:avLst>
          </a:prstGeom>
          <a:solidFill>
            <a:srgbClr val="f7f5f2"/>
          </a:solidFill>
          <a:ln w="15240">
            <a:solidFill>
              <a:srgbClr val="d9c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12" name="Text 11"/>
          <p:cNvSpPr/>
          <p:nvPr/>
        </p:nvSpPr>
        <p:spPr>
          <a:xfrm>
            <a:off x="5687640" y="2304360"/>
            <a:ext cx="169848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Shuffle / Sort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group by key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2"/>
          <p:cNvSpPr/>
          <p:nvPr/>
        </p:nvSpPr>
        <p:spPr>
          <a:xfrm>
            <a:off x="8503920" y="2194560"/>
            <a:ext cx="1598040" cy="1232280"/>
          </a:xfrm>
          <a:prstGeom prst="roundRect">
            <a:avLst>
              <a:gd name="adj" fmla="val 5926"/>
            </a:avLst>
          </a:prstGeom>
          <a:solidFill>
            <a:srgbClr val="eaf6f3"/>
          </a:solidFill>
          <a:ln w="15240">
            <a:solidFill>
              <a:srgbClr val="a7d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14" name="Text 13"/>
          <p:cNvSpPr/>
          <p:nvPr/>
        </p:nvSpPr>
        <p:spPr>
          <a:xfrm>
            <a:off x="8613720" y="2304360"/>
            <a:ext cx="137844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Reduce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aggregate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4"/>
          <p:cNvSpPr/>
          <p:nvPr/>
        </p:nvSpPr>
        <p:spPr>
          <a:xfrm>
            <a:off x="10835640" y="2194560"/>
            <a:ext cx="1049400" cy="123228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16" name="Text 15"/>
          <p:cNvSpPr/>
          <p:nvPr/>
        </p:nvSpPr>
        <p:spPr>
          <a:xfrm>
            <a:off x="10945440" y="2304360"/>
            <a:ext cx="82980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Output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directory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6"/>
          <p:cNvSpPr/>
          <p:nvPr/>
        </p:nvSpPr>
        <p:spPr>
          <a:xfrm>
            <a:off x="914400" y="4617720"/>
            <a:ext cx="9873360" cy="10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MapReduce is Hadoop’s programming model and execution framework for distributed batch processing of large datasets.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Map phase: each mapper reads an input split and produces intermediate key–value pairs.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Shuffle/Sort phase: the framework groups all values with the same key together.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Reduce phase: each reducer aggregates or combines the grouped values and writes the final output to HDFS.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7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19" name="Text 18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9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1"/>
          <p:cNvSpPr/>
          <p:nvPr/>
        </p:nvSpPr>
        <p:spPr>
          <a:xfrm>
            <a:off x="6688800" y="1307520"/>
            <a:ext cx="4962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Simple formula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Input → Map → Shuffle/Sort → Reduce → Output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Corrected Hadoop diagram" descr="Technically reviewed educational diagram"/>
          <p:cNvPicPr/>
          <p:nvPr/>
        </p:nvPicPr>
        <p:blipFill>
          <a:blip r:embed="rId1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Hadoop ecosystem after core concepts" descr="Three-layer Hadoop ecosystem summary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502920" y="292680"/>
            <a:ext cx="111553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HDFS operations: enough commands for practical use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521280" y="857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Commands help students connect architecture concepts with hands-on practice.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731520" y="1467000"/>
            <a:ext cx="2192400" cy="45504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841320" y="1576800"/>
            <a:ext cx="19728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Purpose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4"/>
          <p:cNvSpPr/>
          <p:nvPr/>
        </p:nvSpPr>
        <p:spPr>
          <a:xfrm>
            <a:off x="3108960" y="1467000"/>
            <a:ext cx="7953120" cy="45504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3218760" y="1576800"/>
            <a:ext cx="773352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Command example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6"/>
          <p:cNvSpPr/>
          <p:nvPr/>
        </p:nvSpPr>
        <p:spPr>
          <a:xfrm>
            <a:off x="731520" y="2107080"/>
            <a:ext cx="2192400" cy="47340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841320" y="2216880"/>
            <a:ext cx="1972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List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8"/>
          <p:cNvSpPr/>
          <p:nvPr/>
        </p:nvSpPr>
        <p:spPr>
          <a:xfrm>
            <a:off x="3108960" y="2107080"/>
            <a:ext cx="7953120" cy="473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33" name="Text 9"/>
          <p:cNvSpPr/>
          <p:nvPr/>
        </p:nvSpPr>
        <p:spPr>
          <a:xfrm>
            <a:off x="3218760" y="2216880"/>
            <a:ext cx="7733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dfs -ls /user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0"/>
          <p:cNvSpPr/>
          <p:nvPr/>
        </p:nvSpPr>
        <p:spPr>
          <a:xfrm>
            <a:off x="731520" y="2765520"/>
            <a:ext cx="2192400" cy="47340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35" name="Text 11"/>
          <p:cNvSpPr/>
          <p:nvPr/>
        </p:nvSpPr>
        <p:spPr>
          <a:xfrm>
            <a:off x="841320" y="2875320"/>
            <a:ext cx="1972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Create folder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2"/>
          <p:cNvSpPr/>
          <p:nvPr/>
        </p:nvSpPr>
        <p:spPr>
          <a:xfrm>
            <a:off x="3108960" y="2765520"/>
            <a:ext cx="7953120" cy="473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3218760" y="2875320"/>
            <a:ext cx="7733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dfs -mkdir /user/student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4"/>
          <p:cNvSpPr/>
          <p:nvPr/>
        </p:nvSpPr>
        <p:spPr>
          <a:xfrm>
            <a:off x="731520" y="3423960"/>
            <a:ext cx="2192400" cy="47340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841320" y="3533400"/>
            <a:ext cx="1972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Upload local → HDFS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6"/>
          <p:cNvSpPr/>
          <p:nvPr/>
        </p:nvSpPr>
        <p:spPr>
          <a:xfrm>
            <a:off x="3108960" y="3423960"/>
            <a:ext cx="7953120" cy="473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41" name="Text 17"/>
          <p:cNvSpPr/>
          <p:nvPr/>
        </p:nvSpPr>
        <p:spPr>
          <a:xfrm>
            <a:off x="3218760" y="3533400"/>
            <a:ext cx="7733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dfs -copyFromLocal data.csv /user/student/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8"/>
          <p:cNvSpPr/>
          <p:nvPr/>
        </p:nvSpPr>
        <p:spPr>
          <a:xfrm>
            <a:off x="731520" y="4082040"/>
            <a:ext cx="2192400" cy="47340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841320" y="4191840"/>
            <a:ext cx="1972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Read content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0"/>
          <p:cNvSpPr/>
          <p:nvPr/>
        </p:nvSpPr>
        <p:spPr>
          <a:xfrm>
            <a:off x="3108960" y="4082040"/>
            <a:ext cx="7953120" cy="473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45" name="Text 21"/>
          <p:cNvSpPr/>
          <p:nvPr/>
        </p:nvSpPr>
        <p:spPr>
          <a:xfrm>
            <a:off x="3218760" y="4191840"/>
            <a:ext cx="7733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dfs -cat /user/student/data.csv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2"/>
          <p:cNvSpPr/>
          <p:nvPr/>
        </p:nvSpPr>
        <p:spPr>
          <a:xfrm>
            <a:off x="731520" y="4740480"/>
            <a:ext cx="2192400" cy="47340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47" name="Text 23"/>
          <p:cNvSpPr/>
          <p:nvPr/>
        </p:nvSpPr>
        <p:spPr>
          <a:xfrm>
            <a:off x="841320" y="4850280"/>
            <a:ext cx="1972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Check disk usage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4"/>
          <p:cNvSpPr/>
          <p:nvPr/>
        </p:nvSpPr>
        <p:spPr>
          <a:xfrm>
            <a:off x="3108960" y="4740480"/>
            <a:ext cx="7953120" cy="473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49" name="Text 25"/>
          <p:cNvSpPr/>
          <p:nvPr/>
        </p:nvSpPr>
        <p:spPr>
          <a:xfrm>
            <a:off x="3218760" y="4850280"/>
            <a:ext cx="7733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dfs -du -h /user/student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6"/>
          <p:cNvSpPr/>
          <p:nvPr/>
        </p:nvSpPr>
        <p:spPr>
          <a:xfrm>
            <a:off x="731520" y="5398920"/>
            <a:ext cx="2192400" cy="47340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51" name="Text 27"/>
          <p:cNvSpPr/>
          <p:nvPr/>
        </p:nvSpPr>
        <p:spPr>
          <a:xfrm>
            <a:off x="841320" y="5508720"/>
            <a:ext cx="1972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Change replication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8"/>
          <p:cNvSpPr/>
          <p:nvPr/>
        </p:nvSpPr>
        <p:spPr>
          <a:xfrm>
            <a:off x="3108960" y="5398920"/>
            <a:ext cx="7953120" cy="473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53" name="Text 29"/>
          <p:cNvSpPr/>
          <p:nvPr/>
        </p:nvSpPr>
        <p:spPr>
          <a:xfrm>
            <a:off x="3218760" y="5508720"/>
            <a:ext cx="7733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dfs -setrep -w 3 /user/student/data.csv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0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55" name="Text 31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2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28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Review: key concepts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21280" y="71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Use this slide for an end-of-lecture review.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"/>
          <p:cNvSpPr/>
          <p:nvPr/>
        </p:nvSpPr>
        <p:spPr>
          <a:xfrm>
            <a:off x="822960" y="1188720"/>
            <a:ext cx="10513440" cy="47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is inspired by Google File System; Hadoop MapReduce is inspired by Google MapReduce.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 stores metadata; DataNode stores actual block data.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DataNodes send frequent heartbeats to the NameNode.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Clients first contact NameNode for metadata; they read/write blocks through DataNodes.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Default replication factor is commonly 3; replication intentionally creates redundancy.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Large 128 MB blocks reduce relative disk seek overhead.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 locality means moving computation near stored data.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copyFromLocal is the case-sensitive command for local-to-HDFS upload.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61" name="Text 4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29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Practical lab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521280" y="71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 short lab after the lecture reinforces architecture concepts and command-line skills.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2"/>
          <p:cNvSpPr/>
          <p:nvPr/>
        </p:nvSpPr>
        <p:spPr>
          <a:xfrm>
            <a:off x="868680" y="1143000"/>
            <a:ext cx="500760" cy="500760"/>
          </a:xfrm>
          <a:prstGeom prst="roundRect">
            <a:avLst>
              <a:gd name="adj" fmla="val 14545"/>
            </a:avLst>
          </a:prstGeom>
          <a:solidFill>
            <a:srgbClr val="003366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978480" y="1252800"/>
            <a:ext cx="28116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1554480" y="1225440"/>
            <a:ext cx="89589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Start pseudo-distributed Hadoop or use a prepared Colab-style simulation.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5"/>
          <p:cNvSpPr/>
          <p:nvPr/>
        </p:nvSpPr>
        <p:spPr>
          <a:xfrm>
            <a:off x="868680" y="1965960"/>
            <a:ext cx="500760" cy="500760"/>
          </a:xfrm>
          <a:prstGeom prst="roundRect">
            <a:avLst>
              <a:gd name="adj" fmla="val 14545"/>
            </a:avLst>
          </a:prstGeom>
          <a:solidFill>
            <a:srgbClr val="003366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69" name="Text 6"/>
          <p:cNvSpPr/>
          <p:nvPr/>
        </p:nvSpPr>
        <p:spPr>
          <a:xfrm>
            <a:off x="978480" y="2075760"/>
            <a:ext cx="28116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7"/>
          <p:cNvSpPr/>
          <p:nvPr/>
        </p:nvSpPr>
        <p:spPr>
          <a:xfrm>
            <a:off x="1554480" y="2048400"/>
            <a:ext cx="89589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Create an HDFS directory, upload a file with copyFromLocal, list it, and read content.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8"/>
          <p:cNvSpPr/>
          <p:nvPr/>
        </p:nvSpPr>
        <p:spPr>
          <a:xfrm>
            <a:off x="868680" y="2788920"/>
            <a:ext cx="500760" cy="500760"/>
          </a:xfrm>
          <a:prstGeom prst="roundRect">
            <a:avLst>
              <a:gd name="adj" fmla="val 14545"/>
            </a:avLst>
          </a:prstGeom>
          <a:solidFill>
            <a:srgbClr val="003366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978480" y="2898720"/>
            <a:ext cx="28116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1554480" y="2871360"/>
            <a:ext cx="89589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Inspect block size, replication factor, and filesystem metadata using fsck / dfs commands.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1"/>
          <p:cNvSpPr/>
          <p:nvPr/>
        </p:nvSpPr>
        <p:spPr>
          <a:xfrm>
            <a:off x="868680" y="3611880"/>
            <a:ext cx="500760" cy="500760"/>
          </a:xfrm>
          <a:prstGeom prst="roundRect">
            <a:avLst>
              <a:gd name="adj" fmla="val 14545"/>
            </a:avLst>
          </a:prstGeom>
          <a:solidFill>
            <a:srgbClr val="003366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75" name="Text 12"/>
          <p:cNvSpPr/>
          <p:nvPr/>
        </p:nvSpPr>
        <p:spPr>
          <a:xfrm>
            <a:off x="978480" y="3721680"/>
            <a:ext cx="28116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3"/>
          <p:cNvSpPr/>
          <p:nvPr/>
        </p:nvSpPr>
        <p:spPr>
          <a:xfrm>
            <a:off x="1554480" y="3694320"/>
            <a:ext cx="89589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Run WordCount and observe input splits, map output, reduce output, and HDFS output directory.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4"/>
          <p:cNvSpPr/>
          <p:nvPr/>
        </p:nvSpPr>
        <p:spPr>
          <a:xfrm>
            <a:off x="868680" y="4434840"/>
            <a:ext cx="500760" cy="500760"/>
          </a:xfrm>
          <a:prstGeom prst="roundRect">
            <a:avLst>
              <a:gd name="adj" fmla="val 14545"/>
            </a:avLst>
          </a:prstGeom>
          <a:solidFill>
            <a:srgbClr val="003366"/>
          </a:solidFill>
          <a:ln w="15240">
            <a:solidFill>
              <a:srgbClr val="00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978480" y="4544640"/>
            <a:ext cx="28116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6"/>
          <p:cNvSpPr/>
          <p:nvPr/>
        </p:nvSpPr>
        <p:spPr>
          <a:xfrm>
            <a:off x="1554480" y="4517280"/>
            <a:ext cx="89589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Discuss what changes in real multi-node clusters: replication, rack awareness, and failover.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7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81" name="Text 18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9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30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Practice questions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"/>
          <p:cNvSpPr/>
          <p:nvPr/>
        </p:nvSpPr>
        <p:spPr>
          <a:xfrm>
            <a:off x="521280" y="71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Use these questions for quick review at the end of the lecture.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"/>
          <p:cNvSpPr/>
          <p:nvPr/>
        </p:nvSpPr>
        <p:spPr>
          <a:xfrm>
            <a:off x="822960" y="1143000"/>
            <a:ext cx="10422000" cy="48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Which service stores HDFS namespace metadata? → NameNode.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Which service stores the actual HDFS block replicas? → DataNode.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Which file records a persistent snapshot of HDFS namespace metadata? → FsImage.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Which file records changes after the last checkpoint? → EditLogs.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Which Hadoop layer manages containers and cluster resources? → YARN.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Why does Hadoop prefer data locality? → To reduce network transfer and improve throughput.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3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87" name="Text 4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5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31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Common misconceptions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"/>
          <p:cNvSpPr/>
          <p:nvPr/>
        </p:nvSpPr>
        <p:spPr>
          <a:xfrm>
            <a:off x="521280" y="713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These distinctions help clarify the roles of Hadoop and HDFS components.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"/>
          <p:cNvSpPr/>
          <p:nvPr/>
        </p:nvSpPr>
        <p:spPr>
          <a:xfrm>
            <a:off x="868680" y="1143000"/>
            <a:ext cx="10330560" cy="48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NameNode is not where file content is stored; it stores metadata only.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Secondary NameNode is not a hot failover replacement for the NameNode.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DataNode is an HDFS daemon; NodeManager and ResourceManager belong to YARN.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Replication creates redundancy by design; redundancy is not an error in HDFS.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Large block size helps streaming throughput and reduces seek overhead, but does not make HDFS ideal for tiny files.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HDFS Shell / FS Shell command names are case-sensitive.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93" name="Text 4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5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32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 0"/>
          <p:cNvSpPr/>
          <p:nvPr/>
        </p:nvSpPr>
        <p:spPr>
          <a:xfrm>
            <a:off x="502920" y="292680"/>
            <a:ext cx="9507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References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"/>
          <p:cNvSpPr/>
          <p:nvPr/>
        </p:nvSpPr>
        <p:spPr>
          <a:xfrm>
            <a:off x="521280" y="1001160"/>
            <a:ext cx="1051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Use these readings to extend the lecture content.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"/>
          <p:cNvSpPr/>
          <p:nvPr/>
        </p:nvSpPr>
        <p:spPr>
          <a:xfrm>
            <a:off x="868680" y="1325880"/>
            <a:ext cx="9964800" cy="21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TutorialsPoint: Hadoop – HDFS Overview, including HDFS features, NameNode, DataNode, block, and goals.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Apache Hadoop Documentation 3.5.x: HDFS architecture, HDFS shell, YARN, and MapReduce references.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Current course lecture: Distributed File Systems, HDFS, replication, YARN, MapReduce, design trade-offs, and practice.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"/>
          <p:cNvSpPr/>
          <p:nvPr/>
        </p:nvSpPr>
        <p:spPr>
          <a:xfrm>
            <a:off x="868680" y="3505680"/>
            <a:ext cx="9964800" cy="820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c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399" name="Text 4"/>
          <p:cNvSpPr/>
          <p:nvPr/>
        </p:nvSpPr>
        <p:spPr>
          <a:xfrm>
            <a:off x="1005840" y="3615480"/>
            <a:ext cx="969048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Recommended flow: distributed storage → HDFS architecture → metadata/blocks/replication → read/write → YARN/MapReduce → hands-on commands → review.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5"/>
          <p:cNvSpPr/>
          <p:nvPr/>
        </p:nvSpPr>
        <p:spPr>
          <a:xfrm>
            <a:off x="457200" y="6446520"/>
            <a:ext cx="11292840" cy="360"/>
          </a:xfrm>
          <a:prstGeom prst="line">
            <a:avLst/>
          </a:prstGeom>
          <a:ln w="12700">
            <a:solidFill>
              <a:srgbClr val="dc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900" strike="noStrike" u="non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401" name="Text 6"/>
          <p:cNvSpPr/>
          <p:nvPr/>
        </p:nvSpPr>
        <p:spPr>
          <a:xfrm>
            <a:off x="502920" y="6510600"/>
            <a:ext cx="7861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CS411 – Big Data &amp; Cloud Computing • Lecture 2: Hadoop / HDFS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7"/>
          <p:cNvSpPr/>
          <p:nvPr/>
        </p:nvSpPr>
        <p:spPr>
          <a:xfrm>
            <a:off x="11384280" y="6510600"/>
            <a:ext cx="317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33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9"/>
          <p:cNvSpPr/>
          <p:nvPr/>
        </p:nvSpPr>
        <p:spPr>
          <a:xfrm>
            <a:off x="731520" y="4539960"/>
            <a:ext cx="10970640" cy="14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Additional readings: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• GeeksforGeeks – Hadoop Ecosystem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• DZone – An Introduction to HDFS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• James Serra – Introduction to Hadoop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</TotalTime>
  <Application>LibreOffice/25.8.1.1$MacOSX_AARCH64 LibreOffice_project/54047653041915e595ad4e45cccea684809c77b5</Application>
  <AppVersion>15.0000</AppVersion>
  <Words>0</Words>
  <Paragraphs>0</Paragraphs>
  <Company>AILOGY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2026-08-19T07:10:41Z</dcterms:created>
  <dc:creator>OpenAI</dc:creator>
  <dc:description/>
  <dc:language>en-US</dc:language>
  <cp:lastModifiedBy/>
  <dcterms:modified xsi:type="dcterms:W3CDTF">2026-08-20T10:02:20Z</dcterms:modified>
  <cp:revision>35</cp:revision>
  <dc:subject>Revised Hadoop Lecture with HDFS quiz coverage</dc:subject>
  <dc:title>Lecture 2 – Hadoop and HDFS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32</vt:i4>
  </property>
  <property fmtid="{D5CDD505-2E9C-101B-9397-08002B2CF9AE}" pid="3" name="PresentationFormat">
    <vt:lpwstr>On-screen Show (16:9)</vt:lpwstr>
  </property>
  <property fmtid="{D5CDD505-2E9C-101B-9397-08002B2CF9AE}" pid="4" name="Slides">
    <vt:i4>32</vt:i4>
  </property>
</Properties>
</file>